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  <p:sldMasterId id="2147483660" r:id="rId5"/>
  </p:sldMasterIdLst>
  <p:notesMasterIdLst>
    <p:notesMasterId r:id="rId72"/>
  </p:notesMasterIdLst>
  <p:sldIdLst>
    <p:sldId id="316" r:id="rId6"/>
    <p:sldId id="340" r:id="rId7"/>
    <p:sldId id="320" r:id="rId8"/>
    <p:sldId id="321" r:id="rId9"/>
    <p:sldId id="352" r:id="rId10"/>
    <p:sldId id="339" r:id="rId11"/>
    <p:sldId id="353" r:id="rId12"/>
    <p:sldId id="354" r:id="rId13"/>
    <p:sldId id="257" r:id="rId14"/>
    <p:sldId id="329" r:id="rId15"/>
    <p:sldId id="337" r:id="rId16"/>
    <p:sldId id="267" r:id="rId17"/>
    <p:sldId id="269" r:id="rId18"/>
    <p:sldId id="268" r:id="rId19"/>
    <p:sldId id="338" r:id="rId20"/>
    <p:sldId id="270" r:id="rId21"/>
    <p:sldId id="271" r:id="rId22"/>
    <p:sldId id="272" r:id="rId23"/>
    <p:sldId id="273" r:id="rId24"/>
    <p:sldId id="274" r:id="rId25"/>
    <p:sldId id="275" r:id="rId26"/>
    <p:sldId id="278" r:id="rId27"/>
    <p:sldId id="311" r:id="rId28"/>
    <p:sldId id="312" r:id="rId29"/>
    <p:sldId id="308" r:id="rId30"/>
    <p:sldId id="306" r:id="rId31"/>
    <p:sldId id="307" r:id="rId32"/>
    <p:sldId id="313" r:id="rId33"/>
    <p:sldId id="305" r:id="rId34"/>
    <p:sldId id="314" r:id="rId35"/>
    <p:sldId id="355" r:id="rId36"/>
    <p:sldId id="315" r:id="rId37"/>
    <p:sldId id="304" r:id="rId38"/>
    <p:sldId id="286" r:id="rId39"/>
    <p:sldId id="319" r:id="rId40"/>
    <p:sldId id="341" r:id="rId41"/>
    <p:sldId id="288" r:id="rId42"/>
    <p:sldId id="327" r:id="rId43"/>
    <p:sldId id="318" r:id="rId44"/>
    <p:sldId id="289" r:id="rId45"/>
    <p:sldId id="290" r:id="rId46"/>
    <p:sldId id="291" r:id="rId47"/>
    <p:sldId id="299" r:id="rId48"/>
    <p:sldId id="292" r:id="rId49"/>
    <p:sldId id="301" r:id="rId50"/>
    <p:sldId id="349" r:id="rId51"/>
    <p:sldId id="294" r:id="rId52"/>
    <p:sldId id="296" r:id="rId53"/>
    <p:sldId id="325" r:id="rId54"/>
    <p:sldId id="298" r:id="rId55"/>
    <p:sldId id="302" r:id="rId56"/>
    <p:sldId id="324" r:id="rId57"/>
    <p:sldId id="323" r:id="rId58"/>
    <p:sldId id="345" r:id="rId59"/>
    <p:sldId id="350" r:id="rId60"/>
    <p:sldId id="348" r:id="rId61"/>
    <p:sldId id="346" r:id="rId62"/>
    <p:sldId id="263" r:id="rId63"/>
    <p:sldId id="281" r:id="rId64"/>
    <p:sldId id="285" r:id="rId65"/>
    <p:sldId id="284" r:id="rId66"/>
    <p:sldId id="351" r:id="rId67"/>
    <p:sldId id="356" r:id="rId68"/>
    <p:sldId id="342" r:id="rId69"/>
    <p:sldId id="343" r:id="rId70"/>
    <p:sldId id="344" r:id="rId7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31" userDrawn="1">
          <p15:clr>
            <a:srgbClr val="A4A3A4"/>
          </p15:clr>
        </p15:guide>
        <p15:guide id="2" pos="862" userDrawn="1">
          <p15:clr>
            <a:srgbClr val="A4A3A4"/>
          </p15:clr>
        </p15:guide>
        <p15:guide id="3" orient="horz" pos="1525" userDrawn="1">
          <p15:clr>
            <a:srgbClr val="A4A3A4"/>
          </p15:clr>
        </p15:guide>
        <p15:guide id="4" orient="horz" pos="73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hilip Mcloone" initials="PM" lastIdx="3" clrIdx="0">
    <p:extLst>
      <p:ext uri="{19B8F6BF-5375-455C-9EA6-DF929625EA0E}">
        <p15:presenceInfo xmlns:p15="http://schemas.microsoft.com/office/powerpoint/2012/main" userId="44d600ccfc4b90c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4660"/>
  </p:normalViewPr>
  <p:slideViewPr>
    <p:cSldViewPr snapToGrid="0" showGuides="1">
      <p:cViewPr>
        <p:scale>
          <a:sx n="76" d="100"/>
          <a:sy n="76" d="100"/>
        </p:scale>
        <p:origin x="908" y="64"/>
      </p:cViewPr>
      <p:guideLst>
        <p:guide orient="horz" pos="2931"/>
        <p:guide pos="862"/>
        <p:guide orient="horz" pos="1525"/>
        <p:guide orient="horz" pos="73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7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tableStyles" Target="tableStyle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commentAuthors" Target="commentAuthors.xml"/><Relationship Id="rId78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theme" Target="theme/theme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Hall" userId="7c6d99f6-27e1-4cc2-b46f-aa069db3ac28" providerId="ADAL" clId="{818CD3C1-B300-48CC-BE33-4AE51929EF6D}"/>
    <pc:docChg chg="undo custSel addSld delSld modSld">
      <pc:chgData name="Peter Hall" userId="7c6d99f6-27e1-4cc2-b46f-aa069db3ac28" providerId="ADAL" clId="{818CD3C1-B300-48CC-BE33-4AE51929EF6D}" dt="2026-01-05T08:58:37.686" v="72" actId="20577"/>
      <pc:docMkLst>
        <pc:docMk/>
      </pc:docMkLst>
      <pc:sldChg chg="modSp">
        <pc:chgData name="Peter Hall" userId="7c6d99f6-27e1-4cc2-b46f-aa069db3ac28" providerId="ADAL" clId="{818CD3C1-B300-48CC-BE33-4AE51929EF6D}" dt="2026-01-05T08:27:06.504" v="2" actId="113"/>
        <pc:sldMkLst>
          <pc:docMk/>
          <pc:sldMk cId="2760883860" sldId="267"/>
        </pc:sldMkLst>
        <pc:spChg chg="mod">
          <ac:chgData name="Peter Hall" userId="7c6d99f6-27e1-4cc2-b46f-aa069db3ac28" providerId="ADAL" clId="{818CD3C1-B300-48CC-BE33-4AE51929EF6D}" dt="2026-01-05T08:27:06.504" v="2" actId="113"/>
          <ac:spMkLst>
            <pc:docMk/>
            <pc:sldMk cId="2760883860" sldId="267"/>
            <ac:spMk id="4" creationId="{00000000-0000-0000-0000-000000000000}"/>
          </ac:spMkLst>
        </pc:spChg>
      </pc:sldChg>
      <pc:sldChg chg="addSp delSp mod">
        <pc:chgData name="Peter Hall" userId="7c6d99f6-27e1-4cc2-b46f-aa069db3ac28" providerId="ADAL" clId="{818CD3C1-B300-48CC-BE33-4AE51929EF6D}" dt="2026-01-05T08:31:43.976" v="4" actId="478"/>
        <pc:sldMkLst>
          <pc:docMk/>
          <pc:sldMk cId="4021867432" sldId="273"/>
        </pc:sldMkLst>
        <pc:spChg chg="add del">
          <ac:chgData name="Peter Hall" userId="7c6d99f6-27e1-4cc2-b46f-aa069db3ac28" providerId="ADAL" clId="{818CD3C1-B300-48CC-BE33-4AE51929EF6D}" dt="2026-01-05T08:31:43.976" v="4" actId="478"/>
          <ac:spMkLst>
            <pc:docMk/>
            <pc:sldMk cId="4021867432" sldId="273"/>
            <ac:spMk id="4" creationId="{00000000-0000-0000-0000-000000000000}"/>
          </ac:spMkLst>
        </pc:spChg>
      </pc:sldChg>
      <pc:sldChg chg="modSp mod">
        <pc:chgData name="Peter Hall" userId="7c6d99f6-27e1-4cc2-b46f-aa069db3ac28" providerId="ADAL" clId="{818CD3C1-B300-48CC-BE33-4AE51929EF6D}" dt="2026-01-05T08:38:09.686" v="5" actId="207"/>
        <pc:sldMkLst>
          <pc:docMk/>
          <pc:sldMk cId="3494434899" sldId="314"/>
        </pc:sldMkLst>
        <pc:spChg chg="mod">
          <ac:chgData name="Peter Hall" userId="7c6d99f6-27e1-4cc2-b46f-aa069db3ac28" providerId="ADAL" clId="{818CD3C1-B300-48CC-BE33-4AE51929EF6D}" dt="2026-01-05T08:38:09.686" v="5" actId="207"/>
          <ac:spMkLst>
            <pc:docMk/>
            <pc:sldMk cId="3494434899" sldId="314"/>
            <ac:spMk id="18" creationId="{00000000-0000-0000-0000-000000000000}"/>
          </ac:spMkLst>
        </pc:spChg>
      </pc:sldChg>
      <pc:sldChg chg="add">
        <pc:chgData name="Peter Hall" userId="7c6d99f6-27e1-4cc2-b46f-aa069db3ac28" providerId="ADAL" clId="{818CD3C1-B300-48CC-BE33-4AE51929EF6D}" dt="2026-01-05T08:58:03.331" v="7"/>
        <pc:sldMkLst>
          <pc:docMk/>
          <pc:sldMk cId="1318780992" sldId="342"/>
        </pc:sldMkLst>
      </pc:sldChg>
      <pc:sldChg chg="del">
        <pc:chgData name="Peter Hall" userId="7c6d99f6-27e1-4cc2-b46f-aa069db3ac28" providerId="ADAL" clId="{818CD3C1-B300-48CC-BE33-4AE51929EF6D}" dt="2026-01-05T08:57:59.047" v="6" actId="2696"/>
        <pc:sldMkLst>
          <pc:docMk/>
          <pc:sldMk cId="2892271852" sldId="342"/>
        </pc:sldMkLst>
      </pc:sldChg>
      <pc:sldChg chg="add">
        <pc:chgData name="Peter Hall" userId="7c6d99f6-27e1-4cc2-b46f-aa069db3ac28" providerId="ADAL" clId="{818CD3C1-B300-48CC-BE33-4AE51929EF6D}" dt="2026-01-05T08:58:03.331" v="7"/>
        <pc:sldMkLst>
          <pc:docMk/>
          <pc:sldMk cId="555799483" sldId="343"/>
        </pc:sldMkLst>
      </pc:sldChg>
      <pc:sldChg chg="del">
        <pc:chgData name="Peter Hall" userId="7c6d99f6-27e1-4cc2-b46f-aa069db3ac28" providerId="ADAL" clId="{818CD3C1-B300-48CC-BE33-4AE51929EF6D}" dt="2026-01-05T08:57:59.047" v="6" actId="2696"/>
        <pc:sldMkLst>
          <pc:docMk/>
          <pc:sldMk cId="1596650991" sldId="343"/>
        </pc:sldMkLst>
      </pc:sldChg>
      <pc:sldChg chg="del">
        <pc:chgData name="Peter Hall" userId="7c6d99f6-27e1-4cc2-b46f-aa069db3ac28" providerId="ADAL" clId="{818CD3C1-B300-48CC-BE33-4AE51929EF6D}" dt="2026-01-05T08:57:59.047" v="6" actId="2696"/>
        <pc:sldMkLst>
          <pc:docMk/>
          <pc:sldMk cId="259956147" sldId="344"/>
        </pc:sldMkLst>
      </pc:sldChg>
      <pc:sldChg chg="add">
        <pc:chgData name="Peter Hall" userId="7c6d99f6-27e1-4cc2-b46f-aa069db3ac28" providerId="ADAL" clId="{818CD3C1-B300-48CC-BE33-4AE51929EF6D}" dt="2026-01-05T08:58:03.331" v="7"/>
        <pc:sldMkLst>
          <pc:docMk/>
          <pc:sldMk cId="2235760522" sldId="344"/>
        </pc:sldMkLst>
      </pc:sldChg>
      <pc:sldChg chg="addSp modSp new mod modClrScheme chgLayout">
        <pc:chgData name="Peter Hall" userId="7c6d99f6-27e1-4cc2-b46f-aa069db3ac28" providerId="ADAL" clId="{818CD3C1-B300-48CC-BE33-4AE51929EF6D}" dt="2026-01-05T08:58:37.686" v="72" actId="20577"/>
        <pc:sldMkLst>
          <pc:docMk/>
          <pc:sldMk cId="2830765848" sldId="356"/>
        </pc:sldMkLst>
        <pc:spChg chg="add mod">
          <ac:chgData name="Peter Hall" userId="7c6d99f6-27e1-4cc2-b46f-aa069db3ac28" providerId="ADAL" clId="{818CD3C1-B300-48CC-BE33-4AE51929EF6D}" dt="2026-01-05T08:58:20.549" v="19" actId="20577"/>
          <ac:spMkLst>
            <pc:docMk/>
            <pc:sldMk cId="2830765848" sldId="356"/>
            <ac:spMk id="2" creationId="{61AA5D28-CBA2-49F4-BA4F-6829EF21F2D0}"/>
          </ac:spMkLst>
        </pc:spChg>
        <pc:spChg chg="add mod">
          <ac:chgData name="Peter Hall" userId="7c6d99f6-27e1-4cc2-b46f-aa069db3ac28" providerId="ADAL" clId="{818CD3C1-B300-48CC-BE33-4AE51929EF6D}" dt="2026-01-05T08:58:37.686" v="72" actId="20577"/>
          <ac:spMkLst>
            <pc:docMk/>
            <pc:sldMk cId="2830765848" sldId="356"/>
            <ac:spMk id="3" creationId="{F597DC3B-CC1B-421A-8572-31F65AE32D01}"/>
          </ac:spMkLst>
        </pc:spChg>
      </pc:sldChg>
    </pc:docChg>
  </pc:docChgLst>
  <pc:docChgLst>
    <pc:chgData name="Philip McLoone" userId="1a9b8664-770d-479b-be15-f728c961e135" providerId="ADAL" clId="{E5775309-89F1-41DB-ACE8-CC997BDD1BC1}"/>
    <pc:docChg chg="addSld modSld">
      <pc:chgData name="Philip McLoone" userId="1a9b8664-770d-479b-be15-f728c961e135" providerId="ADAL" clId="{E5775309-89F1-41DB-ACE8-CC997BDD1BC1}" dt="2023-01-10T12:25:53.174" v="25" actId="255"/>
      <pc:docMkLst>
        <pc:docMk/>
      </pc:docMkLst>
      <pc:sldChg chg="modAnim">
        <pc:chgData name="Philip McLoone" userId="1a9b8664-770d-479b-be15-f728c961e135" providerId="ADAL" clId="{E5775309-89F1-41DB-ACE8-CC997BDD1BC1}" dt="2023-01-10T12:13:42.005" v="17"/>
        <pc:sldMkLst>
          <pc:docMk/>
          <pc:sldMk cId="3440617796" sldId="298"/>
        </pc:sldMkLst>
      </pc:sldChg>
      <pc:sldChg chg="addSp modSp mod modAnim">
        <pc:chgData name="Philip McLoone" userId="1a9b8664-770d-479b-be15-f728c961e135" providerId="ADAL" clId="{E5775309-89F1-41DB-ACE8-CC997BDD1BC1}" dt="2023-01-10T12:12:26.441" v="16"/>
        <pc:sldMkLst>
          <pc:docMk/>
          <pc:sldMk cId="410928863" sldId="301"/>
        </pc:sldMkLst>
        <pc:spChg chg="add mod">
          <ac:chgData name="Philip McLoone" userId="1a9b8664-770d-479b-be15-f728c961e135" providerId="ADAL" clId="{E5775309-89F1-41DB-ACE8-CC997BDD1BC1}" dt="2023-01-10T12:12:24.470" v="15" actId="1076"/>
          <ac:spMkLst>
            <pc:docMk/>
            <pc:sldMk cId="410928863" sldId="301"/>
            <ac:spMk id="2" creationId="{F86A094C-7215-96F8-5CF7-CEE3FB44CCBA}"/>
          </ac:spMkLst>
        </pc:spChg>
      </pc:sldChg>
      <pc:sldChg chg="addSp modSp new modAnim">
        <pc:chgData name="Philip McLoone" userId="1a9b8664-770d-479b-be15-f728c961e135" providerId="ADAL" clId="{E5775309-89F1-41DB-ACE8-CC997BDD1BC1}" dt="2023-01-10T12:25:53.174" v="25" actId="255"/>
        <pc:sldMkLst>
          <pc:docMk/>
          <pc:sldMk cId="2249775430" sldId="349"/>
        </pc:sldMkLst>
        <pc:spChg chg="mod">
          <ac:chgData name="Philip McLoone" userId="1a9b8664-770d-479b-be15-f728c961e135" providerId="ADAL" clId="{E5775309-89F1-41DB-ACE8-CC997BDD1BC1}" dt="2023-01-10T12:25:03.314" v="20" actId="1076"/>
          <ac:spMkLst>
            <pc:docMk/>
            <pc:sldMk cId="2249775430" sldId="349"/>
            <ac:spMk id="4" creationId="{B70B3247-F380-3C8E-26C5-984D49F386A5}"/>
          </ac:spMkLst>
        </pc:spChg>
        <pc:spChg chg="mod">
          <ac:chgData name="Philip McLoone" userId="1a9b8664-770d-479b-be15-f728c961e135" providerId="ADAL" clId="{E5775309-89F1-41DB-ACE8-CC997BDD1BC1}" dt="2023-01-10T12:25:03.314" v="20" actId="1076"/>
          <ac:spMkLst>
            <pc:docMk/>
            <pc:sldMk cId="2249775430" sldId="349"/>
            <ac:spMk id="7" creationId="{E9DDD5DE-73C1-784C-BA0F-5EF8C88749F5}"/>
          </ac:spMkLst>
        </pc:spChg>
        <pc:spChg chg="add mod">
          <ac:chgData name="Philip McLoone" userId="1a9b8664-770d-479b-be15-f728c961e135" providerId="ADAL" clId="{E5775309-89F1-41DB-ACE8-CC997BDD1BC1}" dt="2023-01-10T12:25:26.801" v="23" actId="255"/>
          <ac:spMkLst>
            <pc:docMk/>
            <pc:sldMk cId="2249775430" sldId="349"/>
            <ac:spMk id="8" creationId="{0178D26D-FE60-55B1-9F64-11429241DB68}"/>
          </ac:spMkLst>
        </pc:spChg>
        <pc:spChg chg="mod">
          <ac:chgData name="Philip McLoone" userId="1a9b8664-770d-479b-be15-f728c961e135" providerId="ADAL" clId="{E5775309-89F1-41DB-ACE8-CC997BDD1BC1}" dt="2023-01-10T12:25:03.314" v="20" actId="1076"/>
          <ac:spMkLst>
            <pc:docMk/>
            <pc:sldMk cId="2249775430" sldId="349"/>
            <ac:spMk id="10" creationId="{744AC62A-A845-F75E-D03F-5AC82653CAE2}"/>
          </ac:spMkLst>
        </pc:spChg>
        <pc:spChg chg="mod">
          <ac:chgData name="Philip McLoone" userId="1a9b8664-770d-479b-be15-f728c961e135" providerId="ADAL" clId="{E5775309-89F1-41DB-ACE8-CC997BDD1BC1}" dt="2023-01-10T12:25:03.314" v="20" actId="1076"/>
          <ac:spMkLst>
            <pc:docMk/>
            <pc:sldMk cId="2249775430" sldId="349"/>
            <ac:spMk id="11" creationId="{78CFDA47-DD16-3941-0000-9D6448FA6E66}"/>
          </ac:spMkLst>
        </pc:spChg>
        <pc:spChg chg="mod">
          <ac:chgData name="Philip McLoone" userId="1a9b8664-770d-479b-be15-f728c961e135" providerId="ADAL" clId="{E5775309-89F1-41DB-ACE8-CC997BDD1BC1}" dt="2023-01-10T12:25:03.314" v="20" actId="1076"/>
          <ac:spMkLst>
            <pc:docMk/>
            <pc:sldMk cId="2249775430" sldId="349"/>
            <ac:spMk id="12" creationId="{09EC1BE7-05FD-784E-6A40-0E2D63786791}"/>
          </ac:spMkLst>
        </pc:spChg>
        <pc:spChg chg="mod">
          <ac:chgData name="Philip McLoone" userId="1a9b8664-770d-479b-be15-f728c961e135" providerId="ADAL" clId="{E5775309-89F1-41DB-ACE8-CC997BDD1BC1}" dt="2023-01-10T12:25:03.314" v="20" actId="1076"/>
          <ac:spMkLst>
            <pc:docMk/>
            <pc:sldMk cId="2249775430" sldId="349"/>
            <ac:spMk id="15" creationId="{9042AEC3-5682-06C8-4950-FD2D263ACA51}"/>
          </ac:spMkLst>
        </pc:spChg>
        <pc:spChg chg="add mod">
          <ac:chgData name="Philip McLoone" userId="1a9b8664-770d-479b-be15-f728c961e135" providerId="ADAL" clId="{E5775309-89F1-41DB-ACE8-CC997BDD1BC1}" dt="2023-01-10T12:25:47.208" v="24" actId="255"/>
          <ac:spMkLst>
            <pc:docMk/>
            <pc:sldMk cId="2249775430" sldId="349"/>
            <ac:spMk id="16" creationId="{1CB041F2-7358-88C6-68BC-F1CC78F6F218}"/>
          </ac:spMkLst>
        </pc:spChg>
        <pc:spChg chg="add mod">
          <ac:chgData name="Philip McLoone" userId="1a9b8664-770d-479b-be15-f728c961e135" providerId="ADAL" clId="{E5775309-89F1-41DB-ACE8-CC997BDD1BC1}" dt="2023-01-10T12:25:53.174" v="25" actId="255"/>
          <ac:spMkLst>
            <pc:docMk/>
            <pc:sldMk cId="2249775430" sldId="349"/>
            <ac:spMk id="17" creationId="{076E0D5D-2E1D-47E6-37E2-C3D75A7A904A}"/>
          </ac:spMkLst>
        </pc:spChg>
        <pc:grpChg chg="add mod">
          <ac:chgData name="Philip McLoone" userId="1a9b8664-770d-479b-be15-f728c961e135" providerId="ADAL" clId="{E5775309-89F1-41DB-ACE8-CC997BDD1BC1}" dt="2023-01-10T12:25:03.314" v="20" actId="1076"/>
          <ac:grpSpMkLst>
            <pc:docMk/>
            <pc:sldMk cId="2249775430" sldId="349"/>
            <ac:grpSpMk id="2" creationId="{0E56C76B-90DE-3ACE-B6E9-351A74A10DF8}"/>
          </ac:grpSpMkLst>
        </pc:grpChg>
        <pc:grpChg chg="add mod">
          <ac:chgData name="Philip McLoone" userId="1a9b8664-770d-479b-be15-f728c961e135" providerId="ADAL" clId="{E5775309-89F1-41DB-ACE8-CC997BDD1BC1}" dt="2023-01-10T12:25:03.314" v="20" actId="1076"/>
          <ac:grpSpMkLst>
            <pc:docMk/>
            <pc:sldMk cId="2249775430" sldId="349"/>
            <ac:grpSpMk id="5" creationId="{5644C675-083E-1F04-0ED6-5DE1F6AB9F46}"/>
          </ac:grpSpMkLst>
        </pc:grpChg>
        <pc:grpChg chg="add mod">
          <ac:chgData name="Philip McLoone" userId="1a9b8664-770d-479b-be15-f728c961e135" providerId="ADAL" clId="{E5775309-89F1-41DB-ACE8-CC997BDD1BC1}" dt="2023-01-10T12:25:03.314" v="20" actId="1076"/>
          <ac:grpSpMkLst>
            <pc:docMk/>
            <pc:sldMk cId="2249775430" sldId="349"/>
            <ac:grpSpMk id="9" creationId="{A8D7160A-7CCE-952C-8D77-9DCBE3BF7598}"/>
          </ac:grpSpMkLst>
        </pc:grpChg>
        <pc:grpChg chg="add mod">
          <ac:chgData name="Philip McLoone" userId="1a9b8664-770d-479b-be15-f728c961e135" providerId="ADAL" clId="{E5775309-89F1-41DB-ACE8-CC997BDD1BC1}" dt="2023-01-10T12:25:03.314" v="20" actId="1076"/>
          <ac:grpSpMkLst>
            <pc:docMk/>
            <pc:sldMk cId="2249775430" sldId="349"/>
            <ac:grpSpMk id="13" creationId="{2C1D4734-51E8-6FE6-BBF5-76E0DA7F63C5}"/>
          </ac:grpSpMkLst>
        </pc:grpChg>
        <pc:picChg chg="mod">
          <ac:chgData name="Philip McLoone" userId="1a9b8664-770d-479b-be15-f728c961e135" providerId="ADAL" clId="{E5775309-89F1-41DB-ACE8-CC997BDD1BC1}" dt="2023-01-10T12:25:03.314" v="20" actId="1076"/>
          <ac:picMkLst>
            <pc:docMk/>
            <pc:sldMk cId="2249775430" sldId="349"/>
            <ac:picMk id="3" creationId="{E290E2B0-EC4A-6392-2587-472DA6C12EEE}"/>
          </ac:picMkLst>
        </pc:picChg>
        <pc:picChg chg="mod">
          <ac:chgData name="Philip McLoone" userId="1a9b8664-770d-479b-be15-f728c961e135" providerId="ADAL" clId="{E5775309-89F1-41DB-ACE8-CC997BDD1BC1}" dt="2023-01-10T12:25:03.314" v="20" actId="1076"/>
          <ac:picMkLst>
            <pc:docMk/>
            <pc:sldMk cId="2249775430" sldId="349"/>
            <ac:picMk id="6" creationId="{F9D5BA3E-FABE-C278-67EE-78046A33BB8D}"/>
          </ac:picMkLst>
        </pc:picChg>
        <pc:cxnChg chg="mod">
          <ac:chgData name="Philip McLoone" userId="1a9b8664-770d-479b-be15-f728c961e135" providerId="ADAL" clId="{E5775309-89F1-41DB-ACE8-CC997BDD1BC1}" dt="2023-01-10T12:25:03.314" v="20" actId="1076"/>
          <ac:cxnSpMkLst>
            <pc:docMk/>
            <pc:sldMk cId="2249775430" sldId="349"/>
            <ac:cxnSpMk id="14" creationId="{A55E652D-692B-1C02-3922-CA36A1E75399}"/>
          </ac:cxnSpMkLst>
        </pc:cxnChg>
        <pc:cxnChg chg="add mod">
          <ac:chgData name="Philip McLoone" userId="1a9b8664-770d-479b-be15-f728c961e135" providerId="ADAL" clId="{E5775309-89F1-41DB-ACE8-CC997BDD1BC1}" dt="2023-01-10T12:25:03.314" v="20" actId="1076"/>
          <ac:cxnSpMkLst>
            <pc:docMk/>
            <pc:sldMk cId="2249775430" sldId="349"/>
            <ac:cxnSpMk id="18" creationId="{8435FA5E-8D2B-F13E-34DD-19B5B9CAF52C}"/>
          </ac:cxnSpMkLst>
        </pc:cxnChg>
        <pc:cxnChg chg="add mod">
          <ac:chgData name="Philip McLoone" userId="1a9b8664-770d-479b-be15-f728c961e135" providerId="ADAL" clId="{E5775309-89F1-41DB-ACE8-CC997BDD1BC1}" dt="2023-01-10T12:25:03.314" v="20" actId="1076"/>
          <ac:cxnSpMkLst>
            <pc:docMk/>
            <pc:sldMk cId="2249775430" sldId="349"/>
            <ac:cxnSpMk id="19" creationId="{C3B57246-5FFF-56A8-B66B-353AC4C481DF}"/>
          </ac:cxnSpMkLst>
        </pc:cxnChg>
      </pc:sldChg>
    </pc:docChg>
  </pc:docChgLst>
  <pc:docChgLst>
    <pc:chgData name="Peter Hall" userId="7c6d99f6-27e1-4cc2-b46f-aa069db3ac28" providerId="ADAL" clId="{4799123B-FC7A-415E-9392-A77DF2785C9A}"/>
    <pc:docChg chg="custSel addSld delSld modSld">
      <pc:chgData name="Peter Hall" userId="7c6d99f6-27e1-4cc2-b46f-aa069db3ac28" providerId="ADAL" clId="{4799123B-FC7A-415E-9392-A77DF2785C9A}" dt="2026-01-04T16:22:23.477" v="690" actId="22"/>
      <pc:docMkLst>
        <pc:docMk/>
      </pc:docMkLst>
      <pc:sldChg chg="modSp mod">
        <pc:chgData name="Peter Hall" userId="7c6d99f6-27e1-4cc2-b46f-aa069db3ac28" providerId="ADAL" clId="{4799123B-FC7A-415E-9392-A77DF2785C9A}" dt="2026-01-04T16:16:56.996" v="688" actId="20577"/>
        <pc:sldMkLst>
          <pc:docMk/>
          <pc:sldMk cId="2060409172" sldId="257"/>
        </pc:sldMkLst>
        <pc:spChg chg="mod">
          <ac:chgData name="Peter Hall" userId="7c6d99f6-27e1-4cc2-b46f-aa069db3ac28" providerId="ADAL" clId="{4799123B-FC7A-415E-9392-A77DF2785C9A}" dt="2026-01-04T16:16:56.996" v="688" actId="20577"/>
          <ac:spMkLst>
            <pc:docMk/>
            <pc:sldMk cId="2060409172" sldId="257"/>
            <ac:spMk id="2" creationId="{00000000-0000-0000-0000-000000000000}"/>
          </ac:spMkLst>
        </pc:spChg>
      </pc:sldChg>
      <pc:sldChg chg="modSp mod">
        <pc:chgData name="Peter Hall" userId="7c6d99f6-27e1-4cc2-b46f-aa069db3ac28" providerId="ADAL" clId="{4799123B-FC7A-415E-9392-A77DF2785C9A}" dt="2026-01-03T17:12:41.212" v="37" actId="20577"/>
        <pc:sldMkLst>
          <pc:docMk/>
          <pc:sldMk cId="2091376246" sldId="316"/>
        </pc:sldMkLst>
        <pc:spChg chg="mod">
          <ac:chgData name="Peter Hall" userId="7c6d99f6-27e1-4cc2-b46f-aa069db3ac28" providerId="ADAL" clId="{4799123B-FC7A-415E-9392-A77DF2785C9A}" dt="2026-01-03T17:12:41.212" v="37" actId="20577"/>
          <ac:spMkLst>
            <pc:docMk/>
            <pc:sldMk cId="2091376246" sldId="316"/>
            <ac:spMk id="2" creationId="{00000000-0000-0000-0000-000000000000}"/>
          </ac:spMkLst>
        </pc:spChg>
      </pc:sldChg>
      <pc:sldChg chg="delSp mod delAnim">
        <pc:chgData name="Peter Hall" userId="7c6d99f6-27e1-4cc2-b46f-aa069db3ac28" providerId="ADAL" clId="{4799123B-FC7A-415E-9392-A77DF2785C9A}" dt="2026-01-03T17:13:39.662" v="40" actId="478"/>
        <pc:sldMkLst>
          <pc:docMk/>
          <pc:sldMk cId="1923381876" sldId="320"/>
        </pc:sldMkLst>
        <pc:spChg chg="del">
          <ac:chgData name="Peter Hall" userId="7c6d99f6-27e1-4cc2-b46f-aa069db3ac28" providerId="ADAL" clId="{4799123B-FC7A-415E-9392-A77DF2785C9A}" dt="2026-01-03T17:13:39.662" v="40" actId="478"/>
          <ac:spMkLst>
            <pc:docMk/>
            <pc:sldMk cId="1923381876" sldId="320"/>
            <ac:spMk id="5" creationId="{00000000-0000-0000-0000-000000000000}"/>
          </ac:spMkLst>
        </pc:spChg>
      </pc:sldChg>
      <pc:sldChg chg="add">
        <pc:chgData name="Peter Hall" userId="7c6d99f6-27e1-4cc2-b46f-aa069db3ac28" providerId="ADAL" clId="{4799123B-FC7A-415E-9392-A77DF2785C9A}" dt="2026-01-03T17:13:33.527" v="39"/>
        <pc:sldMkLst>
          <pc:docMk/>
          <pc:sldMk cId="2350565230" sldId="352"/>
        </pc:sldMkLst>
      </pc:sldChg>
      <pc:sldChg chg="del">
        <pc:chgData name="Peter Hall" userId="7c6d99f6-27e1-4cc2-b46f-aa069db3ac28" providerId="ADAL" clId="{4799123B-FC7A-415E-9392-A77DF2785C9A}" dt="2026-01-03T17:12:44.541" v="38" actId="47"/>
        <pc:sldMkLst>
          <pc:docMk/>
          <pc:sldMk cId="3110875619" sldId="352"/>
        </pc:sldMkLst>
      </pc:sldChg>
      <pc:sldChg chg="addSp delSp modSp new mod modClrScheme chgLayout">
        <pc:chgData name="Peter Hall" userId="7c6d99f6-27e1-4cc2-b46f-aa069db3ac28" providerId="ADAL" clId="{4799123B-FC7A-415E-9392-A77DF2785C9A}" dt="2026-01-04T16:16:31.760" v="674" actId="478"/>
        <pc:sldMkLst>
          <pc:docMk/>
          <pc:sldMk cId="1674312365" sldId="353"/>
        </pc:sldMkLst>
        <pc:spChg chg="add mod">
          <ac:chgData name="Peter Hall" userId="7c6d99f6-27e1-4cc2-b46f-aa069db3ac28" providerId="ADAL" clId="{4799123B-FC7A-415E-9392-A77DF2785C9A}" dt="2026-01-03T17:15:43.324" v="207" actId="20577"/>
          <ac:spMkLst>
            <pc:docMk/>
            <pc:sldMk cId="1674312365" sldId="353"/>
            <ac:spMk id="2" creationId="{7D65C99F-BC47-4FE8-8AAC-67A67765F180}"/>
          </ac:spMkLst>
        </pc:spChg>
        <pc:spChg chg="add del mod">
          <ac:chgData name="Peter Hall" userId="7c6d99f6-27e1-4cc2-b46f-aa069db3ac28" providerId="ADAL" clId="{4799123B-FC7A-415E-9392-A77DF2785C9A}" dt="2026-01-03T17:16:56.771" v="228" actId="21"/>
          <ac:spMkLst>
            <pc:docMk/>
            <pc:sldMk cId="1674312365" sldId="353"/>
            <ac:spMk id="3" creationId="{31F95A9F-01EF-4EFC-AEF5-A1CA24A22E34}"/>
          </ac:spMkLst>
        </pc:spChg>
        <pc:spChg chg="add del">
          <ac:chgData name="Peter Hall" userId="7c6d99f6-27e1-4cc2-b46f-aa069db3ac28" providerId="ADAL" clId="{4799123B-FC7A-415E-9392-A77DF2785C9A}" dt="2026-01-03T17:16:51.979" v="226"/>
          <ac:spMkLst>
            <pc:docMk/>
            <pc:sldMk cId="1674312365" sldId="353"/>
            <ac:spMk id="4" creationId="{47E27EFF-4786-45F3-98C3-231A27EF2F55}"/>
          </ac:spMkLst>
        </pc:spChg>
        <pc:spChg chg="add del">
          <ac:chgData name="Peter Hall" userId="7c6d99f6-27e1-4cc2-b46f-aa069db3ac28" providerId="ADAL" clId="{4799123B-FC7A-415E-9392-A77DF2785C9A}" dt="2026-01-03T17:16:56.771" v="228" actId="21"/>
          <ac:spMkLst>
            <pc:docMk/>
            <pc:sldMk cId="1674312365" sldId="353"/>
            <ac:spMk id="5" creationId="{C9395058-EB1F-4C0B-96AC-581FA73D1C41}"/>
          </ac:spMkLst>
        </pc:spChg>
        <pc:spChg chg="add mod">
          <ac:chgData name="Peter Hall" userId="7c6d99f6-27e1-4cc2-b46f-aa069db3ac28" providerId="ADAL" clId="{4799123B-FC7A-415E-9392-A77DF2785C9A}" dt="2026-01-03T17:22:55.935" v="624" actId="20577"/>
          <ac:spMkLst>
            <pc:docMk/>
            <pc:sldMk cId="1674312365" sldId="353"/>
            <ac:spMk id="6" creationId="{8E6B5235-3CB3-47AE-A4B9-ADD48E2699A0}"/>
          </ac:spMkLst>
        </pc:spChg>
        <pc:spChg chg="add del mod">
          <ac:chgData name="Peter Hall" userId="7c6d99f6-27e1-4cc2-b46f-aa069db3ac28" providerId="ADAL" clId="{4799123B-FC7A-415E-9392-A77DF2785C9A}" dt="2026-01-04T16:16:31.760" v="674" actId="478"/>
          <ac:spMkLst>
            <pc:docMk/>
            <pc:sldMk cId="1674312365" sldId="353"/>
            <ac:spMk id="7" creationId="{F5DF057C-02A9-4892-BAF5-01E86007C72A}"/>
          </ac:spMkLst>
        </pc:spChg>
      </pc:sldChg>
      <pc:sldChg chg="addSp delSp modSp new mod">
        <pc:chgData name="Peter Hall" userId="7c6d99f6-27e1-4cc2-b46f-aa069db3ac28" providerId="ADAL" clId="{4799123B-FC7A-415E-9392-A77DF2785C9A}" dt="2026-01-03T17:26:23.567" v="673" actId="478"/>
        <pc:sldMkLst>
          <pc:docMk/>
          <pc:sldMk cId="3598338079" sldId="354"/>
        </pc:sldMkLst>
        <pc:spChg chg="mod">
          <ac:chgData name="Peter Hall" userId="7c6d99f6-27e1-4cc2-b46f-aa069db3ac28" providerId="ADAL" clId="{4799123B-FC7A-415E-9392-A77DF2785C9A}" dt="2026-01-03T17:26:05.945" v="669" actId="20577"/>
          <ac:spMkLst>
            <pc:docMk/>
            <pc:sldMk cId="3598338079" sldId="354"/>
            <ac:spMk id="2" creationId="{22F774CA-32FD-4CCA-9895-8F6460604B19}"/>
          </ac:spMkLst>
        </pc:spChg>
        <pc:spChg chg="del">
          <ac:chgData name="Peter Hall" userId="7c6d99f6-27e1-4cc2-b46f-aa069db3ac28" providerId="ADAL" clId="{4799123B-FC7A-415E-9392-A77DF2785C9A}" dt="2026-01-03T17:26:14.722" v="670" actId="3680"/>
          <ac:spMkLst>
            <pc:docMk/>
            <pc:sldMk cId="3598338079" sldId="354"/>
            <ac:spMk id="3" creationId="{3966E0EF-1558-4025-8F64-67D67905C748}"/>
          </ac:spMkLst>
        </pc:spChg>
        <pc:spChg chg="add del mod">
          <ac:chgData name="Peter Hall" userId="7c6d99f6-27e1-4cc2-b46f-aa069db3ac28" providerId="ADAL" clId="{4799123B-FC7A-415E-9392-A77DF2785C9A}" dt="2026-01-03T17:26:23.567" v="673" actId="478"/>
          <ac:spMkLst>
            <pc:docMk/>
            <pc:sldMk cId="3598338079" sldId="354"/>
            <ac:spMk id="7" creationId="{AE52145D-4E33-43FF-BBA0-73C02B8371F9}"/>
          </ac:spMkLst>
        </pc:spChg>
        <pc:graphicFrameChg chg="add del mod ord modGraphic">
          <ac:chgData name="Peter Hall" userId="7c6d99f6-27e1-4cc2-b46f-aa069db3ac28" providerId="ADAL" clId="{4799123B-FC7A-415E-9392-A77DF2785C9A}" dt="2026-01-03T17:26:19.912" v="672" actId="478"/>
          <ac:graphicFrameMkLst>
            <pc:docMk/>
            <pc:sldMk cId="3598338079" sldId="354"/>
            <ac:graphicFrameMk id="4" creationId="{1231359D-11B0-4CB0-8744-BD989870A906}"/>
          </ac:graphicFrameMkLst>
        </pc:graphicFrameChg>
        <pc:graphicFrameChg chg="add mod">
          <ac:chgData name="Peter Hall" userId="7c6d99f6-27e1-4cc2-b46f-aa069db3ac28" providerId="ADAL" clId="{4799123B-FC7A-415E-9392-A77DF2785C9A}" dt="2026-01-03T17:26:16.861" v="671"/>
          <ac:graphicFrameMkLst>
            <pc:docMk/>
            <pc:sldMk cId="3598338079" sldId="354"/>
            <ac:graphicFrameMk id="5" creationId="{BAE7C724-3F16-4C2C-BF25-E97E04825359}"/>
          </ac:graphicFrameMkLst>
        </pc:graphicFrameChg>
      </pc:sldChg>
      <pc:sldChg chg="addSp delSp modSp new mod">
        <pc:chgData name="Peter Hall" userId="7c6d99f6-27e1-4cc2-b46f-aa069db3ac28" providerId="ADAL" clId="{4799123B-FC7A-415E-9392-A77DF2785C9A}" dt="2026-01-04T16:22:23.477" v="690" actId="22"/>
        <pc:sldMkLst>
          <pc:docMk/>
          <pc:sldMk cId="170819488" sldId="355"/>
        </pc:sldMkLst>
        <pc:spChg chg="del">
          <ac:chgData name="Peter Hall" userId="7c6d99f6-27e1-4cc2-b46f-aa069db3ac28" providerId="ADAL" clId="{4799123B-FC7A-415E-9392-A77DF2785C9A}" dt="2026-01-04T16:22:23.477" v="690" actId="22"/>
          <ac:spMkLst>
            <pc:docMk/>
            <pc:sldMk cId="170819488" sldId="355"/>
            <ac:spMk id="3" creationId="{E07E031A-D6E8-41B9-B4CC-6319AE5848E8}"/>
          </ac:spMkLst>
        </pc:spChg>
        <pc:picChg chg="add mod ord">
          <ac:chgData name="Peter Hall" userId="7c6d99f6-27e1-4cc2-b46f-aa069db3ac28" providerId="ADAL" clId="{4799123B-FC7A-415E-9392-A77DF2785C9A}" dt="2026-01-04T16:22:23.477" v="690" actId="22"/>
          <ac:picMkLst>
            <pc:docMk/>
            <pc:sldMk cId="170819488" sldId="355"/>
            <ac:picMk id="5" creationId="{BC6EE6ED-D9DE-4348-9A59-6C892B00358B}"/>
          </ac:picMkLst>
        </pc:picChg>
      </pc:sldChg>
    </pc:docChg>
  </pc:docChgLst>
  <pc:docChgLst>
    <pc:chgData name="Philip McLoone" userId="1a9b8664-770d-479b-be15-f728c961e135" providerId="ADAL" clId="{56818FDA-F7AF-42C2-B1BE-C6CE027493AF}"/>
    <pc:docChg chg="custSel addSld modSld sldOrd">
      <pc:chgData name="Philip McLoone" userId="1a9b8664-770d-479b-be15-f728c961e135" providerId="ADAL" clId="{56818FDA-F7AF-42C2-B1BE-C6CE027493AF}" dt="2024-01-07T21:29:53.189" v="987" actId="948"/>
      <pc:docMkLst>
        <pc:docMk/>
      </pc:docMkLst>
      <pc:sldChg chg="addSp delSp modSp mod">
        <pc:chgData name="Philip McLoone" userId="1a9b8664-770d-479b-be15-f728c961e135" providerId="ADAL" clId="{56818FDA-F7AF-42C2-B1BE-C6CE027493AF}" dt="2024-01-07T17:05:19.437" v="79" actId="33524"/>
        <pc:sldMkLst>
          <pc:docMk/>
          <pc:sldMk cId="507966619" sldId="271"/>
        </pc:sldMkLst>
        <pc:spChg chg="mod">
          <ac:chgData name="Philip McLoone" userId="1a9b8664-770d-479b-be15-f728c961e135" providerId="ADAL" clId="{56818FDA-F7AF-42C2-B1BE-C6CE027493AF}" dt="2024-01-07T17:05:19.437" v="79" actId="33524"/>
          <ac:spMkLst>
            <pc:docMk/>
            <pc:sldMk cId="507966619" sldId="271"/>
            <ac:spMk id="2" creationId="{00000000-0000-0000-0000-000000000000}"/>
          </ac:spMkLst>
        </pc:spChg>
        <pc:spChg chg="add mod">
          <ac:chgData name="Philip McLoone" userId="1a9b8664-770d-479b-be15-f728c961e135" providerId="ADAL" clId="{56818FDA-F7AF-42C2-B1BE-C6CE027493AF}" dt="2024-01-07T17:04:51.509" v="78" actId="313"/>
          <ac:spMkLst>
            <pc:docMk/>
            <pc:sldMk cId="507966619" sldId="271"/>
            <ac:spMk id="3" creationId="{FCAE4C19-7179-CA32-319D-68D49E25859E}"/>
          </ac:spMkLst>
        </pc:spChg>
        <pc:spChg chg="mod">
          <ac:chgData name="Philip McLoone" userId="1a9b8664-770d-479b-be15-f728c961e135" providerId="ADAL" clId="{56818FDA-F7AF-42C2-B1BE-C6CE027493AF}" dt="2024-01-07T17:03:47.411" v="29" actId="20577"/>
          <ac:spMkLst>
            <pc:docMk/>
            <pc:sldMk cId="507966619" sldId="271"/>
            <ac:spMk id="4" creationId="{00000000-0000-0000-0000-000000000000}"/>
          </ac:spMkLst>
        </pc:spChg>
        <pc:spChg chg="mod">
          <ac:chgData name="Philip McLoone" userId="1a9b8664-770d-479b-be15-f728c961e135" providerId="ADAL" clId="{56818FDA-F7AF-42C2-B1BE-C6CE027493AF}" dt="2024-01-07T17:03:54.373" v="30" actId="1076"/>
          <ac:spMkLst>
            <pc:docMk/>
            <pc:sldMk cId="507966619" sldId="271"/>
            <ac:spMk id="5" creationId="{00000000-0000-0000-0000-000000000000}"/>
          </ac:spMkLst>
        </pc:spChg>
        <pc:spChg chg="del">
          <ac:chgData name="Philip McLoone" userId="1a9b8664-770d-479b-be15-f728c961e135" providerId="ADAL" clId="{56818FDA-F7AF-42C2-B1BE-C6CE027493AF}" dt="2024-01-07T17:03:21.828" v="0" actId="478"/>
          <ac:spMkLst>
            <pc:docMk/>
            <pc:sldMk cId="507966619" sldId="271"/>
            <ac:spMk id="9" creationId="{00000000-0000-0000-0000-000000000000}"/>
          </ac:spMkLst>
        </pc:spChg>
        <pc:spChg chg="del mod">
          <ac:chgData name="Philip McLoone" userId="1a9b8664-770d-479b-be15-f728c961e135" providerId="ADAL" clId="{56818FDA-F7AF-42C2-B1BE-C6CE027493AF}" dt="2024-01-07T17:03:31.177" v="2" actId="478"/>
          <ac:spMkLst>
            <pc:docMk/>
            <pc:sldMk cId="507966619" sldId="271"/>
            <ac:spMk id="10" creationId="{00000000-0000-0000-0000-000000000000}"/>
          </ac:spMkLst>
        </pc:spChg>
        <pc:spChg chg="mod">
          <ac:chgData name="Philip McLoone" userId="1a9b8664-770d-479b-be15-f728c961e135" providerId="ADAL" clId="{56818FDA-F7AF-42C2-B1BE-C6CE027493AF}" dt="2024-01-07T17:03:59.721" v="31" actId="1076"/>
          <ac:spMkLst>
            <pc:docMk/>
            <pc:sldMk cId="507966619" sldId="271"/>
            <ac:spMk id="11" creationId="{00000000-0000-0000-0000-000000000000}"/>
          </ac:spMkLst>
        </pc:spChg>
      </pc:sldChg>
      <pc:sldChg chg="addSp modSp mod modAnim">
        <pc:chgData name="Philip McLoone" userId="1a9b8664-770d-479b-be15-f728c961e135" providerId="ADAL" clId="{56818FDA-F7AF-42C2-B1BE-C6CE027493AF}" dt="2024-01-07T17:18:20.977" v="136" actId="20577"/>
        <pc:sldMkLst>
          <pc:docMk/>
          <pc:sldMk cId="3744432167" sldId="291"/>
        </pc:sldMkLst>
        <pc:spChg chg="mod">
          <ac:chgData name="Philip McLoone" userId="1a9b8664-770d-479b-be15-f728c961e135" providerId="ADAL" clId="{56818FDA-F7AF-42C2-B1BE-C6CE027493AF}" dt="2024-01-07T17:18:20.977" v="136" actId="20577"/>
          <ac:spMkLst>
            <pc:docMk/>
            <pc:sldMk cId="3744432167" sldId="291"/>
            <ac:spMk id="8" creationId="{B011729B-C8FD-886A-E7A3-89DA139AA457}"/>
          </ac:spMkLst>
        </pc:spChg>
        <pc:grpChg chg="add mod">
          <ac:chgData name="Philip McLoone" userId="1a9b8664-770d-479b-be15-f728c961e135" providerId="ADAL" clId="{56818FDA-F7AF-42C2-B1BE-C6CE027493AF}" dt="2024-01-07T17:18:11.397" v="118" actId="1076"/>
          <ac:grpSpMkLst>
            <pc:docMk/>
            <pc:sldMk cId="3744432167" sldId="291"/>
            <ac:grpSpMk id="6" creationId="{79755AF9-F8CD-BE30-5FEC-E80803538D6A}"/>
          </ac:grpSpMkLst>
        </pc:grpChg>
        <pc:cxnChg chg="mod">
          <ac:chgData name="Philip McLoone" userId="1a9b8664-770d-479b-be15-f728c961e135" providerId="ADAL" clId="{56818FDA-F7AF-42C2-B1BE-C6CE027493AF}" dt="2024-01-07T17:18:07.973" v="117"/>
          <ac:cxnSpMkLst>
            <pc:docMk/>
            <pc:sldMk cId="3744432167" sldId="291"/>
            <ac:cxnSpMk id="7" creationId="{2537D786-5402-5846-D88C-5A91A7B65E63}"/>
          </ac:cxnSpMkLst>
        </pc:cxnChg>
      </pc:sldChg>
      <pc:sldChg chg="addSp delSp modSp mod modAnim">
        <pc:chgData name="Philip McLoone" userId="1a9b8664-770d-479b-be15-f728c961e135" providerId="ADAL" clId="{56818FDA-F7AF-42C2-B1BE-C6CE027493AF}" dt="2024-01-07T17:17:38.936" v="116"/>
        <pc:sldMkLst>
          <pc:docMk/>
          <pc:sldMk cId="646206085" sldId="302"/>
        </pc:sldMkLst>
        <pc:spChg chg="mod">
          <ac:chgData name="Philip McLoone" userId="1a9b8664-770d-479b-be15-f728c961e135" providerId="ADAL" clId="{56818FDA-F7AF-42C2-B1BE-C6CE027493AF}" dt="2024-01-07T17:13:34.611" v="80"/>
          <ac:spMkLst>
            <pc:docMk/>
            <pc:sldMk cId="646206085" sldId="302"/>
            <ac:spMk id="20" creationId="{9298CBCC-FEDE-0FC6-639B-DA9F5A98E963}"/>
          </ac:spMkLst>
        </pc:spChg>
        <pc:spChg chg="mod">
          <ac:chgData name="Philip McLoone" userId="1a9b8664-770d-479b-be15-f728c961e135" providerId="ADAL" clId="{56818FDA-F7AF-42C2-B1BE-C6CE027493AF}" dt="2024-01-07T17:15:01.234" v="99" actId="5793"/>
          <ac:spMkLst>
            <pc:docMk/>
            <pc:sldMk cId="646206085" sldId="302"/>
            <ac:spMk id="24" creationId="{2618ABCA-F4C3-E8F8-982F-F04015702D6B}"/>
          </ac:spMkLst>
        </pc:spChg>
        <pc:spChg chg="mod">
          <ac:chgData name="Philip McLoone" userId="1a9b8664-770d-479b-be15-f728c961e135" providerId="ADAL" clId="{56818FDA-F7AF-42C2-B1BE-C6CE027493AF}" dt="2024-01-07T17:16:28.154" v="103"/>
          <ac:spMkLst>
            <pc:docMk/>
            <pc:sldMk cId="646206085" sldId="302"/>
            <ac:spMk id="27" creationId="{B582158D-EBDE-E79C-DCB3-AC005607FCEB}"/>
          </ac:spMkLst>
        </pc:spChg>
        <pc:spChg chg="mod">
          <ac:chgData name="Philip McLoone" userId="1a9b8664-770d-479b-be15-f728c961e135" providerId="ADAL" clId="{56818FDA-F7AF-42C2-B1BE-C6CE027493AF}" dt="2024-01-07T17:16:58.577" v="114" actId="20577"/>
          <ac:spMkLst>
            <pc:docMk/>
            <pc:sldMk cId="646206085" sldId="302"/>
            <ac:spMk id="30" creationId="{A5DC55AE-F17A-7029-33A4-024320E0E9FD}"/>
          </ac:spMkLst>
        </pc:spChg>
        <pc:grpChg chg="add mod">
          <ac:chgData name="Philip McLoone" userId="1a9b8664-770d-479b-be15-f728c961e135" providerId="ADAL" clId="{56818FDA-F7AF-42C2-B1BE-C6CE027493AF}" dt="2024-01-07T17:14:08.380" v="83" actId="1076"/>
          <ac:grpSpMkLst>
            <pc:docMk/>
            <pc:sldMk cId="646206085" sldId="302"/>
            <ac:grpSpMk id="18" creationId="{18E4C75D-CCED-1E08-E0CB-9D551C9EEBDE}"/>
          </ac:grpSpMkLst>
        </pc:grpChg>
        <pc:grpChg chg="add mod">
          <ac:chgData name="Philip McLoone" userId="1a9b8664-770d-479b-be15-f728c961e135" providerId="ADAL" clId="{56818FDA-F7AF-42C2-B1BE-C6CE027493AF}" dt="2024-01-07T17:14:55.904" v="90" actId="1076"/>
          <ac:grpSpMkLst>
            <pc:docMk/>
            <pc:sldMk cId="646206085" sldId="302"/>
            <ac:grpSpMk id="22" creationId="{9C564829-DEE3-2E3A-761F-B2614C613638}"/>
          </ac:grpSpMkLst>
        </pc:grpChg>
        <pc:grpChg chg="add del mod">
          <ac:chgData name="Philip McLoone" userId="1a9b8664-770d-479b-be15-f728c961e135" providerId="ADAL" clId="{56818FDA-F7AF-42C2-B1BE-C6CE027493AF}" dt="2024-01-07T17:16:36.428" v="104"/>
          <ac:grpSpMkLst>
            <pc:docMk/>
            <pc:sldMk cId="646206085" sldId="302"/>
            <ac:grpSpMk id="25" creationId="{B2F8F530-217E-4E42-0D30-F057BF43BBF6}"/>
          </ac:grpSpMkLst>
        </pc:grpChg>
        <pc:grpChg chg="add mod">
          <ac:chgData name="Philip McLoone" userId="1a9b8664-770d-479b-be15-f728c961e135" providerId="ADAL" clId="{56818FDA-F7AF-42C2-B1BE-C6CE027493AF}" dt="2024-01-07T17:16:51.275" v="106" actId="1076"/>
          <ac:grpSpMkLst>
            <pc:docMk/>
            <pc:sldMk cId="646206085" sldId="302"/>
            <ac:grpSpMk id="28" creationId="{CD878873-E55E-84D1-CC8C-6DC5D03E52BD}"/>
          </ac:grpSpMkLst>
        </pc:grpChg>
        <pc:cxnChg chg="mod">
          <ac:chgData name="Philip McLoone" userId="1a9b8664-770d-479b-be15-f728c961e135" providerId="ADAL" clId="{56818FDA-F7AF-42C2-B1BE-C6CE027493AF}" dt="2024-01-07T17:14:03.381" v="82" actId="14100"/>
          <ac:cxnSpMkLst>
            <pc:docMk/>
            <pc:sldMk cId="646206085" sldId="302"/>
            <ac:cxnSpMk id="19" creationId="{F5FCAC2A-0778-CA67-AF34-68E9D67BBFB5}"/>
          </ac:cxnSpMkLst>
        </pc:cxnChg>
        <pc:cxnChg chg="mod">
          <ac:chgData name="Philip McLoone" userId="1a9b8664-770d-479b-be15-f728c961e135" providerId="ADAL" clId="{56818FDA-F7AF-42C2-B1BE-C6CE027493AF}" dt="2024-01-07T17:14:51.839" v="89"/>
          <ac:cxnSpMkLst>
            <pc:docMk/>
            <pc:sldMk cId="646206085" sldId="302"/>
            <ac:cxnSpMk id="23" creationId="{66823C8C-0278-1A50-5360-2289EAA5D76F}"/>
          </ac:cxnSpMkLst>
        </pc:cxnChg>
        <pc:cxnChg chg="mod">
          <ac:chgData name="Philip McLoone" userId="1a9b8664-770d-479b-be15-f728c961e135" providerId="ADAL" clId="{56818FDA-F7AF-42C2-B1BE-C6CE027493AF}" dt="2024-01-07T17:16:28.154" v="103"/>
          <ac:cxnSpMkLst>
            <pc:docMk/>
            <pc:sldMk cId="646206085" sldId="302"/>
            <ac:cxnSpMk id="26" creationId="{F632DED0-0792-9FEF-9D0F-3414344E93F4}"/>
          </ac:cxnSpMkLst>
        </pc:cxnChg>
        <pc:cxnChg chg="mod">
          <ac:chgData name="Philip McLoone" userId="1a9b8664-770d-479b-be15-f728c961e135" providerId="ADAL" clId="{56818FDA-F7AF-42C2-B1BE-C6CE027493AF}" dt="2024-01-07T17:16:47.296" v="105"/>
          <ac:cxnSpMkLst>
            <pc:docMk/>
            <pc:sldMk cId="646206085" sldId="302"/>
            <ac:cxnSpMk id="29" creationId="{ABB254E7-A97E-5EC7-0165-9BA6050198B2}"/>
          </ac:cxnSpMkLst>
        </pc:cxnChg>
      </pc:sldChg>
      <pc:sldChg chg="ord">
        <pc:chgData name="Philip McLoone" userId="1a9b8664-770d-479b-be15-f728c961e135" providerId="ADAL" clId="{56818FDA-F7AF-42C2-B1BE-C6CE027493AF}" dt="2024-01-07T21:23:19.476" v="805"/>
        <pc:sldMkLst>
          <pc:docMk/>
          <pc:sldMk cId="2091376246" sldId="316"/>
        </pc:sldMkLst>
      </pc:sldChg>
      <pc:sldChg chg="addSp modSp new mod ord">
        <pc:chgData name="Philip McLoone" userId="1a9b8664-770d-479b-be15-f728c961e135" providerId="ADAL" clId="{56818FDA-F7AF-42C2-B1BE-C6CE027493AF}" dt="2024-01-07T17:20:24.083" v="164"/>
        <pc:sldMkLst>
          <pc:docMk/>
          <pc:sldMk cId="4276509994" sldId="350"/>
        </pc:sldMkLst>
        <pc:spChg chg="add mod">
          <ac:chgData name="Philip McLoone" userId="1a9b8664-770d-479b-be15-f728c961e135" providerId="ADAL" clId="{56818FDA-F7AF-42C2-B1BE-C6CE027493AF}" dt="2024-01-07T17:20:16.333" v="162" actId="1076"/>
          <ac:spMkLst>
            <pc:docMk/>
            <pc:sldMk cId="4276509994" sldId="350"/>
            <ac:spMk id="2" creationId="{0C72D402-3162-A0E8-5710-ACA589AB9A4E}"/>
          </ac:spMkLst>
        </pc:spChg>
      </pc:sldChg>
      <pc:sldChg chg="addSp modSp new mod">
        <pc:chgData name="Philip McLoone" userId="1a9b8664-770d-479b-be15-f728c961e135" providerId="ADAL" clId="{56818FDA-F7AF-42C2-B1BE-C6CE027493AF}" dt="2024-01-07T17:35:06.859" v="802" actId="20577"/>
        <pc:sldMkLst>
          <pc:docMk/>
          <pc:sldMk cId="2468164161" sldId="351"/>
        </pc:sldMkLst>
        <pc:spChg chg="add mod">
          <ac:chgData name="Philip McLoone" userId="1a9b8664-770d-479b-be15-f728c961e135" providerId="ADAL" clId="{56818FDA-F7AF-42C2-B1BE-C6CE027493AF}" dt="2024-01-07T17:29:00.271" v="437" actId="1076"/>
          <ac:spMkLst>
            <pc:docMk/>
            <pc:sldMk cId="2468164161" sldId="351"/>
            <ac:spMk id="2" creationId="{59BB6150-9E88-A2A0-7243-1264097F185B}"/>
          </ac:spMkLst>
        </pc:spChg>
        <pc:spChg chg="add mod">
          <ac:chgData name="Philip McLoone" userId="1a9b8664-770d-479b-be15-f728c961e135" providerId="ADAL" clId="{56818FDA-F7AF-42C2-B1BE-C6CE027493AF}" dt="2024-01-07T17:35:06.859" v="802" actId="20577"/>
          <ac:spMkLst>
            <pc:docMk/>
            <pc:sldMk cId="2468164161" sldId="351"/>
            <ac:spMk id="3" creationId="{222B5372-F93F-A62E-1B3F-82C8EF0A14C3}"/>
          </ac:spMkLst>
        </pc:spChg>
      </pc:sldChg>
      <pc:sldChg chg="addSp modSp new mod">
        <pc:chgData name="Philip McLoone" userId="1a9b8664-770d-479b-be15-f728c961e135" providerId="ADAL" clId="{56818FDA-F7AF-42C2-B1BE-C6CE027493AF}" dt="2024-01-07T21:29:53.189" v="987" actId="948"/>
        <pc:sldMkLst>
          <pc:docMk/>
          <pc:sldMk cId="3110875619" sldId="352"/>
        </pc:sldMkLst>
        <pc:spChg chg="add mod">
          <ac:chgData name="Philip McLoone" userId="1a9b8664-770d-479b-be15-f728c961e135" providerId="ADAL" clId="{56818FDA-F7AF-42C2-B1BE-C6CE027493AF}" dt="2024-01-07T21:24:47.388" v="870" actId="1076"/>
          <ac:spMkLst>
            <pc:docMk/>
            <pc:sldMk cId="3110875619" sldId="352"/>
            <ac:spMk id="2" creationId="{2EB615BD-F7E6-7F1E-803F-15923610B8BF}"/>
          </ac:spMkLst>
        </pc:spChg>
        <pc:spChg chg="add mod">
          <ac:chgData name="Philip McLoone" userId="1a9b8664-770d-479b-be15-f728c961e135" providerId="ADAL" clId="{56818FDA-F7AF-42C2-B1BE-C6CE027493AF}" dt="2024-01-07T21:29:53.189" v="987" actId="948"/>
          <ac:spMkLst>
            <pc:docMk/>
            <pc:sldMk cId="3110875619" sldId="352"/>
            <ac:spMk id="3" creationId="{3B6F5ADE-A4BF-F010-1C69-BCA0C3D7FE2B}"/>
          </ac:spMkLst>
        </pc:spChg>
        <pc:spChg chg="add mod">
          <ac:chgData name="Philip McLoone" userId="1a9b8664-770d-479b-be15-f728c961e135" providerId="ADAL" clId="{56818FDA-F7AF-42C2-B1BE-C6CE027493AF}" dt="2024-01-07T21:29:41.713" v="986" actId="1076"/>
          <ac:spMkLst>
            <pc:docMk/>
            <pc:sldMk cId="3110875619" sldId="352"/>
            <ac:spMk id="4" creationId="{5CDB8B05-45F5-EDCD-9D9B-C003CB0310F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4A5AFE-F3F4-45AF-8BDB-0FC0678D847B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4F1B71-894C-4260-A27D-A344DC67DD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8751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:a16="http://schemas.microsoft.com/office/drawing/2014/main" id="{3D262191-49CE-4CB2-9F88-948B27B75B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Notes Placeholder 2">
            <a:extLst>
              <a:ext uri="{FF2B5EF4-FFF2-40B4-BE49-F238E27FC236}">
                <a16:creationId xmlns:a16="http://schemas.microsoft.com/office/drawing/2014/main" id="{7CF49E40-5D57-42EB-B677-39E02EAA4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5DCA93DC-9207-4AEA-91BB-F782DDCD37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5AB3D5F-EE74-43E2-9953-60A20633C252}" type="slidenum">
              <a:rPr lang="en-GB" altLang="en-US" smtClean="0"/>
              <a:pPr>
                <a:spcBef>
                  <a:spcPct val="0"/>
                </a:spcBef>
              </a:pPr>
              <a:t>10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20465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8E477-D874-4B7F-9489-75B9CB33F564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F57A6-E0CE-437B-9DBF-8E5D71490A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9561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8E477-D874-4B7F-9489-75B9CB33F564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F57A6-E0CE-437B-9DBF-8E5D71490A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405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8E477-D874-4B7F-9489-75B9CB33F564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F57A6-E0CE-437B-9DBF-8E5D71490A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4945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8E477-D874-4B7F-9489-75B9CB33F564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F57A6-E0CE-437B-9DBF-8E5D71490A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370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8E477-D874-4B7F-9489-75B9CB33F564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F57A6-E0CE-437B-9DBF-8E5D71490A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7609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8E477-D874-4B7F-9489-75B9CB33F564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F57A6-E0CE-437B-9DBF-8E5D71490A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492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8E477-D874-4B7F-9489-75B9CB33F564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F57A6-E0CE-437B-9DBF-8E5D71490A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2301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8E477-D874-4B7F-9489-75B9CB33F564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F57A6-E0CE-437B-9DBF-8E5D71490A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0590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8E477-D874-4B7F-9489-75B9CB33F564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F57A6-E0CE-437B-9DBF-8E5D71490A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6508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8E477-D874-4B7F-9489-75B9CB33F564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F57A6-E0CE-437B-9DBF-8E5D71490A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3261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8E477-D874-4B7F-9489-75B9CB33F564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F57A6-E0CE-437B-9DBF-8E5D71490A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7199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435" y="4406901"/>
            <a:ext cx="7772400" cy="1362075"/>
          </a:xfrm>
        </p:spPr>
        <p:txBody>
          <a:bodyPr anchor="t"/>
          <a:lstStyle>
            <a:lvl1pPr algn="l">
              <a:defRPr sz="3692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DC4D8CE9-CED1-4310-BC82-2C227A7CD3A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522C53-62F4-452C-9FA1-21BD1F78043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538755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64650-0600-4D88-BB5E-E61298E17C85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80701-7930-4EBE-B9E6-ADE7F3FD51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5612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68E477-D874-4B7F-9489-75B9CB33F564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F57A6-E0CE-437B-9DBF-8E5D71490A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08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E64650-0600-4D88-BB5E-E61298E17C85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80701-7930-4EBE-B9E6-ADE7F3FD51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7938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emf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4636" y="2729838"/>
            <a:ext cx="396775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Types of Data</a:t>
            </a:r>
          </a:p>
          <a:p>
            <a:pPr algn="ctr"/>
            <a:endParaRPr lang="en-GB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Descriptive Statistics</a:t>
            </a:r>
          </a:p>
        </p:txBody>
      </p:sp>
    </p:spTree>
    <p:extLst>
      <p:ext uri="{BB962C8B-B14F-4D97-AF65-F5344CB8AC3E}">
        <p14:creationId xmlns:p14="http://schemas.microsoft.com/office/powerpoint/2010/main" val="2091376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EDAC329-A9F2-4E7C-9718-97FEE3AFBD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10" t="21594" r="7724" b="15711"/>
          <a:stretch/>
        </p:blipFill>
        <p:spPr>
          <a:xfrm>
            <a:off x="553020" y="1357912"/>
            <a:ext cx="7961303" cy="3821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24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48071" y="720857"/>
            <a:ext cx="35349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What is Statistics?</a:t>
            </a:r>
          </a:p>
        </p:txBody>
      </p:sp>
    </p:spTree>
    <p:extLst>
      <p:ext uri="{BB962C8B-B14F-4D97-AF65-F5344CB8AC3E}">
        <p14:creationId xmlns:p14="http://schemas.microsoft.com/office/powerpoint/2010/main" val="1923381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84216" y="1121182"/>
            <a:ext cx="40046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sz="2400" b="1" dirty="0">
                <a:latin typeface="Century Gothic" panose="020B0502020202020204" pitchFamily="34" charset="0"/>
              </a:rPr>
              <a:t>Statistics</a:t>
            </a:r>
            <a:r>
              <a:rPr lang="en-GB" altLang="en-US" sz="2400" dirty="0">
                <a:latin typeface="Century Gothic" panose="020B0502020202020204" pitchFamily="34" charset="0"/>
              </a:rPr>
              <a:t> is the science of </a:t>
            </a:r>
            <a:endParaRPr lang="en-GB" sz="2400" dirty="0"/>
          </a:p>
        </p:txBody>
      </p:sp>
      <p:sp>
        <p:nvSpPr>
          <p:cNvPr id="4" name="Rectangle 3"/>
          <p:cNvSpPr/>
          <p:nvPr/>
        </p:nvSpPr>
        <p:spPr>
          <a:xfrm>
            <a:off x="2842689" y="2057340"/>
            <a:ext cx="21066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sz="2000" dirty="0">
                <a:latin typeface="Century Gothic" panose="020B0502020202020204" pitchFamily="34" charset="0"/>
              </a:rPr>
              <a:t>collecting data</a:t>
            </a:r>
            <a:endParaRPr lang="en-GB" sz="2000" dirty="0"/>
          </a:p>
        </p:txBody>
      </p:sp>
      <p:sp>
        <p:nvSpPr>
          <p:cNvPr id="5" name="Rectangle 4"/>
          <p:cNvSpPr/>
          <p:nvPr/>
        </p:nvSpPr>
        <p:spPr>
          <a:xfrm>
            <a:off x="2842689" y="2635481"/>
            <a:ext cx="23968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sz="2000" dirty="0">
                <a:latin typeface="Century Gothic" panose="020B0502020202020204" pitchFamily="34" charset="0"/>
              </a:rPr>
              <a:t>summarizing data</a:t>
            </a:r>
            <a:endParaRPr lang="en-GB" sz="2000" dirty="0"/>
          </a:p>
        </p:txBody>
      </p:sp>
      <p:sp>
        <p:nvSpPr>
          <p:cNvPr id="6" name="Rectangle 5"/>
          <p:cNvSpPr/>
          <p:nvPr/>
        </p:nvSpPr>
        <p:spPr>
          <a:xfrm>
            <a:off x="2842689" y="3213622"/>
            <a:ext cx="21771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sz="2000" dirty="0">
                <a:latin typeface="Century Gothic" panose="020B0502020202020204" pitchFamily="34" charset="0"/>
              </a:rPr>
              <a:t>presenting data</a:t>
            </a:r>
            <a:endParaRPr lang="en-GB" sz="2000" dirty="0"/>
          </a:p>
        </p:txBody>
      </p:sp>
      <p:sp>
        <p:nvSpPr>
          <p:cNvPr id="7" name="Rectangle 6"/>
          <p:cNvSpPr/>
          <p:nvPr/>
        </p:nvSpPr>
        <p:spPr>
          <a:xfrm>
            <a:off x="2842689" y="3791764"/>
            <a:ext cx="28712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sz="2000" dirty="0">
                <a:latin typeface="Century Gothic" panose="020B0502020202020204" pitchFamily="34" charset="0"/>
              </a:rPr>
              <a:t>and interpreting data</a:t>
            </a:r>
            <a:endParaRPr lang="en-GB" sz="2000" dirty="0"/>
          </a:p>
        </p:txBody>
      </p:sp>
      <p:grpSp>
        <p:nvGrpSpPr>
          <p:cNvPr id="9" name="Group 8"/>
          <p:cNvGrpSpPr/>
          <p:nvPr/>
        </p:nvGrpSpPr>
        <p:grpSpPr>
          <a:xfrm>
            <a:off x="1108550" y="4711108"/>
            <a:ext cx="8261897" cy="1111541"/>
            <a:chOff x="2842689" y="4644769"/>
            <a:chExt cx="6468079" cy="1111541"/>
          </a:xfrm>
        </p:grpSpPr>
        <p:sp>
          <p:nvSpPr>
            <p:cNvPr id="2" name="Rectangle 1"/>
            <p:cNvSpPr/>
            <p:nvPr/>
          </p:nvSpPr>
          <p:spPr>
            <a:xfrm>
              <a:off x="2842689" y="5356200"/>
              <a:ext cx="4572000" cy="40011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GB" altLang="en-US" sz="2000" dirty="0">
                  <a:latin typeface="Century Gothic" panose="020B0502020202020204" pitchFamily="34" charset="0"/>
                </a:rPr>
                <a:t>and test hypotheses</a:t>
              </a:r>
              <a:endParaRPr lang="en-GB" sz="2000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842689" y="4644769"/>
              <a:ext cx="6468079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altLang="en-US" sz="2000" dirty="0">
                  <a:latin typeface="Century Gothic" panose="020B0502020202020204" pitchFamily="34" charset="0"/>
                </a:rPr>
                <a:t>Using data to estimate the magnitude of associations </a:t>
              </a:r>
              <a:endParaRPr lang="en-GB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17382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48071" y="720857"/>
            <a:ext cx="35349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What is Statistics?</a:t>
            </a:r>
          </a:p>
        </p:txBody>
      </p:sp>
      <p:sp>
        <p:nvSpPr>
          <p:cNvPr id="5" name="Rectangle 4"/>
          <p:cNvSpPr/>
          <p:nvPr/>
        </p:nvSpPr>
        <p:spPr>
          <a:xfrm>
            <a:off x="824715" y="2945225"/>
            <a:ext cx="7808297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GB" altLang="en-US" sz="2000" dirty="0">
                <a:latin typeface="Century Gothic" panose="020B0502020202020204" pitchFamily="34" charset="0"/>
              </a:rPr>
              <a:t>“</a:t>
            </a:r>
            <a:r>
              <a:rPr lang="en-GB" altLang="en-US" sz="2000" b="1" dirty="0">
                <a:latin typeface="Century Gothic" panose="020B0502020202020204" pitchFamily="34" charset="0"/>
              </a:rPr>
              <a:t>Statistics</a:t>
            </a:r>
            <a:r>
              <a:rPr lang="en-GB" altLang="en-US" sz="2000" dirty="0">
                <a:latin typeface="Century Gothic" panose="020B0502020202020204" pitchFamily="34" charset="0"/>
              </a:rPr>
              <a:t>…is the core science of evidence-based practice” </a:t>
            </a:r>
          </a:p>
          <a:p>
            <a:pPr algn="r">
              <a:lnSpc>
                <a:spcPct val="120000"/>
              </a:lnSpc>
            </a:pPr>
            <a:r>
              <a:rPr lang="en-GB" altLang="en-US" sz="1600" i="1" dirty="0">
                <a:latin typeface="Century Gothic" panose="020B0502020202020204" pitchFamily="34" charset="0"/>
              </a:rPr>
              <a:t>Martin Bland </a:t>
            </a:r>
          </a:p>
        </p:txBody>
      </p:sp>
    </p:spTree>
    <p:extLst>
      <p:ext uri="{BB962C8B-B14F-4D97-AF65-F5344CB8AC3E}">
        <p14:creationId xmlns:p14="http://schemas.microsoft.com/office/powerpoint/2010/main" val="2350565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roup 126"/>
          <p:cNvGrpSpPr/>
          <p:nvPr/>
        </p:nvGrpSpPr>
        <p:grpSpPr>
          <a:xfrm>
            <a:off x="1065914" y="879078"/>
            <a:ext cx="2204821" cy="5228786"/>
            <a:chOff x="1140770" y="771260"/>
            <a:chExt cx="2204821" cy="5228786"/>
          </a:xfrm>
        </p:grpSpPr>
        <p:grpSp>
          <p:nvGrpSpPr>
            <p:cNvPr id="3" name="Group 2"/>
            <p:cNvGrpSpPr/>
            <p:nvPr/>
          </p:nvGrpSpPr>
          <p:grpSpPr>
            <a:xfrm>
              <a:off x="1140770" y="1337183"/>
              <a:ext cx="2204821" cy="4662863"/>
              <a:chOff x="1122841" y="1104101"/>
              <a:chExt cx="2204821" cy="4662863"/>
            </a:xfrm>
          </p:grpSpPr>
          <p:pic>
            <p:nvPicPr>
              <p:cNvPr id="21" name="Picture 20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22841" y="1571579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22841" y="2039058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22841" y="2506536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22875" y="3441493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22841" y="3908971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22841" y="4376449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22875" y="4843928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22875" y="5311411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22841" y="3453418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17200" y="1104101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17200" y="1571579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17200" y="2039058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17200" y="2506536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17234" y="2974014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17234" y="3441493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17200" y="3908971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38" name="Picture 37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17200" y="4376449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39" name="Picture 38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17234" y="4843928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40" name="Picture 39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17234" y="5311411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41" name="Picture 40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17200" y="3453418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42" name="Picture 41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1560" y="1104101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43" name="Picture 42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1560" y="1571579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45" name="Picture 44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1560" y="2506536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46" name="Picture 45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1594" y="2974014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47" name="Picture 46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1594" y="3441493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49" name="Picture 48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1560" y="4376449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50" name="Picture 49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1594" y="4843928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51" name="Picture 50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1594" y="5311411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52" name="Picture 51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1560" y="3453418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53" name="Picture 52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05919" y="1104101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54" name="Picture 53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05919" y="1571579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55" name="Picture 54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05919" y="2039058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56" name="Picture 55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05919" y="2506536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57" name="Picture 56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05953" y="2974014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58" name="Picture 57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05953" y="3441493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59" name="Picture 58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05919" y="3908971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60" name="Picture 59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05919" y="4376449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61" name="Picture 60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05953" y="4843928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62" name="Picture 61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05953" y="5311411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64" name="Picture 63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00278" y="1571579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65" name="Picture 64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00278" y="2039058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66" name="Picture 65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00278" y="2506536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67" name="Picture 66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00312" y="2974014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68" name="Picture 67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00312" y="3441493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69" name="Picture 68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00278" y="3908971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70" name="Picture 69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00278" y="4376449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71" name="Picture 70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00312" y="4843928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72" name="Picture 71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00312" y="5311411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73" name="Picture 72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00278" y="3453418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74" name="Picture 73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94637" y="1104101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75" name="Picture 74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94637" y="1571579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76" name="Picture 75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94637" y="2039058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77" name="Picture 76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94637" y="2506536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78" name="Picture 77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94671" y="2974014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79" name="Picture 78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94671" y="3441493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80" name="Picture 79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94637" y="3908971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81" name="Picture 80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94637" y="4376449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82" name="Picture 81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94671" y="4843928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83" name="Picture 82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94671" y="5311411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84" name="Picture 83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88997" y="1104101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85" name="Picture 84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88997" y="1571579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86" name="Picture 85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88997" y="2039058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87" name="Picture 86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88997" y="2506536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89" name="Picture 88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89031" y="3441493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90" name="Picture 89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88997" y="3908971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91" name="Picture 90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88997" y="4376449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92" name="Picture 91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89031" y="4843928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93" name="Picture 92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89031" y="5311411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94" name="Picture 93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83356" y="1104101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95" name="Picture 94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83356" y="1571579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96" name="Picture 95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83356" y="2039058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97" name="Picture 96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83356" y="2506536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98" name="Picture 97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83390" y="2974014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100" name="Picture 99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83356" y="3908971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101" name="Picture 100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83356" y="4376449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103" name="Picture 102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83390" y="5311411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104" name="Picture 103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83356" y="2985940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105" name="Picture 104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77715" y="1104101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107" name="Picture 106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77715" y="2039058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108" name="Picture 107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77715" y="2506536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109" name="Picture 108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77749" y="2974014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110" name="Picture 109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77749" y="3441493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111" name="Picture 110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77715" y="3908971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112" name="Picture 111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77715" y="4376449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113" name="Picture 112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77749" y="4843928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114" name="Picture 113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77749" y="5311411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115" name="Picture 114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77715" y="2985940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116" name="Picture 115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72074" y="1104101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117" name="Picture 116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72074" y="1571579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118" name="Picture 117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72074" y="2039058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119" name="Picture 118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72074" y="2506536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120" name="Picture 119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72108" y="2974014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121" name="Picture 120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72108" y="3441493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122" name="Picture 121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72074" y="3908971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123" name="Picture 122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72074" y="4376449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124" name="Picture 123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72108" y="4843928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125" name="Picture 124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72108" y="5311411"/>
                <a:ext cx="455554" cy="455553"/>
              </a:xfrm>
              <a:prstGeom prst="rect">
                <a:avLst/>
              </a:prstGeom>
            </p:spPr>
          </p:pic>
          <p:pic>
            <p:nvPicPr>
              <p:cNvPr id="126" name="Picture 125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72074" y="2985940"/>
                <a:ext cx="455554" cy="455553"/>
              </a:xfrm>
              <a:prstGeom prst="rect">
                <a:avLst/>
              </a:prstGeom>
            </p:spPr>
          </p:pic>
        </p:grpSp>
        <p:sp>
          <p:nvSpPr>
            <p:cNvPr id="5" name="TextBox 4"/>
            <p:cNvSpPr txBox="1"/>
            <p:nvPr/>
          </p:nvSpPr>
          <p:spPr>
            <a:xfrm>
              <a:off x="1638557" y="771260"/>
              <a:ext cx="11990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Population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1065914" y="1444996"/>
            <a:ext cx="2010428" cy="4195385"/>
            <a:chOff x="6145295" y="1331876"/>
            <a:chExt cx="2010428" cy="4195385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5295" y="1331876"/>
              <a:ext cx="455554" cy="455553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5295" y="3213715"/>
              <a:ext cx="455554" cy="455553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34014" y="2266833"/>
              <a:ext cx="455554" cy="455553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34014" y="4136746"/>
              <a:ext cx="455554" cy="455553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2732" y="1331876"/>
              <a:ext cx="455554" cy="455553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11485" y="3201790"/>
              <a:ext cx="455554" cy="455553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05810" y="3669268"/>
              <a:ext cx="455554" cy="455553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05844" y="5071708"/>
              <a:ext cx="455554" cy="455553"/>
            </a:xfrm>
            <a:prstGeom prst="rect">
              <a:avLst/>
            </a:prstGeom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0169" y="1799355"/>
              <a:ext cx="455554" cy="455553"/>
            </a:xfrm>
            <a:prstGeom prst="rect">
              <a:avLst/>
            </a:prstGeom>
          </p:spPr>
        </p:pic>
      </p:grpSp>
      <p:sp>
        <p:nvSpPr>
          <p:cNvPr id="6" name="TextBox 5"/>
          <p:cNvSpPr txBox="1"/>
          <p:nvPr/>
        </p:nvSpPr>
        <p:spPr>
          <a:xfrm>
            <a:off x="6269441" y="890936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Random Sample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79183" y="1476039"/>
            <a:ext cx="1743959" cy="373919"/>
          </a:xfrm>
          <a:prstGeom prst="rightArrow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20000"/>
                  <a:lumOff val="80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57000">
                  <a:schemeClr val="accent1">
                    <a:lumMod val="45000"/>
                    <a:lumOff val="55000"/>
                  </a:schemeClr>
                </a:gs>
                <a:gs pos="95000">
                  <a:schemeClr val="accent1">
                    <a:lumMod val="45000"/>
                    <a:lumOff val="55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3881024" y="1912035"/>
            <a:ext cx="19419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Select random sample </a:t>
            </a: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28E8619B-1B75-4222-9E26-3DB22D9B8737}"/>
              </a:ext>
            </a:extLst>
          </p:cNvPr>
          <p:cNvGrpSpPr/>
          <p:nvPr/>
        </p:nvGrpSpPr>
        <p:grpSpPr>
          <a:xfrm>
            <a:off x="3979183" y="4517073"/>
            <a:ext cx="1941934" cy="1636325"/>
            <a:chOff x="3930730" y="4130126"/>
            <a:chExt cx="1941934" cy="1636325"/>
          </a:xfrm>
        </p:grpSpPr>
        <p:sp>
          <p:nvSpPr>
            <p:cNvPr id="139" name="Right Arrow 6">
              <a:extLst>
                <a:ext uri="{FF2B5EF4-FFF2-40B4-BE49-F238E27FC236}">
                  <a16:creationId xmlns:a16="http://schemas.microsoft.com/office/drawing/2014/main" id="{8CE842FB-D917-44B4-8FF0-FB3E617B7BBE}"/>
                </a:ext>
              </a:extLst>
            </p:cNvPr>
            <p:cNvSpPr/>
            <p:nvPr/>
          </p:nvSpPr>
          <p:spPr>
            <a:xfrm flipH="1">
              <a:off x="3930730" y="4130126"/>
              <a:ext cx="1743959" cy="373919"/>
            </a:xfrm>
            <a:prstGeom prst="rightArrow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7000">
                  <a:schemeClr val="accent1">
                    <a:lumMod val="45000"/>
                    <a:lumOff val="55000"/>
                  </a:schemeClr>
                </a:gs>
                <a:gs pos="95000">
                  <a:schemeClr val="accent1">
                    <a:lumMod val="45000"/>
                    <a:lumOff val="55000"/>
                  </a:schemeClr>
                </a:gs>
              </a:gsLst>
              <a:lin ang="0" scaled="1"/>
            </a:gradFill>
            <a:ln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tx2">
                      <a:lumMod val="60000"/>
                      <a:lumOff val="40000"/>
                    </a:schemeClr>
                  </a:gs>
                  <a:gs pos="46000">
                    <a:schemeClr val="accent1">
                      <a:lumMod val="45000"/>
                      <a:lumOff val="55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3CE183E6-B841-4231-A80B-BBC99CE281EE}"/>
                </a:ext>
              </a:extLst>
            </p:cNvPr>
            <p:cNvSpPr txBox="1"/>
            <p:nvPr/>
          </p:nvSpPr>
          <p:spPr>
            <a:xfrm>
              <a:off x="3930730" y="4566122"/>
              <a:ext cx="194193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i="1" dirty="0"/>
                <a:t>Use sample to make an </a:t>
              </a:r>
              <a:r>
                <a:rPr lang="en-GB" b="1" i="1" dirty="0"/>
                <a:t>inference</a:t>
              </a:r>
              <a:r>
                <a:rPr lang="en-GB" i="1" dirty="0"/>
                <a:t> about the population</a:t>
              </a: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7B1286BF-253B-490B-A532-44BA0C6E7BBC}"/>
              </a:ext>
            </a:extLst>
          </p:cNvPr>
          <p:cNvGrpSpPr/>
          <p:nvPr/>
        </p:nvGrpSpPr>
        <p:grpSpPr>
          <a:xfrm>
            <a:off x="1065264" y="1444996"/>
            <a:ext cx="2010428" cy="4195385"/>
            <a:chOff x="6145295" y="1331876"/>
            <a:chExt cx="2010428" cy="4195385"/>
          </a:xfrm>
        </p:grpSpPr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69214E99-6985-4D45-83AA-6F06273753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5295" y="1331876"/>
              <a:ext cx="455554" cy="455553"/>
            </a:xfrm>
            <a:prstGeom prst="rect">
              <a:avLst/>
            </a:prstGeom>
          </p:spPr>
        </p:pic>
        <p:pic>
          <p:nvPicPr>
            <p:cNvPr id="131" name="Picture 130">
              <a:extLst>
                <a:ext uri="{FF2B5EF4-FFF2-40B4-BE49-F238E27FC236}">
                  <a16:creationId xmlns:a16="http://schemas.microsoft.com/office/drawing/2014/main" id="{573F2FBE-515A-42F3-A712-98F1F78330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5295" y="3213715"/>
              <a:ext cx="455554" cy="455553"/>
            </a:xfrm>
            <a:prstGeom prst="rect">
              <a:avLst/>
            </a:prstGeom>
          </p:spPr>
        </p:pic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B706D2AB-2124-4EA3-83E0-DAA108695A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34014" y="2266833"/>
              <a:ext cx="455554" cy="455553"/>
            </a:xfrm>
            <a:prstGeom prst="rect">
              <a:avLst/>
            </a:prstGeom>
          </p:spPr>
        </p:pic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638421FF-E7F3-4588-895A-6FF4CF9513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34014" y="4136746"/>
              <a:ext cx="455554" cy="455553"/>
            </a:xfrm>
            <a:prstGeom prst="rect">
              <a:avLst/>
            </a:prstGeom>
          </p:spPr>
        </p:pic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E297D0A2-0392-49AD-93CE-E38552CF6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2732" y="1331876"/>
              <a:ext cx="455554" cy="455553"/>
            </a:xfrm>
            <a:prstGeom prst="rect">
              <a:avLst/>
            </a:prstGeom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C8091CF3-D996-4F11-900C-B583B04C10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11485" y="3201790"/>
              <a:ext cx="455554" cy="455553"/>
            </a:xfrm>
            <a:prstGeom prst="rect">
              <a:avLst/>
            </a:prstGeom>
          </p:spPr>
        </p:pic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E7CD639D-2797-4357-ACDE-E564C3908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05810" y="3669268"/>
              <a:ext cx="455554" cy="455553"/>
            </a:xfrm>
            <a:prstGeom prst="rect">
              <a:avLst/>
            </a:prstGeom>
          </p:spPr>
        </p:pic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C23E5A5B-23D8-456A-B06E-101C57AC6A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05844" y="5071708"/>
              <a:ext cx="455554" cy="455553"/>
            </a:xfrm>
            <a:prstGeom prst="rect">
              <a:avLst/>
            </a:prstGeom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00550E7E-AF4A-463B-A4C8-F624B9B357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0169" y="1799355"/>
              <a:ext cx="455554" cy="4555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60469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3.33333E-6 L 0.57969 -0.00533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976" y="-278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2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5C99F-BC47-4FE8-8AAC-67A67765F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Analysis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6B5235-3CB3-47AE-A4B9-ADD48E269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Descriptive (epidemiology, pure statistics)</a:t>
            </a:r>
          </a:p>
          <a:p>
            <a:pPr lvl="1"/>
            <a:r>
              <a:rPr lang="en-GB" dirty="0"/>
              <a:t>“What happened?”</a:t>
            </a:r>
          </a:p>
          <a:p>
            <a:pPr lvl="1"/>
            <a:r>
              <a:rPr lang="en-GB" dirty="0"/>
              <a:t>Focus: Past/Historical</a:t>
            </a:r>
          </a:p>
          <a:p>
            <a:pPr lvl="1"/>
            <a:r>
              <a:rPr lang="en-GB" dirty="0"/>
              <a:t>Action: Reporting and Visualisation</a:t>
            </a:r>
          </a:p>
          <a:p>
            <a:endParaRPr lang="en-GB" dirty="0"/>
          </a:p>
          <a:p>
            <a:r>
              <a:rPr lang="en-GB" dirty="0"/>
              <a:t>Predictive (Statistical inference)</a:t>
            </a:r>
          </a:p>
          <a:p>
            <a:pPr lvl="1"/>
            <a:r>
              <a:rPr lang="en-GB" dirty="0"/>
              <a:t>“What will happen?”</a:t>
            </a:r>
          </a:p>
          <a:p>
            <a:pPr lvl="1"/>
            <a:r>
              <a:rPr lang="en-GB" dirty="0"/>
              <a:t>Focus: Future/Probabilities</a:t>
            </a:r>
          </a:p>
          <a:p>
            <a:pPr lvl="1"/>
            <a:r>
              <a:rPr lang="en-GB" dirty="0"/>
              <a:t>Action: Forecasting and Risk</a:t>
            </a:r>
          </a:p>
          <a:p>
            <a:endParaRPr lang="en-GB" dirty="0"/>
          </a:p>
          <a:p>
            <a:r>
              <a:rPr lang="en-GB" dirty="0"/>
              <a:t>Causal (Causal Inference)</a:t>
            </a:r>
          </a:p>
          <a:p>
            <a:pPr lvl="1"/>
            <a:r>
              <a:rPr lang="en-GB" dirty="0"/>
              <a:t>“Why did it happen?”</a:t>
            </a:r>
          </a:p>
          <a:p>
            <a:pPr lvl="1"/>
            <a:r>
              <a:rPr lang="en-GB" dirty="0"/>
              <a:t>Focus: Cause and Effect</a:t>
            </a:r>
          </a:p>
          <a:p>
            <a:pPr lvl="1"/>
            <a:r>
              <a:rPr lang="en-GB" dirty="0"/>
              <a:t>Action: Intervention and Strategy</a:t>
            </a:r>
          </a:p>
        </p:txBody>
      </p:sp>
    </p:spTree>
    <p:extLst>
      <p:ext uri="{BB962C8B-B14F-4D97-AF65-F5344CB8AC3E}">
        <p14:creationId xmlns:p14="http://schemas.microsoft.com/office/powerpoint/2010/main" val="1674312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774CA-32FD-4CCA-9895-8F6460604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Frequentist vs Bayesian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AE7C724-3F16-4C2C-BF25-E97E04825359}"/>
              </a:ext>
            </a:extLst>
          </p:cNvPr>
          <p:cNvGraphicFramePr>
            <a:graphicFrameLocks noGrp="1"/>
          </p:cNvGraphicFramePr>
          <p:nvPr/>
        </p:nvGraphicFramePr>
        <p:xfrm>
          <a:off x="628650" y="2111534"/>
          <a:ext cx="7886700" cy="377952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7829613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5698671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404781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Frequentist Approach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Bayesian Approach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2109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Probability is...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 fixed, long-term frequency.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 personal degree of certainty.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4391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Parameters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Fixed but unknown (e.g., "The average height </a:t>
                      </a:r>
                      <a:r>
                        <a:rPr lang="en-GB" i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is</a:t>
                      </a:r>
                      <a:r>
                        <a:rPr lang="en-GB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X").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Random variables (e.g., "The average height is a </a:t>
                      </a:r>
                      <a:r>
                        <a:rPr lang="en-GB" i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range</a:t>
                      </a:r>
                      <a:r>
                        <a:rPr lang="en-GB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").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5083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Testing Goal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 reject the Null Hypothesis.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 update the probability of a hypothesis.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5278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Best For...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Large datasets, regulatory trials, objective standards.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Small datasets, "peeking" at results, incorporating expert knowledge.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8997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8338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11619" y="1996204"/>
            <a:ext cx="73062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en-US" sz="2000" dirty="0">
                <a:latin typeface="Century Gothic" panose="020B0502020202020204" pitchFamily="34" charset="0"/>
              </a:rPr>
              <a:t>Summarising and presenting data. 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1619" y="3814084"/>
            <a:ext cx="69207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latin typeface="Century Gothic" panose="020B0502020202020204" pitchFamily="34" charset="0"/>
              </a:rPr>
              <a:t>Allows “a feel” for the data</a:t>
            </a:r>
          </a:p>
        </p:txBody>
      </p:sp>
      <p:sp>
        <p:nvSpPr>
          <p:cNvPr id="2" name="Rectangle 1"/>
          <p:cNvSpPr/>
          <p:nvPr/>
        </p:nvSpPr>
        <p:spPr>
          <a:xfrm>
            <a:off x="1111619" y="2905144"/>
            <a:ext cx="671456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en-US" sz="2000" dirty="0">
                <a:latin typeface="Century Gothic" panose="020B0502020202020204" pitchFamily="34" charset="0"/>
              </a:rPr>
              <a:t>Essential before any predictive or inferential analysis is conducted</a:t>
            </a:r>
            <a:endParaRPr lang="en-GB" sz="2000" dirty="0">
              <a:latin typeface="Century Gothic" panose="020B0502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11619" y="4690518"/>
            <a:ext cx="718969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latin typeface="Century Gothic" panose="020B0502020202020204" pitchFamily="34" charset="0"/>
              </a:rPr>
              <a:t>Helps form subjective impressions of answers to research questions.</a:t>
            </a:r>
            <a:endParaRPr lang="en-GB" sz="2000" dirty="0"/>
          </a:p>
        </p:txBody>
      </p:sp>
      <p:sp>
        <p:nvSpPr>
          <p:cNvPr id="8" name="Rectangle 7"/>
          <p:cNvSpPr/>
          <p:nvPr/>
        </p:nvSpPr>
        <p:spPr>
          <a:xfrm>
            <a:off x="2384608" y="702544"/>
            <a:ext cx="357360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sz="3200" dirty="0"/>
              <a:t>Descriptive statistics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0409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7">
            <a:extLst>
              <a:ext uri="{FF2B5EF4-FFF2-40B4-BE49-F238E27FC236}">
                <a16:creationId xmlns:a16="http://schemas.microsoft.com/office/drawing/2014/main" id="{611500F1-498C-40D3-8A43-99997D124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872" y="1655788"/>
            <a:ext cx="54628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30000"/>
              </a:spcBef>
              <a:buChar char="•"/>
              <a:defRPr sz="2800" b="1">
                <a:solidFill>
                  <a:srgbClr val="00213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buClr>
                <a:schemeClr val="tx2"/>
              </a:buClr>
              <a:buSzPct val="80000"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b="0" dirty="0">
                <a:solidFill>
                  <a:schemeClr val="tx1"/>
                </a:solidFill>
                <a:latin typeface="Century Gothic" panose="020B0502020202020204" pitchFamily="34" charset="0"/>
              </a:rPr>
              <a:t>A collection of data is called a </a:t>
            </a:r>
            <a:r>
              <a:rPr lang="en-GB" altLang="en-US" sz="2000" b="0" i="1" dirty="0">
                <a:solidFill>
                  <a:schemeClr val="tx1"/>
                </a:solidFill>
                <a:latin typeface="Century Gothic" panose="020B0502020202020204" pitchFamily="34" charset="0"/>
              </a:rPr>
              <a:t>“</a:t>
            </a:r>
            <a:r>
              <a:rPr lang="en-GB" altLang="en-US" sz="2000" i="1" dirty="0">
                <a:solidFill>
                  <a:schemeClr val="tx1"/>
                </a:solidFill>
                <a:latin typeface="Century Gothic" panose="020B0502020202020204" pitchFamily="34" charset="0"/>
              </a:rPr>
              <a:t>dataset</a:t>
            </a:r>
            <a:r>
              <a:rPr lang="en-GB" altLang="en-US" sz="2000" b="0" i="1" dirty="0">
                <a:solidFill>
                  <a:schemeClr val="tx1"/>
                </a:solidFill>
                <a:latin typeface="Century Gothic" panose="020B0502020202020204" pitchFamily="34" charset="0"/>
              </a:rPr>
              <a:t>”</a:t>
            </a:r>
            <a:endParaRPr lang="en-US" altLang="en-US" sz="2000" b="0" i="1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12291" name="Text Box 8">
            <a:extLst>
              <a:ext uri="{FF2B5EF4-FFF2-40B4-BE49-F238E27FC236}">
                <a16:creationId xmlns:a16="http://schemas.microsoft.com/office/drawing/2014/main" id="{3818E52A-BA5F-4E53-87D2-7C7B9AEF8C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872" y="2373389"/>
            <a:ext cx="709910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30000"/>
              </a:spcBef>
              <a:buChar char="•"/>
              <a:defRPr sz="2800" b="1">
                <a:solidFill>
                  <a:srgbClr val="00213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buClr>
                <a:schemeClr val="tx2"/>
              </a:buClr>
              <a:buSzPct val="80000"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b="0" dirty="0">
                <a:solidFill>
                  <a:schemeClr val="tx1"/>
                </a:solidFill>
                <a:latin typeface="Century Gothic" panose="020B0502020202020204" pitchFamily="34" charset="0"/>
              </a:rPr>
              <a:t>Contains information on </a:t>
            </a:r>
            <a:r>
              <a:rPr lang="en-GB" altLang="en-US" sz="2000" i="1" dirty="0">
                <a:solidFill>
                  <a:schemeClr val="tx1"/>
                </a:solidFill>
                <a:latin typeface="Century Gothic" panose="020B0502020202020204" pitchFamily="34" charset="0"/>
              </a:rPr>
              <a:t>subjects</a:t>
            </a:r>
            <a:r>
              <a:rPr lang="en-GB" altLang="en-US" sz="2000" b="0" dirty="0">
                <a:solidFill>
                  <a:schemeClr val="tx1"/>
                </a:solidFill>
                <a:latin typeface="Century Gothic" panose="020B0502020202020204" pitchFamily="34" charset="0"/>
              </a:rPr>
              <a:t> we are interested in:</a:t>
            </a:r>
            <a:endParaRPr lang="en-US" altLang="en-US" sz="2000" b="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12292" name="Rectangle 1">
            <a:extLst>
              <a:ext uri="{FF2B5EF4-FFF2-40B4-BE49-F238E27FC236}">
                <a16:creationId xmlns:a16="http://schemas.microsoft.com/office/drawing/2014/main" id="{124F2E42-DF77-41F4-B938-9C9AA874F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872" y="3539837"/>
            <a:ext cx="832799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000" dirty="0">
                <a:latin typeface="Century Gothic" panose="020B0502020202020204" pitchFamily="34" charset="0"/>
              </a:rPr>
              <a:t>Individuals: </a:t>
            </a:r>
            <a:r>
              <a:rPr lang="en-GB" altLang="en-US" sz="2000" i="1" dirty="0">
                <a:latin typeface="Century Gothic" panose="020B0502020202020204" pitchFamily="34" charset="0"/>
              </a:rPr>
              <a:t>age, height, weight, town, PS, time since diagnosis</a:t>
            </a:r>
          </a:p>
        </p:txBody>
      </p:sp>
      <p:sp>
        <p:nvSpPr>
          <p:cNvPr id="12293" name="Rectangle 2">
            <a:extLst>
              <a:ext uri="{FF2B5EF4-FFF2-40B4-BE49-F238E27FC236}">
                <a16:creationId xmlns:a16="http://schemas.microsoft.com/office/drawing/2014/main" id="{CBEB82B5-D18E-4D3D-9488-2412CEA0A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872" y="4235005"/>
            <a:ext cx="77535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 sz="2000" dirty="0">
                <a:latin typeface="Century Gothic" panose="020B0502020202020204" pitchFamily="34" charset="0"/>
              </a:rPr>
              <a:t>Hospitals</a:t>
            </a:r>
            <a:r>
              <a:rPr lang="en-GB" altLang="en-US" sz="2000" i="1" dirty="0">
                <a:latin typeface="Century Gothic" panose="020B0502020202020204" pitchFamily="34" charset="0"/>
              </a:rPr>
              <a:t>: number of nurses, number of beds, death rate, LOS</a:t>
            </a:r>
            <a:endParaRPr lang="en-GB" altLang="en-US" sz="2000" dirty="0">
              <a:latin typeface="Century Gothic" panose="020B0502020202020204" pitchFamily="34" charset="0"/>
            </a:endParaRPr>
          </a:p>
        </p:txBody>
      </p:sp>
      <p:sp>
        <p:nvSpPr>
          <p:cNvPr id="12294" name="Rectangle 3">
            <a:extLst>
              <a:ext uri="{FF2B5EF4-FFF2-40B4-BE49-F238E27FC236}">
                <a16:creationId xmlns:a16="http://schemas.microsoft.com/office/drawing/2014/main" id="{96829267-7394-464C-92AA-8907AD804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873" y="4930174"/>
            <a:ext cx="82484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 sz="2000">
                <a:latin typeface="Century Gothic" panose="020B0502020202020204" pitchFamily="34" charset="0"/>
              </a:rPr>
              <a:t>Countries: </a:t>
            </a:r>
            <a:r>
              <a:rPr lang="en-GB" altLang="en-US" sz="2000" i="1">
                <a:latin typeface="Century Gothic" panose="020B0502020202020204" pitchFamily="34" charset="0"/>
              </a:rPr>
              <a:t>population size, literacy rates, GDP, life expectancy</a:t>
            </a:r>
            <a:endParaRPr lang="en-GB" altLang="en-US" sz="2000">
              <a:latin typeface="Century Gothic" panose="020B0502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C3F1B7-E19A-44A8-A403-8A43A0637694}"/>
              </a:ext>
            </a:extLst>
          </p:cNvPr>
          <p:cNvSpPr/>
          <p:nvPr/>
        </p:nvSpPr>
        <p:spPr>
          <a:xfrm>
            <a:off x="3682589" y="558344"/>
            <a:ext cx="146091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sz="3200" dirty="0"/>
              <a:t>Dataset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8669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9" name="Group 7">
            <a:extLst>
              <a:ext uri="{FF2B5EF4-FFF2-40B4-BE49-F238E27FC236}">
                <a16:creationId xmlns:a16="http://schemas.microsoft.com/office/drawing/2014/main" id="{3CDCEDA5-BC79-40E5-AC42-23BC6111CE25}"/>
              </a:ext>
            </a:extLst>
          </p:cNvPr>
          <p:cNvGrpSpPr>
            <a:grpSpLocks/>
          </p:cNvGrpSpPr>
          <p:nvPr/>
        </p:nvGrpSpPr>
        <p:grpSpPr bwMode="auto">
          <a:xfrm>
            <a:off x="722435" y="2009043"/>
            <a:ext cx="7835411" cy="4787411"/>
            <a:chOff x="363959" y="1407560"/>
            <a:chExt cx="8487683" cy="5185863"/>
          </a:xfrm>
        </p:grpSpPr>
        <p:pic>
          <p:nvPicPr>
            <p:cNvPr id="14353" name="Picture 3">
              <a:extLst>
                <a:ext uri="{FF2B5EF4-FFF2-40B4-BE49-F238E27FC236}">
                  <a16:creationId xmlns:a16="http://schemas.microsoft.com/office/drawing/2014/main" id="{E6E09F9A-7F91-4835-A17A-FA426D9836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4808" b="37346"/>
            <a:stretch>
              <a:fillRect/>
            </a:stretch>
          </p:blipFill>
          <p:spPr bwMode="auto">
            <a:xfrm>
              <a:off x="703262" y="1627919"/>
              <a:ext cx="7809078" cy="4690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EA4EA29-7B90-47A9-A7D2-48E9691BD80B}"/>
                </a:ext>
              </a:extLst>
            </p:cNvPr>
            <p:cNvSpPr/>
            <p:nvPr/>
          </p:nvSpPr>
          <p:spPr>
            <a:xfrm>
              <a:off x="363959" y="5791813"/>
              <a:ext cx="8487683" cy="801610"/>
            </a:xfrm>
            <a:custGeom>
              <a:avLst/>
              <a:gdLst>
                <a:gd name="connsiteX0" fmla="*/ 1229 w 8487683"/>
                <a:gd name="connsiteY0" fmla="*/ 328773 h 801384"/>
                <a:gd name="connsiteX1" fmla="*/ 103971 w 8487683"/>
                <a:gd name="connsiteY1" fmla="*/ 277402 h 801384"/>
                <a:gd name="connsiteX2" fmla="*/ 155341 w 8487683"/>
                <a:gd name="connsiteY2" fmla="*/ 246579 h 801384"/>
                <a:gd name="connsiteX3" fmla="*/ 186164 w 8487683"/>
                <a:gd name="connsiteY3" fmla="*/ 226031 h 801384"/>
                <a:gd name="connsiteX4" fmla="*/ 247809 w 8487683"/>
                <a:gd name="connsiteY4" fmla="*/ 205483 h 801384"/>
                <a:gd name="connsiteX5" fmla="*/ 288905 w 8487683"/>
                <a:gd name="connsiteY5" fmla="*/ 184934 h 801384"/>
                <a:gd name="connsiteX6" fmla="*/ 360825 w 8487683"/>
                <a:gd name="connsiteY6" fmla="*/ 154112 h 801384"/>
                <a:gd name="connsiteX7" fmla="*/ 422470 w 8487683"/>
                <a:gd name="connsiteY7" fmla="*/ 102741 h 801384"/>
                <a:gd name="connsiteX8" fmla="*/ 484114 w 8487683"/>
                <a:gd name="connsiteY8" fmla="*/ 71919 h 801384"/>
                <a:gd name="connsiteX9" fmla="*/ 525211 w 8487683"/>
                <a:gd name="connsiteY9" fmla="*/ 154112 h 801384"/>
                <a:gd name="connsiteX10" fmla="*/ 535485 w 8487683"/>
                <a:gd name="connsiteY10" fmla="*/ 184934 h 801384"/>
                <a:gd name="connsiteX11" fmla="*/ 566308 w 8487683"/>
                <a:gd name="connsiteY11" fmla="*/ 205483 h 801384"/>
                <a:gd name="connsiteX12" fmla="*/ 586856 w 8487683"/>
                <a:gd name="connsiteY12" fmla="*/ 236305 h 801384"/>
                <a:gd name="connsiteX13" fmla="*/ 627953 w 8487683"/>
                <a:gd name="connsiteY13" fmla="*/ 256854 h 801384"/>
                <a:gd name="connsiteX14" fmla="*/ 689598 w 8487683"/>
                <a:gd name="connsiteY14" fmla="*/ 287676 h 801384"/>
                <a:gd name="connsiteX15" fmla="*/ 720420 w 8487683"/>
                <a:gd name="connsiteY15" fmla="*/ 308224 h 801384"/>
                <a:gd name="connsiteX16" fmla="*/ 782065 w 8487683"/>
                <a:gd name="connsiteY16" fmla="*/ 236305 h 801384"/>
                <a:gd name="connsiteX17" fmla="*/ 792339 w 8487683"/>
                <a:gd name="connsiteY17" fmla="*/ 205483 h 801384"/>
                <a:gd name="connsiteX18" fmla="*/ 874532 w 8487683"/>
                <a:gd name="connsiteY18" fmla="*/ 133564 h 801384"/>
                <a:gd name="connsiteX19" fmla="*/ 915629 w 8487683"/>
                <a:gd name="connsiteY19" fmla="*/ 123289 h 801384"/>
                <a:gd name="connsiteX20" fmla="*/ 946452 w 8487683"/>
                <a:gd name="connsiteY20" fmla="*/ 143838 h 801384"/>
                <a:gd name="connsiteX21" fmla="*/ 997822 w 8487683"/>
                <a:gd name="connsiteY21" fmla="*/ 195209 h 801384"/>
                <a:gd name="connsiteX22" fmla="*/ 1028645 w 8487683"/>
                <a:gd name="connsiteY22" fmla="*/ 215757 h 801384"/>
                <a:gd name="connsiteX23" fmla="*/ 1090290 w 8487683"/>
                <a:gd name="connsiteY23" fmla="*/ 287676 h 801384"/>
                <a:gd name="connsiteX24" fmla="*/ 1121112 w 8487683"/>
                <a:gd name="connsiteY24" fmla="*/ 297950 h 801384"/>
                <a:gd name="connsiteX25" fmla="*/ 1151935 w 8487683"/>
                <a:gd name="connsiteY25" fmla="*/ 277402 h 801384"/>
                <a:gd name="connsiteX26" fmla="*/ 1172483 w 8487683"/>
                <a:gd name="connsiteY26" fmla="*/ 246579 h 801384"/>
                <a:gd name="connsiteX27" fmla="*/ 1203305 w 8487683"/>
                <a:gd name="connsiteY27" fmla="*/ 195209 h 801384"/>
                <a:gd name="connsiteX28" fmla="*/ 1254676 w 8487683"/>
                <a:gd name="connsiteY28" fmla="*/ 154112 h 801384"/>
                <a:gd name="connsiteX29" fmla="*/ 1275225 w 8487683"/>
                <a:gd name="connsiteY29" fmla="*/ 133564 h 801384"/>
                <a:gd name="connsiteX30" fmla="*/ 1388240 w 8487683"/>
                <a:gd name="connsiteY30" fmla="*/ 143838 h 801384"/>
                <a:gd name="connsiteX31" fmla="*/ 1408789 w 8487683"/>
                <a:gd name="connsiteY31" fmla="*/ 164386 h 801384"/>
                <a:gd name="connsiteX32" fmla="*/ 1449885 w 8487683"/>
                <a:gd name="connsiteY32" fmla="*/ 246579 h 801384"/>
                <a:gd name="connsiteX33" fmla="*/ 1501256 w 8487683"/>
                <a:gd name="connsiteY33" fmla="*/ 287676 h 801384"/>
                <a:gd name="connsiteX34" fmla="*/ 1532079 w 8487683"/>
                <a:gd name="connsiteY34" fmla="*/ 318498 h 801384"/>
                <a:gd name="connsiteX35" fmla="*/ 1573175 w 8487683"/>
                <a:gd name="connsiteY35" fmla="*/ 308224 h 801384"/>
                <a:gd name="connsiteX36" fmla="*/ 1593723 w 8487683"/>
                <a:gd name="connsiteY36" fmla="*/ 267128 h 801384"/>
                <a:gd name="connsiteX37" fmla="*/ 1624546 w 8487683"/>
                <a:gd name="connsiteY37" fmla="*/ 246579 h 801384"/>
                <a:gd name="connsiteX38" fmla="*/ 1675917 w 8487683"/>
                <a:gd name="connsiteY38" fmla="*/ 184934 h 801384"/>
                <a:gd name="connsiteX39" fmla="*/ 1706739 w 8487683"/>
                <a:gd name="connsiteY39" fmla="*/ 174660 h 801384"/>
                <a:gd name="connsiteX40" fmla="*/ 1727288 w 8487683"/>
                <a:gd name="connsiteY40" fmla="*/ 154112 h 801384"/>
                <a:gd name="connsiteX41" fmla="*/ 1799207 w 8487683"/>
                <a:gd name="connsiteY41" fmla="*/ 195209 h 801384"/>
                <a:gd name="connsiteX42" fmla="*/ 1830029 w 8487683"/>
                <a:gd name="connsiteY42" fmla="*/ 215757 h 801384"/>
                <a:gd name="connsiteX43" fmla="*/ 1871126 w 8487683"/>
                <a:gd name="connsiteY43" fmla="*/ 246579 h 801384"/>
                <a:gd name="connsiteX44" fmla="*/ 1891674 w 8487683"/>
                <a:gd name="connsiteY44" fmla="*/ 267128 h 801384"/>
                <a:gd name="connsiteX45" fmla="*/ 1932771 w 8487683"/>
                <a:gd name="connsiteY45" fmla="*/ 277402 h 801384"/>
                <a:gd name="connsiteX46" fmla="*/ 1963593 w 8487683"/>
                <a:gd name="connsiteY46" fmla="*/ 287676 h 801384"/>
                <a:gd name="connsiteX47" fmla="*/ 2076609 w 8487683"/>
                <a:gd name="connsiteY47" fmla="*/ 277402 h 801384"/>
                <a:gd name="connsiteX48" fmla="*/ 2138254 w 8487683"/>
                <a:gd name="connsiteY48" fmla="*/ 174660 h 801384"/>
                <a:gd name="connsiteX49" fmla="*/ 2189625 w 8487683"/>
                <a:gd name="connsiteY49" fmla="*/ 82193 h 801384"/>
                <a:gd name="connsiteX50" fmla="*/ 2220447 w 8487683"/>
                <a:gd name="connsiteY50" fmla="*/ 61645 h 801384"/>
                <a:gd name="connsiteX51" fmla="*/ 2354011 w 8487683"/>
                <a:gd name="connsiteY51" fmla="*/ 82193 h 801384"/>
                <a:gd name="connsiteX52" fmla="*/ 2395108 w 8487683"/>
                <a:gd name="connsiteY52" fmla="*/ 102741 h 801384"/>
                <a:gd name="connsiteX53" fmla="*/ 2477301 w 8487683"/>
                <a:gd name="connsiteY53" fmla="*/ 123289 h 801384"/>
                <a:gd name="connsiteX54" fmla="*/ 2508123 w 8487683"/>
                <a:gd name="connsiteY54" fmla="*/ 133564 h 801384"/>
                <a:gd name="connsiteX55" fmla="*/ 2538946 w 8487683"/>
                <a:gd name="connsiteY55" fmla="*/ 113015 h 801384"/>
                <a:gd name="connsiteX56" fmla="*/ 2580043 w 8487683"/>
                <a:gd name="connsiteY56" fmla="*/ 82193 h 801384"/>
                <a:gd name="connsiteX57" fmla="*/ 2621139 w 8487683"/>
                <a:gd name="connsiteY57" fmla="*/ 71919 h 801384"/>
                <a:gd name="connsiteX58" fmla="*/ 2631413 w 8487683"/>
                <a:gd name="connsiteY58" fmla="*/ 102741 h 801384"/>
                <a:gd name="connsiteX59" fmla="*/ 2672510 w 8487683"/>
                <a:gd name="connsiteY59" fmla="*/ 143838 h 801384"/>
                <a:gd name="connsiteX60" fmla="*/ 2723881 w 8487683"/>
                <a:gd name="connsiteY60" fmla="*/ 215757 h 801384"/>
                <a:gd name="connsiteX61" fmla="*/ 2744429 w 8487683"/>
                <a:gd name="connsiteY61" fmla="*/ 246579 h 801384"/>
                <a:gd name="connsiteX62" fmla="*/ 2785526 w 8487683"/>
                <a:gd name="connsiteY62" fmla="*/ 287676 h 801384"/>
                <a:gd name="connsiteX63" fmla="*/ 2847171 w 8487683"/>
                <a:gd name="connsiteY63" fmla="*/ 277402 h 801384"/>
                <a:gd name="connsiteX64" fmla="*/ 2867719 w 8487683"/>
                <a:gd name="connsiteY64" fmla="*/ 236305 h 801384"/>
                <a:gd name="connsiteX65" fmla="*/ 2888267 w 8487683"/>
                <a:gd name="connsiteY65" fmla="*/ 205483 h 801384"/>
                <a:gd name="connsiteX66" fmla="*/ 2908816 w 8487683"/>
                <a:gd name="connsiteY66" fmla="*/ 184934 h 801384"/>
                <a:gd name="connsiteX67" fmla="*/ 2970461 w 8487683"/>
                <a:gd name="connsiteY67" fmla="*/ 123289 h 801384"/>
                <a:gd name="connsiteX68" fmla="*/ 3001283 w 8487683"/>
                <a:gd name="connsiteY68" fmla="*/ 113015 h 801384"/>
                <a:gd name="connsiteX69" fmla="*/ 3124573 w 8487683"/>
                <a:gd name="connsiteY69" fmla="*/ 123289 h 801384"/>
                <a:gd name="connsiteX70" fmla="*/ 3145121 w 8487683"/>
                <a:gd name="connsiteY70" fmla="*/ 154112 h 801384"/>
                <a:gd name="connsiteX71" fmla="*/ 3186218 w 8487683"/>
                <a:gd name="connsiteY71" fmla="*/ 246579 h 801384"/>
                <a:gd name="connsiteX72" fmla="*/ 3206766 w 8487683"/>
                <a:gd name="connsiteY72" fmla="*/ 267128 h 801384"/>
                <a:gd name="connsiteX73" fmla="*/ 3247863 w 8487683"/>
                <a:gd name="connsiteY73" fmla="*/ 256854 h 801384"/>
                <a:gd name="connsiteX74" fmla="*/ 3309508 w 8487683"/>
                <a:gd name="connsiteY74" fmla="*/ 215757 h 801384"/>
                <a:gd name="connsiteX75" fmla="*/ 3350604 w 8487683"/>
                <a:gd name="connsiteY75" fmla="*/ 174660 h 801384"/>
                <a:gd name="connsiteX76" fmla="*/ 3401975 w 8487683"/>
                <a:gd name="connsiteY76" fmla="*/ 123289 h 801384"/>
                <a:gd name="connsiteX77" fmla="*/ 3443072 w 8487683"/>
                <a:gd name="connsiteY77" fmla="*/ 102741 h 801384"/>
                <a:gd name="connsiteX78" fmla="*/ 3535539 w 8487683"/>
                <a:gd name="connsiteY78" fmla="*/ 82193 h 801384"/>
                <a:gd name="connsiteX79" fmla="*/ 3586910 w 8487683"/>
                <a:gd name="connsiteY79" fmla="*/ 92467 h 801384"/>
                <a:gd name="connsiteX80" fmla="*/ 3607458 w 8487683"/>
                <a:gd name="connsiteY80" fmla="*/ 143838 h 801384"/>
                <a:gd name="connsiteX81" fmla="*/ 3628007 w 8487683"/>
                <a:gd name="connsiteY81" fmla="*/ 164386 h 801384"/>
                <a:gd name="connsiteX82" fmla="*/ 3689652 w 8487683"/>
                <a:gd name="connsiteY82" fmla="*/ 205483 h 801384"/>
                <a:gd name="connsiteX83" fmla="*/ 3761571 w 8487683"/>
                <a:gd name="connsiteY83" fmla="*/ 226031 h 801384"/>
                <a:gd name="connsiteX84" fmla="*/ 3833490 w 8487683"/>
                <a:gd name="connsiteY84" fmla="*/ 287676 h 801384"/>
                <a:gd name="connsiteX85" fmla="*/ 3854038 w 8487683"/>
                <a:gd name="connsiteY85" fmla="*/ 318498 h 801384"/>
                <a:gd name="connsiteX86" fmla="*/ 3874586 w 8487683"/>
                <a:gd name="connsiteY86" fmla="*/ 339047 h 801384"/>
                <a:gd name="connsiteX87" fmla="*/ 3895135 w 8487683"/>
                <a:gd name="connsiteY87" fmla="*/ 369869 h 801384"/>
                <a:gd name="connsiteX88" fmla="*/ 3915683 w 8487683"/>
                <a:gd name="connsiteY88" fmla="*/ 390418 h 801384"/>
                <a:gd name="connsiteX89" fmla="*/ 3936231 w 8487683"/>
                <a:gd name="connsiteY89" fmla="*/ 421240 h 801384"/>
                <a:gd name="connsiteX90" fmla="*/ 3977328 w 8487683"/>
                <a:gd name="connsiteY90" fmla="*/ 462337 h 801384"/>
                <a:gd name="connsiteX91" fmla="*/ 4049247 w 8487683"/>
                <a:gd name="connsiteY91" fmla="*/ 431514 h 801384"/>
                <a:gd name="connsiteX92" fmla="*/ 4080070 w 8487683"/>
                <a:gd name="connsiteY92" fmla="*/ 380143 h 801384"/>
                <a:gd name="connsiteX93" fmla="*/ 4121166 w 8487683"/>
                <a:gd name="connsiteY93" fmla="*/ 349321 h 801384"/>
                <a:gd name="connsiteX94" fmla="*/ 4182811 w 8487683"/>
                <a:gd name="connsiteY94" fmla="*/ 277402 h 801384"/>
                <a:gd name="connsiteX95" fmla="*/ 4203359 w 8487683"/>
                <a:gd name="connsiteY95" fmla="*/ 236305 h 801384"/>
                <a:gd name="connsiteX96" fmla="*/ 4295827 w 8487683"/>
                <a:gd name="connsiteY96" fmla="*/ 184934 h 801384"/>
                <a:gd name="connsiteX97" fmla="*/ 4347198 w 8487683"/>
                <a:gd name="connsiteY97" fmla="*/ 143838 h 801384"/>
                <a:gd name="connsiteX98" fmla="*/ 4378020 w 8487683"/>
                <a:gd name="connsiteY98" fmla="*/ 133564 h 801384"/>
                <a:gd name="connsiteX99" fmla="*/ 4429391 w 8487683"/>
                <a:gd name="connsiteY99" fmla="*/ 102741 h 801384"/>
                <a:gd name="connsiteX100" fmla="*/ 4460213 w 8487683"/>
                <a:gd name="connsiteY100" fmla="*/ 82193 h 801384"/>
                <a:gd name="connsiteX101" fmla="*/ 4480762 w 8487683"/>
                <a:gd name="connsiteY101" fmla="*/ 61645 h 801384"/>
                <a:gd name="connsiteX102" fmla="*/ 4562955 w 8487683"/>
                <a:gd name="connsiteY102" fmla="*/ 30822 h 801384"/>
                <a:gd name="connsiteX103" fmla="*/ 4593777 w 8487683"/>
                <a:gd name="connsiteY103" fmla="*/ 41096 h 801384"/>
                <a:gd name="connsiteX104" fmla="*/ 4614326 w 8487683"/>
                <a:gd name="connsiteY104" fmla="*/ 102741 h 801384"/>
                <a:gd name="connsiteX105" fmla="*/ 4624600 w 8487683"/>
                <a:gd name="connsiteY105" fmla="*/ 133564 h 801384"/>
                <a:gd name="connsiteX106" fmla="*/ 4675971 w 8487683"/>
                <a:gd name="connsiteY106" fmla="*/ 184934 h 801384"/>
                <a:gd name="connsiteX107" fmla="*/ 4717067 w 8487683"/>
                <a:gd name="connsiteY107" fmla="*/ 236305 h 801384"/>
                <a:gd name="connsiteX108" fmla="*/ 4768438 w 8487683"/>
                <a:gd name="connsiteY108" fmla="*/ 287676 h 801384"/>
                <a:gd name="connsiteX109" fmla="*/ 4819809 w 8487683"/>
                <a:gd name="connsiteY109" fmla="*/ 339047 h 801384"/>
                <a:gd name="connsiteX110" fmla="*/ 4840357 w 8487683"/>
                <a:gd name="connsiteY110" fmla="*/ 318498 h 801384"/>
                <a:gd name="connsiteX111" fmla="*/ 4860905 w 8487683"/>
                <a:gd name="connsiteY111" fmla="*/ 256854 h 801384"/>
                <a:gd name="connsiteX112" fmla="*/ 4881454 w 8487683"/>
                <a:gd name="connsiteY112" fmla="*/ 226031 h 801384"/>
                <a:gd name="connsiteX113" fmla="*/ 4912276 w 8487683"/>
                <a:gd name="connsiteY113" fmla="*/ 133564 h 801384"/>
                <a:gd name="connsiteX114" fmla="*/ 4973921 w 8487683"/>
                <a:gd name="connsiteY114" fmla="*/ 143838 h 801384"/>
                <a:gd name="connsiteX115" fmla="*/ 5015018 w 8487683"/>
                <a:gd name="connsiteY115" fmla="*/ 226031 h 801384"/>
                <a:gd name="connsiteX116" fmla="*/ 5035566 w 8487683"/>
                <a:gd name="connsiteY116" fmla="*/ 256854 h 801384"/>
                <a:gd name="connsiteX117" fmla="*/ 5076663 w 8487683"/>
                <a:gd name="connsiteY117" fmla="*/ 267128 h 801384"/>
                <a:gd name="connsiteX118" fmla="*/ 5169130 w 8487683"/>
                <a:gd name="connsiteY118" fmla="*/ 246579 h 801384"/>
                <a:gd name="connsiteX119" fmla="*/ 5241049 w 8487683"/>
                <a:gd name="connsiteY119" fmla="*/ 215757 h 801384"/>
                <a:gd name="connsiteX120" fmla="*/ 5302694 w 8487683"/>
                <a:gd name="connsiteY120" fmla="*/ 195209 h 801384"/>
                <a:gd name="connsiteX121" fmla="*/ 5343791 w 8487683"/>
                <a:gd name="connsiteY121" fmla="*/ 164386 h 801384"/>
                <a:gd name="connsiteX122" fmla="*/ 5364339 w 8487683"/>
                <a:gd name="connsiteY122" fmla="*/ 133564 h 801384"/>
                <a:gd name="connsiteX123" fmla="*/ 5405436 w 8487683"/>
                <a:gd name="connsiteY123" fmla="*/ 123289 h 801384"/>
                <a:gd name="connsiteX124" fmla="*/ 5446532 w 8487683"/>
                <a:gd name="connsiteY124" fmla="*/ 102741 h 801384"/>
                <a:gd name="connsiteX125" fmla="*/ 5518452 w 8487683"/>
                <a:gd name="connsiteY125" fmla="*/ 113015 h 801384"/>
                <a:gd name="connsiteX126" fmla="*/ 5539000 w 8487683"/>
                <a:gd name="connsiteY126" fmla="*/ 164386 h 801384"/>
                <a:gd name="connsiteX127" fmla="*/ 5590371 w 8487683"/>
                <a:gd name="connsiteY127" fmla="*/ 226031 h 801384"/>
                <a:gd name="connsiteX128" fmla="*/ 5621193 w 8487683"/>
                <a:gd name="connsiteY128" fmla="*/ 236305 h 801384"/>
                <a:gd name="connsiteX129" fmla="*/ 5744483 w 8487683"/>
                <a:gd name="connsiteY129" fmla="*/ 226031 h 801384"/>
                <a:gd name="connsiteX130" fmla="*/ 5765031 w 8487683"/>
                <a:gd name="connsiteY130" fmla="*/ 195209 h 801384"/>
                <a:gd name="connsiteX131" fmla="*/ 5826676 w 8487683"/>
                <a:gd name="connsiteY131" fmla="*/ 143838 h 801384"/>
                <a:gd name="connsiteX132" fmla="*/ 5857499 w 8487683"/>
                <a:gd name="connsiteY132" fmla="*/ 133564 h 801384"/>
                <a:gd name="connsiteX133" fmla="*/ 5980789 w 8487683"/>
                <a:gd name="connsiteY133" fmla="*/ 143838 h 801384"/>
                <a:gd name="connsiteX134" fmla="*/ 6042434 w 8487683"/>
                <a:gd name="connsiteY134" fmla="*/ 205483 h 801384"/>
                <a:gd name="connsiteX135" fmla="*/ 6073256 w 8487683"/>
                <a:gd name="connsiteY135" fmla="*/ 215757 h 801384"/>
                <a:gd name="connsiteX136" fmla="*/ 6104079 w 8487683"/>
                <a:gd name="connsiteY136" fmla="*/ 184934 h 801384"/>
                <a:gd name="connsiteX137" fmla="*/ 6145175 w 8487683"/>
                <a:gd name="connsiteY137" fmla="*/ 113015 h 801384"/>
                <a:gd name="connsiteX138" fmla="*/ 6165723 w 8487683"/>
                <a:gd name="connsiteY138" fmla="*/ 82193 h 801384"/>
                <a:gd name="connsiteX139" fmla="*/ 6206820 w 8487683"/>
                <a:gd name="connsiteY139" fmla="*/ 10274 h 801384"/>
                <a:gd name="connsiteX140" fmla="*/ 6247917 w 8487683"/>
                <a:gd name="connsiteY140" fmla="*/ 20548 h 801384"/>
                <a:gd name="connsiteX141" fmla="*/ 6278739 w 8487683"/>
                <a:gd name="connsiteY141" fmla="*/ 51370 h 801384"/>
                <a:gd name="connsiteX142" fmla="*/ 6350658 w 8487683"/>
                <a:gd name="connsiteY142" fmla="*/ 92467 h 801384"/>
                <a:gd name="connsiteX143" fmla="*/ 6823270 w 8487683"/>
                <a:gd name="connsiteY143" fmla="*/ 102741 h 801384"/>
                <a:gd name="connsiteX144" fmla="*/ 6874640 w 8487683"/>
                <a:gd name="connsiteY144" fmla="*/ 123289 h 801384"/>
                <a:gd name="connsiteX145" fmla="*/ 6936285 w 8487683"/>
                <a:gd name="connsiteY145" fmla="*/ 133564 h 801384"/>
                <a:gd name="connsiteX146" fmla="*/ 6967108 w 8487683"/>
                <a:gd name="connsiteY146" fmla="*/ 143838 h 801384"/>
                <a:gd name="connsiteX147" fmla="*/ 6987656 w 8487683"/>
                <a:gd name="connsiteY147" fmla="*/ 174660 h 801384"/>
                <a:gd name="connsiteX148" fmla="*/ 7008204 w 8487683"/>
                <a:gd name="connsiteY148" fmla="*/ 236305 h 801384"/>
                <a:gd name="connsiteX149" fmla="*/ 7049301 w 8487683"/>
                <a:gd name="connsiteY149" fmla="*/ 297950 h 801384"/>
                <a:gd name="connsiteX150" fmla="*/ 7100672 w 8487683"/>
                <a:gd name="connsiteY150" fmla="*/ 287676 h 801384"/>
                <a:gd name="connsiteX151" fmla="*/ 7295881 w 8487683"/>
                <a:gd name="connsiteY151" fmla="*/ 113015 h 801384"/>
                <a:gd name="connsiteX152" fmla="*/ 7408896 w 8487683"/>
                <a:gd name="connsiteY152" fmla="*/ 82193 h 801384"/>
                <a:gd name="connsiteX153" fmla="*/ 7460267 w 8487683"/>
                <a:gd name="connsiteY153" fmla="*/ 51370 h 801384"/>
                <a:gd name="connsiteX154" fmla="*/ 7593831 w 8487683"/>
                <a:gd name="connsiteY154" fmla="*/ 30822 h 801384"/>
                <a:gd name="connsiteX155" fmla="*/ 7665750 w 8487683"/>
                <a:gd name="connsiteY155" fmla="*/ 51370 h 801384"/>
                <a:gd name="connsiteX156" fmla="*/ 7676025 w 8487683"/>
                <a:gd name="connsiteY156" fmla="*/ 102741 h 801384"/>
                <a:gd name="connsiteX157" fmla="*/ 7696573 w 8487683"/>
                <a:gd name="connsiteY157" fmla="*/ 143838 h 801384"/>
                <a:gd name="connsiteX158" fmla="*/ 7747944 w 8487683"/>
                <a:gd name="connsiteY158" fmla="*/ 236305 h 801384"/>
                <a:gd name="connsiteX159" fmla="*/ 7778766 w 8487683"/>
                <a:gd name="connsiteY159" fmla="*/ 246579 h 801384"/>
                <a:gd name="connsiteX160" fmla="*/ 7902056 w 8487683"/>
                <a:gd name="connsiteY160" fmla="*/ 226031 h 801384"/>
                <a:gd name="connsiteX161" fmla="*/ 7932879 w 8487683"/>
                <a:gd name="connsiteY161" fmla="*/ 154112 h 801384"/>
                <a:gd name="connsiteX162" fmla="*/ 7943153 w 8487683"/>
                <a:gd name="connsiteY162" fmla="*/ 123289 h 801384"/>
                <a:gd name="connsiteX163" fmla="*/ 7953427 w 8487683"/>
                <a:gd name="connsiteY163" fmla="*/ 82193 h 801384"/>
                <a:gd name="connsiteX164" fmla="*/ 7973975 w 8487683"/>
                <a:gd name="connsiteY164" fmla="*/ 20548 h 801384"/>
                <a:gd name="connsiteX165" fmla="*/ 8004798 w 8487683"/>
                <a:gd name="connsiteY165" fmla="*/ 0 h 801384"/>
                <a:gd name="connsiteX166" fmla="*/ 8066443 w 8487683"/>
                <a:gd name="connsiteY166" fmla="*/ 10274 h 801384"/>
                <a:gd name="connsiteX167" fmla="*/ 8086991 w 8487683"/>
                <a:gd name="connsiteY167" fmla="*/ 51370 h 801384"/>
                <a:gd name="connsiteX168" fmla="*/ 8107539 w 8487683"/>
                <a:gd name="connsiteY168" fmla="*/ 71919 h 801384"/>
                <a:gd name="connsiteX169" fmla="*/ 8128088 w 8487683"/>
                <a:gd name="connsiteY169" fmla="*/ 102741 h 801384"/>
                <a:gd name="connsiteX170" fmla="*/ 8189732 w 8487683"/>
                <a:gd name="connsiteY170" fmla="*/ 143838 h 801384"/>
                <a:gd name="connsiteX171" fmla="*/ 8261652 w 8487683"/>
                <a:gd name="connsiteY171" fmla="*/ 102741 h 801384"/>
                <a:gd name="connsiteX172" fmla="*/ 8354119 w 8487683"/>
                <a:gd name="connsiteY172" fmla="*/ 113015 h 801384"/>
                <a:gd name="connsiteX173" fmla="*/ 8395216 w 8487683"/>
                <a:gd name="connsiteY173" fmla="*/ 184934 h 801384"/>
                <a:gd name="connsiteX174" fmla="*/ 8415764 w 8487683"/>
                <a:gd name="connsiteY174" fmla="*/ 205483 h 801384"/>
                <a:gd name="connsiteX175" fmla="*/ 8456861 w 8487683"/>
                <a:gd name="connsiteY175" fmla="*/ 349321 h 801384"/>
                <a:gd name="connsiteX176" fmla="*/ 8487683 w 8487683"/>
                <a:gd name="connsiteY176" fmla="*/ 431514 h 801384"/>
                <a:gd name="connsiteX177" fmla="*/ 8477409 w 8487683"/>
                <a:gd name="connsiteY177" fmla="*/ 472611 h 801384"/>
                <a:gd name="connsiteX178" fmla="*/ 8426038 w 8487683"/>
                <a:gd name="connsiteY178" fmla="*/ 493159 h 801384"/>
                <a:gd name="connsiteX179" fmla="*/ 8374667 w 8487683"/>
                <a:gd name="connsiteY179" fmla="*/ 503433 h 801384"/>
                <a:gd name="connsiteX180" fmla="*/ 8343845 w 8487683"/>
                <a:gd name="connsiteY180" fmla="*/ 513707 h 801384"/>
                <a:gd name="connsiteX181" fmla="*/ 8251377 w 8487683"/>
                <a:gd name="connsiteY181" fmla="*/ 534256 h 801384"/>
                <a:gd name="connsiteX182" fmla="*/ 8169184 w 8487683"/>
                <a:gd name="connsiteY182" fmla="*/ 554804 h 801384"/>
                <a:gd name="connsiteX183" fmla="*/ 8107539 w 8487683"/>
                <a:gd name="connsiteY183" fmla="*/ 565078 h 801384"/>
                <a:gd name="connsiteX184" fmla="*/ 7932879 w 8487683"/>
                <a:gd name="connsiteY184" fmla="*/ 585627 h 801384"/>
                <a:gd name="connsiteX185" fmla="*/ 7850685 w 8487683"/>
                <a:gd name="connsiteY185" fmla="*/ 595901 h 801384"/>
                <a:gd name="connsiteX186" fmla="*/ 7778766 w 8487683"/>
                <a:gd name="connsiteY186" fmla="*/ 616449 h 801384"/>
                <a:gd name="connsiteX187" fmla="*/ 7604105 w 8487683"/>
                <a:gd name="connsiteY187" fmla="*/ 636997 h 801384"/>
                <a:gd name="connsiteX188" fmla="*/ 7460267 w 8487683"/>
                <a:gd name="connsiteY188" fmla="*/ 647272 h 801384"/>
                <a:gd name="connsiteX189" fmla="*/ 6134901 w 8487683"/>
                <a:gd name="connsiteY189" fmla="*/ 657546 h 801384"/>
                <a:gd name="connsiteX190" fmla="*/ 5939692 w 8487683"/>
                <a:gd name="connsiteY190" fmla="*/ 667820 h 801384"/>
                <a:gd name="connsiteX191" fmla="*/ 5682838 w 8487683"/>
                <a:gd name="connsiteY191" fmla="*/ 698642 h 801384"/>
                <a:gd name="connsiteX192" fmla="*/ 5395162 w 8487683"/>
                <a:gd name="connsiteY192" fmla="*/ 708916 h 801384"/>
                <a:gd name="connsiteX193" fmla="*/ 4850631 w 8487683"/>
                <a:gd name="connsiteY193" fmla="*/ 739739 h 801384"/>
                <a:gd name="connsiteX194" fmla="*/ 4367746 w 8487683"/>
                <a:gd name="connsiteY194" fmla="*/ 770561 h 801384"/>
                <a:gd name="connsiteX195" fmla="*/ 4182811 w 8487683"/>
                <a:gd name="connsiteY195" fmla="*/ 791110 h 801384"/>
                <a:gd name="connsiteX196" fmla="*/ 4018425 w 8487683"/>
                <a:gd name="connsiteY196" fmla="*/ 801384 h 801384"/>
                <a:gd name="connsiteX197" fmla="*/ 3638281 w 8487683"/>
                <a:gd name="connsiteY197" fmla="*/ 791110 h 801384"/>
                <a:gd name="connsiteX198" fmla="*/ 3545813 w 8487683"/>
                <a:gd name="connsiteY198" fmla="*/ 750013 h 801384"/>
                <a:gd name="connsiteX199" fmla="*/ 3494443 w 8487683"/>
                <a:gd name="connsiteY199" fmla="*/ 739739 h 801384"/>
                <a:gd name="connsiteX200" fmla="*/ 3258137 w 8487683"/>
                <a:gd name="connsiteY200" fmla="*/ 719191 h 801384"/>
                <a:gd name="connsiteX201" fmla="*/ 2559494 w 8487683"/>
                <a:gd name="connsiteY201" fmla="*/ 698642 h 801384"/>
                <a:gd name="connsiteX202" fmla="*/ 2004690 w 8487683"/>
                <a:gd name="connsiteY202" fmla="*/ 688368 h 801384"/>
                <a:gd name="connsiteX203" fmla="*/ 1645094 w 8487683"/>
                <a:gd name="connsiteY203" fmla="*/ 667820 h 801384"/>
                <a:gd name="connsiteX204" fmla="*/ 1614272 w 8487683"/>
                <a:gd name="connsiteY204" fmla="*/ 647272 h 801384"/>
                <a:gd name="connsiteX205" fmla="*/ 1542353 w 8487683"/>
                <a:gd name="connsiteY205" fmla="*/ 626723 h 801384"/>
                <a:gd name="connsiteX206" fmla="*/ 1038919 w 8487683"/>
                <a:gd name="connsiteY206" fmla="*/ 616449 h 801384"/>
                <a:gd name="connsiteX207" fmla="*/ 977274 w 8487683"/>
                <a:gd name="connsiteY207" fmla="*/ 595901 h 801384"/>
                <a:gd name="connsiteX208" fmla="*/ 617679 w 8487683"/>
                <a:gd name="connsiteY208" fmla="*/ 554804 h 801384"/>
                <a:gd name="connsiteX209" fmla="*/ 278631 w 8487683"/>
                <a:gd name="connsiteY209" fmla="*/ 534256 h 801384"/>
                <a:gd name="connsiteX210" fmla="*/ 216986 w 8487683"/>
                <a:gd name="connsiteY210" fmla="*/ 513707 h 801384"/>
                <a:gd name="connsiteX211" fmla="*/ 155341 w 8487683"/>
                <a:gd name="connsiteY211" fmla="*/ 503433 h 801384"/>
                <a:gd name="connsiteX212" fmla="*/ 124519 w 8487683"/>
                <a:gd name="connsiteY212" fmla="*/ 482885 h 801384"/>
                <a:gd name="connsiteX213" fmla="*/ 83422 w 8487683"/>
                <a:gd name="connsiteY213" fmla="*/ 431514 h 801384"/>
                <a:gd name="connsiteX214" fmla="*/ 52600 w 8487683"/>
                <a:gd name="connsiteY214" fmla="*/ 410966 h 801384"/>
                <a:gd name="connsiteX215" fmla="*/ 1229 w 8487683"/>
                <a:gd name="connsiteY215" fmla="*/ 328773 h 801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</a:cxnLst>
              <a:rect l="l" t="t" r="r" b="b"/>
              <a:pathLst>
                <a:path w="8487683" h="801384">
                  <a:moveTo>
                    <a:pt x="1229" y="328773"/>
                  </a:moveTo>
                  <a:cubicBezTo>
                    <a:pt x="9791" y="306513"/>
                    <a:pt x="71138" y="297102"/>
                    <a:pt x="103971" y="277402"/>
                  </a:cubicBezTo>
                  <a:cubicBezTo>
                    <a:pt x="121094" y="267128"/>
                    <a:pt x="138407" y="257163"/>
                    <a:pt x="155341" y="246579"/>
                  </a:cubicBezTo>
                  <a:cubicBezTo>
                    <a:pt x="165812" y="240034"/>
                    <a:pt x="174880" y="231046"/>
                    <a:pt x="186164" y="226031"/>
                  </a:cubicBezTo>
                  <a:cubicBezTo>
                    <a:pt x="205957" y="217234"/>
                    <a:pt x="227698" y="213527"/>
                    <a:pt x="247809" y="205483"/>
                  </a:cubicBezTo>
                  <a:cubicBezTo>
                    <a:pt x="262029" y="199795"/>
                    <a:pt x="274828" y="190967"/>
                    <a:pt x="288905" y="184934"/>
                  </a:cubicBezTo>
                  <a:cubicBezTo>
                    <a:pt x="346545" y="160231"/>
                    <a:pt x="292666" y="193060"/>
                    <a:pt x="360825" y="154112"/>
                  </a:cubicBezTo>
                  <a:cubicBezTo>
                    <a:pt x="409521" y="126286"/>
                    <a:pt x="376109" y="141375"/>
                    <a:pt x="422470" y="102741"/>
                  </a:cubicBezTo>
                  <a:cubicBezTo>
                    <a:pt x="449025" y="80612"/>
                    <a:pt x="453223" y="82216"/>
                    <a:pt x="484114" y="71919"/>
                  </a:cubicBezTo>
                  <a:cubicBezTo>
                    <a:pt x="497813" y="99317"/>
                    <a:pt x="515524" y="125052"/>
                    <a:pt x="525211" y="154112"/>
                  </a:cubicBezTo>
                  <a:cubicBezTo>
                    <a:pt x="528636" y="164386"/>
                    <a:pt x="528720" y="176477"/>
                    <a:pt x="535485" y="184934"/>
                  </a:cubicBezTo>
                  <a:cubicBezTo>
                    <a:pt x="543199" y="194576"/>
                    <a:pt x="556034" y="198633"/>
                    <a:pt x="566308" y="205483"/>
                  </a:cubicBezTo>
                  <a:cubicBezTo>
                    <a:pt x="573157" y="215757"/>
                    <a:pt x="577370" y="228400"/>
                    <a:pt x="586856" y="236305"/>
                  </a:cubicBezTo>
                  <a:cubicBezTo>
                    <a:pt x="598622" y="246110"/>
                    <a:pt x="614655" y="249255"/>
                    <a:pt x="627953" y="256854"/>
                  </a:cubicBezTo>
                  <a:cubicBezTo>
                    <a:pt x="683717" y="288720"/>
                    <a:pt x="633088" y="268840"/>
                    <a:pt x="689598" y="287676"/>
                  </a:cubicBezTo>
                  <a:cubicBezTo>
                    <a:pt x="699872" y="294525"/>
                    <a:pt x="708547" y="311616"/>
                    <a:pt x="720420" y="308224"/>
                  </a:cubicBezTo>
                  <a:cubicBezTo>
                    <a:pt x="735168" y="304010"/>
                    <a:pt x="773131" y="254174"/>
                    <a:pt x="782065" y="236305"/>
                  </a:cubicBezTo>
                  <a:cubicBezTo>
                    <a:pt x="786908" y="226619"/>
                    <a:pt x="785841" y="214147"/>
                    <a:pt x="792339" y="205483"/>
                  </a:cubicBezTo>
                  <a:cubicBezTo>
                    <a:pt x="803992" y="189945"/>
                    <a:pt x="848264" y="144822"/>
                    <a:pt x="874532" y="133564"/>
                  </a:cubicBezTo>
                  <a:cubicBezTo>
                    <a:pt x="887511" y="128002"/>
                    <a:pt x="901930" y="126714"/>
                    <a:pt x="915629" y="123289"/>
                  </a:cubicBezTo>
                  <a:cubicBezTo>
                    <a:pt x="925903" y="130139"/>
                    <a:pt x="937159" y="135707"/>
                    <a:pt x="946452" y="143838"/>
                  </a:cubicBezTo>
                  <a:cubicBezTo>
                    <a:pt x="964676" y="159785"/>
                    <a:pt x="977673" y="181777"/>
                    <a:pt x="997822" y="195209"/>
                  </a:cubicBezTo>
                  <a:lnTo>
                    <a:pt x="1028645" y="215757"/>
                  </a:lnTo>
                  <a:cubicBezTo>
                    <a:pt x="1041792" y="235477"/>
                    <a:pt x="1068935" y="280558"/>
                    <a:pt x="1090290" y="287676"/>
                  </a:cubicBezTo>
                  <a:lnTo>
                    <a:pt x="1121112" y="297950"/>
                  </a:lnTo>
                  <a:cubicBezTo>
                    <a:pt x="1131386" y="291101"/>
                    <a:pt x="1143204" y="286133"/>
                    <a:pt x="1151935" y="277402"/>
                  </a:cubicBezTo>
                  <a:cubicBezTo>
                    <a:pt x="1160666" y="268671"/>
                    <a:pt x="1165939" y="257050"/>
                    <a:pt x="1172483" y="246579"/>
                  </a:cubicBezTo>
                  <a:cubicBezTo>
                    <a:pt x="1183066" y="229645"/>
                    <a:pt x="1191698" y="211458"/>
                    <a:pt x="1203305" y="195209"/>
                  </a:cubicBezTo>
                  <a:cubicBezTo>
                    <a:pt x="1219843" y="172056"/>
                    <a:pt x="1232036" y="172224"/>
                    <a:pt x="1254676" y="154112"/>
                  </a:cubicBezTo>
                  <a:cubicBezTo>
                    <a:pt x="1262240" y="148061"/>
                    <a:pt x="1268375" y="140413"/>
                    <a:pt x="1275225" y="133564"/>
                  </a:cubicBezTo>
                  <a:cubicBezTo>
                    <a:pt x="1312897" y="136989"/>
                    <a:pt x="1351382" y="135332"/>
                    <a:pt x="1388240" y="143838"/>
                  </a:cubicBezTo>
                  <a:cubicBezTo>
                    <a:pt x="1397679" y="146016"/>
                    <a:pt x="1403805" y="156080"/>
                    <a:pt x="1408789" y="164386"/>
                  </a:cubicBezTo>
                  <a:cubicBezTo>
                    <a:pt x="1424549" y="190652"/>
                    <a:pt x="1428225" y="224919"/>
                    <a:pt x="1449885" y="246579"/>
                  </a:cubicBezTo>
                  <a:cubicBezTo>
                    <a:pt x="1509663" y="306357"/>
                    <a:pt x="1423498" y="222879"/>
                    <a:pt x="1501256" y="287676"/>
                  </a:cubicBezTo>
                  <a:cubicBezTo>
                    <a:pt x="1512418" y="296978"/>
                    <a:pt x="1521805" y="308224"/>
                    <a:pt x="1532079" y="318498"/>
                  </a:cubicBezTo>
                  <a:cubicBezTo>
                    <a:pt x="1545778" y="315073"/>
                    <a:pt x="1562328" y="317264"/>
                    <a:pt x="1573175" y="308224"/>
                  </a:cubicBezTo>
                  <a:cubicBezTo>
                    <a:pt x="1584941" y="298419"/>
                    <a:pt x="1583918" y="278894"/>
                    <a:pt x="1593723" y="267128"/>
                  </a:cubicBezTo>
                  <a:cubicBezTo>
                    <a:pt x="1601628" y="257642"/>
                    <a:pt x="1615814" y="255311"/>
                    <a:pt x="1624546" y="246579"/>
                  </a:cubicBezTo>
                  <a:cubicBezTo>
                    <a:pt x="1633982" y="237143"/>
                    <a:pt x="1658646" y="195297"/>
                    <a:pt x="1675917" y="184934"/>
                  </a:cubicBezTo>
                  <a:cubicBezTo>
                    <a:pt x="1685203" y="179362"/>
                    <a:pt x="1696465" y="178085"/>
                    <a:pt x="1706739" y="174660"/>
                  </a:cubicBezTo>
                  <a:cubicBezTo>
                    <a:pt x="1713589" y="167811"/>
                    <a:pt x="1717733" y="155704"/>
                    <a:pt x="1727288" y="154112"/>
                  </a:cubicBezTo>
                  <a:cubicBezTo>
                    <a:pt x="1766093" y="147645"/>
                    <a:pt x="1775262" y="175255"/>
                    <a:pt x="1799207" y="195209"/>
                  </a:cubicBezTo>
                  <a:cubicBezTo>
                    <a:pt x="1808693" y="203114"/>
                    <a:pt x="1819981" y="208580"/>
                    <a:pt x="1830029" y="215757"/>
                  </a:cubicBezTo>
                  <a:cubicBezTo>
                    <a:pt x="1843963" y="225710"/>
                    <a:pt x="1857971" y="235617"/>
                    <a:pt x="1871126" y="246579"/>
                  </a:cubicBezTo>
                  <a:cubicBezTo>
                    <a:pt x="1878567" y="252780"/>
                    <a:pt x="1883010" y="262796"/>
                    <a:pt x="1891674" y="267128"/>
                  </a:cubicBezTo>
                  <a:cubicBezTo>
                    <a:pt x="1904304" y="273443"/>
                    <a:pt x="1919194" y="273523"/>
                    <a:pt x="1932771" y="277402"/>
                  </a:cubicBezTo>
                  <a:cubicBezTo>
                    <a:pt x="1943184" y="280377"/>
                    <a:pt x="1953319" y="284251"/>
                    <a:pt x="1963593" y="287676"/>
                  </a:cubicBezTo>
                  <a:cubicBezTo>
                    <a:pt x="2001265" y="284251"/>
                    <a:pt x="2041487" y="291451"/>
                    <a:pt x="2076609" y="277402"/>
                  </a:cubicBezTo>
                  <a:cubicBezTo>
                    <a:pt x="2109659" y="264182"/>
                    <a:pt x="2126017" y="202193"/>
                    <a:pt x="2138254" y="174660"/>
                  </a:cubicBezTo>
                  <a:cubicBezTo>
                    <a:pt x="2147231" y="154462"/>
                    <a:pt x="2177654" y="96159"/>
                    <a:pt x="2189625" y="82193"/>
                  </a:cubicBezTo>
                  <a:cubicBezTo>
                    <a:pt x="2197661" y="72818"/>
                    <a:pt x="2210173" y="68494"/>
                    <a:pt x="2220447" y="61645"/>
                  </a:cubicBezTo>
                  <a:cubicBezTo>
                    <a:pt x="2264968" y="68494"/>
                    <a:pt x="2310163" y="71876"/>
                    <a:pt x="2354011" y="82193"/>
                  </a:cubicBezTo>
                  <a:cubicBezTo>
                    <a:pt x="2368920" y="85701"/>
                    <a:pt x="2380578" y="97898"/>
                    <a:pt x="2395108" y="102741"/>
                  </a:cubicBezTo>
                  <a:cubicBezTo>
                    <a:pt x="2421900" y="111671"/>
                    <a:pt x="2450510" y="114358"/>
                    <a:pt x="2477301" y="123289"/>
                  </a:cubicBezTo>
                  <a:lnTo>
                    <a:pt x="2508123" y="133564"/>
                  </a:lnTo>
                  <a:cubicBezTo>
                    <a:pt x="2518397" y="126714"/>
                    <a:pt x="2528898" y="120192"/>
                    <a:pt x="2538946" y="113015"/>
                  </a:cubicBezTo>
                  <a:cubicBezTo>
                    <a:pt x="2552880" y="103062"/>
                    <a:pt x="2564727" y="89851"/>
                    <a:pt x="2580043" y="82193"/>
                  </a:cubicBezTo>
                  <a:cubicBezTo>
                    <a:pt x="2592673" y="75878"/>
                    <a:pt x="2607440" y="75344"/>
                    <a:pt x="2621139" y="71919"/>
                  </a:cubicBezTo>
                  <a:cubicBezTo>
                    <a:pt x="2624564" y="82193"/>
                    <a:pt x="2625118" y="93928"/>
                    <a:pt x="2631413" y="102741"/>
                  </a:cubicBezTo>
                  <a:cubicBezTo>
                    <a:pt x="2642674" y="118506"/>
                    <a:pt x="2672510" y="143838"/>
                    <a:pt x="2672510" y="143838"/>
                  </a:cubicBezTo>
                  <a:cubicBezTo>
                    <a:pt x="2697995" y="220293"/>
                    <a:pt x="2658875" y="118247"/>
                    <a:pt x="2723881" y="215757"/>
                  </a:cubicBezTo>
                  <a:cubicBezTo>
                    <a:pt x="2730730" y="226031"/>
                    <a:pt x="2736393" y="237204"/>
                    <a:pt x="2744429" y="246579"/>
                  </a:cubicBezTo>
                  <a:cubicBezTo>
                    <a:pt x="2757037" y="261288"/>
                    <a:pt x="2785526" y="287676"/>
                    <a:pt x="2785526" y="287676"/>
                  </a:cubicBezTo>
                  <a:cubicBezTo>
                    <a:pt x="2806074" y="284251"/>
                    <a:pt x="2829506" y="288443"/>
                    <a:pt x="2847171" y="277402"/>
                  </a:cubicBezTo>
                  <a:cubicBezTo>
                    <a:pt x="2860159" y="269285"/>
                    <a:pt x="2860120" y="249603"/>
                    <a:pt x="2867719" y="236305"/>
                  </a:cubicBezTo>
                  <a:cubicBezTo>
                    <a:pt x="2873845" y="225584"/>
                    <a:pt x="2880553" y="215125"/>
                    <a:pt x="2888267" y="205483"/>
                  </a:cubicBezTo>
                  <a:cubicBezTo>
                    <a:pt x="2894318" y="197919"/>
                    <a:pt x="2902765" y="192498"/>
                    <a:pt x="2908816" y="184934"/>
                  </a:cubicBezTo>
                  <a:cubicBezTo>
                    <a:pt x="2940260" y="145630"/>
                    <a:pt x="2917548" y="153525"/>
                    <a:pt x="2970461" y="123289"/>
                  </a:cubicBezTo>
                  <a:cubicBezTo>
                    <a:pt x="2979864" y="117916"/>
                    <a:pt x="2991009" y="116440"/>
                    <a:pt x="3001283" y="113015"/>
                  </a:cubicBezTo>
                  <a:cubicBezTo>
                    <a:pt x="3042380" y="116440"/>
                    <a:pt x="3084921" y="111960"/>
                    <a:pt x="3124573" y="123289"/>
                  </a:cubicBezTo>
                  <a:cubicBezTo>
                    <a:pt x="3136446" y="126681"/>
                    <a:pt x="3140106" y="142828"/>
                    <a:pt x="3145121" y="154112"/>
                  </a:cubicBezTo>
                  <a:cubicBezTo>
                    <a:pt x="3173635" y="218267"/>
                    <a:pt x="3151341" y="202982"/>
                    <a:pt x="3186218" y="246579"/>
                  </a:cubicBezTo>
                  <a:cubicBezTo>
                    <a:pt x="3192269" y="254143"/>
                    <a:pt x="3199917" y="260278"/>
                    <a:pt x="3206766" y="267128"/>
                  </a:cubicBezTo>
                  <a:cubicBezTo>
                    <a:pt x="3220465" y="263703"/>
                    <a:pt x="3236114" y="264687"/>
                    <a:pt x="3247863" y="256854"/>
                  </a:cubicBezTo>
                  <a:cubicBezTo>
                    <a:pt x="3333006" y="200092"/>
                    <a:pt x="3191521" y="245253"/>
                    <a:pt x="3309508" y="215757"/>
                  </a:cubicBezTo>
                  <a:cubicBezTo>
                    <a:pt x="3330817" y="151828"/>
                    <a:pt x="3301898" y="211190"/>
                    <a:pt x="3350604" y="174660"/>
                  </a:cubicBezTo>
                  <a:cubicBezTo>
                    <a:pt x="3369977" y="160130"/>
                    <a:pt x="3380315" y="134119"/>
                    <a:pt x="3401975" y="123289"/>
                  </a:cubicBezTo>
                  <a:cubicBezTo>
                    <a:pt x="3415674" y="116440"/>
                    <a:pt x="3428731" y="108119"/>
                    <a:pt x="3443072" y="102741"/>
                  </a:cubicBezTo>
                  <a:cubicBezTo>
                    <a:pt x="3459655" y="96522"/>
                    <a:pt x="3521589" y="84983"/>
                    <a:pt x="3535539" y="82193"/>
                  </a:cubicBezTo>
                  <a:cubicBezTo>
                    <a:pt x="3552663" y="85618"/>
                    <a:pt x="3573651" y="81102"/>
                    <a:pt x="3586910" y="92467"/>
                  </a:cubicBezTo>
                  <a:cubicBezTo>
                    <a:pt x="3600913" y="104469"/>
                    <a:pt x="3598308" y="127825"/>
                    <a:pt x="3607458" y="143838"/>
                  </a:cubicBezTo>
                  <a:cubicBezTo>
                    <a:pt x="3612264" y="152248"/>
                    <a:pt x="3620258" y="158574"/>
                    <a:pt x="3628007" y="164386"/>
                  </a:cubicBezTo>
                  <a:cubicBezTo>
                    <a:pt x="3647764" y="179204"/>
                    <a:pt x="3665693" y="199493"/>
                    <a:pt x="3689652" y="205483"/>
                  </a:cubicBezTo>
                  <a:cubicBezTo>
                    <a:pt x="3741255" y="218384"/>
                    <a:pt x="3717352" y="211292"/>
                    <a:pt x="3761571" y="226031"/>
                  </a:cubicBezTo>
                  <a:cubicBezTo>
                    <a:pt x="3789457" y="244622"/>
                    <a:pt x="3813559" y="257779"/>
                    <a:pt x="3833490" y="287676"/>
                  </a:cubicBezTo>
                  <a:cubicBezTo>
                    <a:pt x="3840339" y="297950"/>
                    <a:pt x="3846324" y="308856"/>
                    <a:pt x="3854038" y="318498"/>
                  </a:cubicBezTo>
                  <a:cubicBezTo>
                    <a:pt x="3860089" y="326062"/>
                    <a:pt x="3868535" y="331483"/>
                    <a:pt x="3874586" y="339047"/>
                  </a:cubicBezTo>
                  <a:cubicBezTo>
                    <a:pt x="3882300" y="348689"/>
                    <a:pt x="3887421" y="360227"/>
                    <a:pt x="3895135" y="369869"/>
                  </a:cubicBezTo>
                  <a:cubicBezTo>
                    <a:pt x="3901186" y="377433"/>
                    <a:pt x="3909632" y="382854"/>
                    <a:pt x="3915683" y="390418"/>
                  </a:cubicBezTo>
                  <a:cubicBezTo>
                    <a:pt x="3923397" y="400060"/>
                    <a:pt x="3928195" y="411865"/>
                    <a:pt x="3936231" y="421240"/>
                  </a:cubicBezTo>
                  <a:cubicBezTo>
                    <a:pt x="3948839" y="435949"/>
                    <a:pt x="3977328" y="462337"/>
                    <a:pt x="3977328" y="462337"/>
                  </a:cubicBezTo>
                  <a:cubicBezTo>
                    <a:pt x="4001301" y="452063"/>
                    <a:pt x="4028880" y="447807"/>
                    <a:pt x="4049247" y="431514"/>
                  </a:cubicBezTo>
                  <a:cubicBezTo>
                    <a:pt x="4064841" y="419039"/>
                    <a:pt x="4066920" y="395172"/>
                    <a:pt x="4080070" y="380143"/>
                  </a:cubicBezTo>
                  <a:cubicBezTo>
                    <a:pt x="4091346" y="367256"/>
                    <a:pt x="4107467" y="359595"/>
                    <a:pt x="4121166" y="349321"/>
                  </a:cubicBezTo>
                  <a:cubicBezTo>
                    <a:pt x="4173230" y="245190"/>
                    <a:pt x="4102787" y="370763"/>
                    <a:pt x="4182811" y="277402"/>
                  </a:cubicBezTo>
                  <a:cubicBezTo>
                    <a:pt x="4192778" y="265773"/>
                    <a:pt x="4192529" y="247135"/>
                    <a:pt x="4203359" y="236305"/>
                  </a:cubicBezTo>
                  <a:cubicBezTo>
                    <a:pt x="4268142" y="171522"/>
                    <a:pt x="4244151" y="210772"/>
                    <a:pt x="4295827" y="184934"/>
                  </a:cubicBezTo>
                  <a:cubicBezTo>
                    <a:pt x="4419210" y="123242"/>
                    <a:pt x="4251628" y="201179"/>
                    <a:pt x="4347198" y="143838"/>
                  </a:cubicBezTo>
                  <a:cubicBezTo>
                    <a:pt x="4356484" y="138266"/>
                    <a:pt x="4368334" y="138407"/>
                    <a:pt x="4378020" y="133564"/>
                  </a:cubicBezTo>
                  <a:cubicBezTo>
                    <a:pt x="4395881" y="124633"/>
                    <a:pt x="4412457" y="113325"/>
                    <a:pt x="4429391" y="102741"/>
                  </a:cubicBezTo>
                  <a:cubicBezTo>
                    <a:pt x="4439862" y="96197"/>
                    <a:pt x="4450571" y="89907"/>
                    <a:pt x="4460213" y="82193"/>
                  </a:cubicBezTo>
                  <a:cubicBezTo>
                    <a:pt x="4467777" y="76142"/>
                    <a:pt x="4472702" y="67018"/>
                    <a:pt x="4480762" y="61645"/>
                  </a:cubicBezTo>
                  <a:cubicBezTo>
                    <a:pt x="4513000" y="40153"/>
                    <a:pt x="4526810" y="39858"/>
                    <a:pt x="4562955" y="30822"/>
                  </a:cubicBezTo>
                  <a:cubicBezTo>
                    <a:pt x="4573229" y="34247"/>
                    <a:pt x="4587482" y="32283"/>
                    <a:pt x="4593777" y="41096"/>
                  </a:cubicBezTo>
                  <a:cubicBezTo>
                    <a:pt x="4606367" y="58721"/>
                    <a:pt x="4607476" y="82193"/>
                    <a:pt x="4614326" y="102741"/>
                  </a:cubicBezTo>
                  <a:cubicBezTo>
                    <a:pt x="4617751" y="113015"/>
                    <a:pt x="4616942" y="125906"/>
                    <a:pt x="4624600" y="133564"/>
                  </a:cubicBezTo>
                  <a:lnTo>
                    <a:pt x="4675971" y="184934"/>
                  </a:lnTo>
                  <a:cubicBezTo>
                    <a:pt x="4695972" y="244939"/>
                    <a:pt x="4670595" y="189833"/>
                    <a:pt x="4717067" y="236305"/>
                  </a:cubicBezTo>
                  <a:cubicBezTo>
                    <a:pt x="4785561" y="304799"/>
                    <a:pt x="4686248" y="232882"/>
                    <a:pt x="4768438" y="287676"/>
                  </a:cubicBezTo>
                  <a:cubicBezTo>
                    <a:pt x="4777571" y="301375"/>
                    <a:pt x="4796978" y="339047"/>
                    <a:pt x="4819809" y="339047"/>
                  </a:cubicBezTo>
                  <a:cubicBezTo>
                    <a:pt x="4829496" y="339047"/>
                    <a:pt x="4833508" y="325348"/>
                    <a:pt x="4840357" y="318498"/>
                  </a:cubicBezTo>
                  <a:cubicBezTo>
                    <a:pt x="4847206" y="297950"/>
                    <a:pt x="4852108" y="276647"/>
                    <a:pt x="4860905" y="256854"/>
                  </a:cubicBezTo>
                  <a:cubicBezTo>
                    <a:pt x="4865920" y="245570"/>
                    <a:pt x="4876705" y="237429"/>
                    <a:pt x="4881454" y="226031"/>
                  </a:cubicBezTo>
                  <a:cubicBezTo>
                    <a:pt x="4893950" y="196041"/>
                    <a:pt x="4912276" y="133564"/>
                    <a:pt x="4912276" y="133564"/>
                  </a:cubicBezTo>
                  <a:cubicBezTo>
                    <a:pt x="4932824" y="136989"/>
                    <a:pt x="4958437" y="129902"/>
                    <a:pt x="4973921" y="143838"/>
                  </a:cubicBezTo>
                  <a:cubicBezTo>
                    <a:pt x="4996689" y="164329"/>
                    <a:pt x="4998027" y="200544"/>
                    <a:pt x="5015018" y="226031"/>
                  </a:cubicBezTo>
                  <a:cubicBezTo>
                    <a:pt x="5021867" y="236305"/>
                    <a:pt x="5025292" y="250004"/>
                    <a:pt x="5035566" y="256854"/>
                  </a:cubicBezTo>
                  <a:cubicBezTo>
                    <a:pt x="5047315" y="264687"/>
                    <a:pt x="5062964" y="263703"/>
                    <a:pt x="5076663" y="267128"/>
                  </a:cubicBezTo>
                  <a:cubicBezTo>
                    <a:pt x="5107485" y="260278"/>
                    <a:pt x="5138498" y="254237"/>
                    <a:pt x="5169130" y="246579"/>
                  </a:cubicBezTo>
                  <a:cubicBezTo>
                    <a:pt x="5213232" y="235553"/>
                    <a:pt x="5192035" y="235362"/>
                    <a:pt x="5241049" y="215757"/>
                  </a:cubicBezTo>
                  <a:cubicBezTo>
                    <a:pt x="5261160" y="207713"/>
                    <a:pt x="5282146" y="202058"/>
                    <a:pt x="5302694" y="195209"/>
                  </a:cubicBezTo>
                  <a:cubicBezTo>
                    <a:pt x="5316393" y="184935"/>
                    <a:pt x="5331683" y="176494"/>
                    <a:pt x="5343791" y="164386"/>
                  </a:cubicBezTo>
                  <a:cubicBezTo>
                    <a:pt x="5352522" y="155655"/>
                    <a:pt x="5354065" y="140413"/>
                    <a:pt x="5364339" y="133564"/>
                  </a:cubicBezTo>
                  <a:cubicBezTo>
                    <a:pt x="5376088" y="125731"/>
                    <a:pt x="5392214" y="128247"/>
                    <a:pt x="5405436" y="123289"/>
                  </a:cubicBezTo>
                  <a:cubicBezTo>
                    <a:pt x="5419776" y="117911"/>
                    <a:pt x="5432833" y="109590"/>
                    <a:pt x="5446532" y="102741"/>
                  </a:cubicBezTo>
                  <a:cubicBezTo>
                    <a:pt x="5470505" y="106166"/>
                    <a:pt x="5498302" y="99582"/>
                    <a:pt x="5518452" y="113015"/>
                  </a:cubicBezTo>
                  <a:cubicBezTo>
                    <a:pt x="5533797" y="123245"/>
                    <a:pt x="5530752" y="147890"/>
                    <a:pt x="5539000" y="164386"/>
                  </a:cubicBezTo>
                  <a:cubicBezTo>
                    <a:pt x="5548477" y="183341"/>
                    <a:pt x="5573327" y="214668"/>
                    <a:pt x="5590371" y="226031"/>
                  </a:cubicBezTo>
                  <a:cubicBezTo>
                    <a:pt x="5599382" y="232038"/>
                    <a:pt x="5610919" y="232880"/>
                    <a:pt x="5621193" y="236305"/>
                  </a:cubicBezTo>
                  <a:cubicBezTo>
                    <a:pt x="5662290" y="232880"/>
                    <a:pt x="5704831" y="237360"/>
                    <a:pt x="5744483" y="226031"/>
                  </a:cubicBezTo>
                  <a:cubicBezTo>
                    <a:pt x="5756356" y="222639"/>
                    <a:pt x="5757126" y="204695"/>
                    <a:pt x="5765031" y="195209"/>
                  </a:cubicBezTo>
                  <a:cubicBezTo>
                    <a:pt x="5781261" y="175733"/>
                    <a:pt x="5803585" y="155383"/>
                    <a:pt x="5826676" y="143838"/>
                  </a:cubicBezTo>
                  <a:cubicBezTo>
                    <a:pt x="5836363" y="138995"/>
                    <a:pt x="5847225" y="136989"/>
                    <a:pt x="5857499" y="133564"/>
                  </a:cubicBezTo>
                  <a:cubicBezTo>
                    <a:pt x="5898596" y="136989"/>
                    <a:pt x="5940351" y="135750"/>
                    <a:pt x="5980789" y="143838"/>
                  </a:cubicBezTo>
                  <a:cubicBezTo>
                    <a:pt x="6014413" y="150563"/>
                    <a:pt x="6020075" y="186850"/>
                    <a:pt x="6042434" y="205483"/>
                  </a:cubicBezTo>
                  <a:cubicBezTo>
                    <a:pt x="6050754" y="212416"/>
                    <a:pt x="6062982" y="212332"/>
                    <a:pt x="6073256" y="215757"/>
                  </a:cubicBezTo>
                  <a:cubicBezTo>
                    <a:pt x="6083530" y="205483"/>
                    <a:pt x="6095747" y="196838"/>
                    <a:pt x="6104079" y="184934"/>
                  </a:cubicBezTo>
                  <a:cubicBezTo>
                    <a:pt x="6119913" y="162314"/>
                    <a:pt x="6130969" y="136691"/>
                    <a:pt x="6145175" y="113015"/>
                  </a:cubicBezTo>
                  <a:cubicBezTo>
                    <a:pt x="6151528" y="102427"/>
                    <a:pt x="6159597" y="92914"/>
                    <a:pt x="6165723" y="82193"/>
                  </a:cubicBezTo>
                  <a:cubicBezTo>
                    <a:pt x="6217864" y="-9053"/>
                    <a:pt x="6156759" y="85366"/>
                    <a:pt x="6206820" y="10274"/>
                  </a:cubicBezTo>
                  <a:cubicBezTo>
                    <a:pt x="6220519" y="13699"/>
                    <a:pt x="6235657" y="13542"/>
                    <a:pt x="6247917" y="20548"/>
                  </a:cubicBezTo>
                  <a:cubicBezTo>
                    <a:pt x="6260532" y="27757"/>
                    <a:pt x="6267577" y="42068"/>
                    <a:pt x="6278739" y="51370"/>
                  </a:cubicBezTo>
                  <a:cubicBezTo>
                    <a:pt x="6288998" y="59919"/>
                    <a:pt x="6339828" y="91817"/>
                    <a:pt x="6350658" y="92467"/>
                  </a:cubicBezTo>
                  <a:cubicBezTo>
                    <a:pt x="6507950" y="101904"/>
                    <a:pt x="6665733" y="99316"/>
                    <a:pt x="6823270" y="102741"/>
                  </a:cubicBezTo>
                  <a:cubicBezTo>
                    <a:pt x="6840393" y="109590"/>
                    <a:pt x="6856847" y="118436"/>
                    <a:pt x="6874640" y="123289"/>
                  </a:cubicBezTo>
                  <a:cubicBezTo>
                    <a:pt x="6894738" y="128770"/>
                    <a:pt x="6915949" y="129045"/>
                    <a:pt x="6936285" y="133564"/>
                  </a:cubicBezTo>
                  <a:cubicBezTo>
                    <a:pt x="6946857" y="135913"/>
                    <a:pt x="6956834" y="140413"/>
                    <a:pt x="6967108" y="143838"/>
                  </a:cubicBezTo>
                  <a:cubicBezTo>
                    <a:pt x="6973957" y="154112"/>
                    <a:pt x="6982641" y="163376"/>
                    <a:pt x="6987656" y="174660"/>
                  </a:cubicBezTo>
                  <a:cubicBezTo>
                    <a:pt x="6996453" y="194453"/>
                    <a:pt x="6996189" y="218283"/>
                    <a:pt x="7008204" y="236305"/>
                  </a:cubicBezTo>
                  <a:lnTo>
                    <a:pt x="7049301" y="297950"/>
                  </a:lnTo>
                  <a:cubicBezTo>
                    <a:pt x="7066425" y="294525"/>
                    <a:pt x="7086142" y="297363"/>
                    <a:pt x="7100672" y="287676"/>
                  </a:cubicBezTo>
                  <a:cubicBezTo>
                    <a:pt x="7178202" y="235989"/>
                    <a:pt x="7197380" y="145848"/>
                    <a:pt x="7295881" y="113015"/>
                  </a:cubicBezTo>
                  <a:cubicBezTo>
                    <a:pt x="7374092" y="86945"/>
                    <a:pt x="7336287" y="96715"/>
                    <a:pt x="7408896" y="82193"/>
                  </a:cubicBezTo>
                  <a:cubicBezTo>
                    <a:pt x="7426020" y="71919"/>
                    <a:pt x="7441726" y="58787"/>
                    <a:pt x="7460267" y="51370"/>
                  </a:cubicBezTo>
                  <a:cubicBezTo>
                    <a:pt x="7481660" y="42813"/>
                    <a:pt x="7584517" y="31986"/>
                    <a:pt x="7593831" y="30822"/>
                  </a:cubicBezTo>
                  <a:cubicBezTo>
                    <a:pt x="7617804" y="37671"/>
                    <a:pt x="7646986" y="34952"/>
                    <a:pt x="7665750" y="51370"/>
                  </a:cubicBezTo>
                  <a:cubicBezTo>
                    <a:pt x="7678892" y="62869"/>
                    <a:pt x="7670503" y="86174"/>
                    <a:pt x="7676025" y="102741"/>
                  </a:cubicBezTo>
                  <a:cubicBezTo>
                    <a:pt x="7680868" y="117271"/>
                    <a:pt x="7690885" y="129618"/>
                    <a:pt x="7696573" y="143838"/>
                  </a:cubicBezTo>
                  <a:cubicBezTo>
                    <a:pt x="7716068" y="192577"/>
                    <a:pt x="7705593" y="208072"/>
                    <a:pt x="7747944" y="236305"/>
                  </a:cubicBezTo>
                  <a:cubicBezTo>
                    <a:pt x="7756955" y="242312"/>
                    <a:pt x="7768492" y="243154"/>
                    <a:pt x="7778766" y="246579"/>
                  </a:cubicBezTo>
                  <a:cubicBezTo>
                    <a:pt x="7819863" y="239730"/>
                    <a:pt x="7862820" y="240044"/>
                    <a:pt x="7902056" y="226031"/>
                  </a:cubicBezTo>
                  <a:cubicBezTo>
                    <a:pt x="7921962" y="218922"/>
                    <a:pt x="7929301" y="166634"/>
                    <a:pt x="7932879" y="154112"/>
                  </a:cubicBezTo>
                  <a:cubicBezTo>
                    <a:pt x="7935854" y="143699"/>
                    <a:pt x="7940178" y="133702"/>
                    <a:pt x="7943153" y="123289"/>
                  </a:cubicBezTo>
                  <a:cubicBezTo>
                    <a:pt x="7947032" y="109712"/>
                    <a:pt x="7949370" y="95718"/>
                    <a:pt x="7953427" y="82193"/>
                  </a:cubicBezTo>
                  <a:cubicBezTo>
                    <a:pt x="7959651" y="61447"/>
                    <a:pt x="7955953" y="32562"/>
                    <a:pt x="7973975" y="20548"/>
                  </a:cubicBezTo>
                  <a:lnTo>
                    <a:pt x="8004798" y="0"/>
                  </a:lnTo>
                  <a:cubicBezTo>
                    <a:pt x="8025346" y="3425"/>
                    <a:pt x="8048778" y="-767"/>
                    <a:pt x="8066443" y="10274"/>
                  </a:cubicBezTo>
                  <a:cubicBezTo>
                    <a:pt x="8079431" y="18391"/>
                    <a:pt x="8078496" y="38627"/>
                    <a:pt x="8086991" y="51370"/>
                  </a:cubicBezTo>
                  <a:cubicBezTo>
                    <a:pt x="8092364" y="59430"/>
                    <a:pt x="8101488" y="64355"/>
                    <a:pt x="8107539" y="71919"/>
                  </a:cubicBezTo>
                  <a:cubicBezTo>
                    <a:pt x="8115253" y="81561"/>
                    <a:pt x="8118795" y="94610"/>
                    <a:pt x="8128088" y="102741"/>
                  </a:cubicBezTo>
                  <a:cubicBezTo>
                    <a:pt x="8146673" y="119003"/>
                    <a:pt x="8189732" y="143838"/>
                    <a:pt x="8189732" y="143838"/>
                  </a:cubicBezTo>
                  <a:cubicBezTo>
                    <a:pt x="8203142" y="134898"/>
                    <a:pt x="8246915" y="103875"/>
                    <a:pt x="8261652" y="102741"/>
                  </a:cubicBezTo>
                  <a:cubicBezTo>
                    <a:pt x="8292573" y="100363"/>
                    <a:pt x="8323297" y="109590"/>
                    <a:pt x="8354119" y="113015"/>
                  </a:cubicBezTo>
                  <a:cubicBezTo>
                    <a:pt x="8368184" y="141147"/>
                    <a:pt x="8375849" y="160726"/>
                    <a:pt x="8395216" y="184934"/>
                  </a:cubicBezTo>
                  <a:cubicBezTo>
                    <a:pt x="8401267" y="192498"/>
                    <a:pt x="8408915" y="198633"/>
                    <a:pt x="8415764" y="205483"/>
                  </a:cubicBezTo>
                  <a:cubicBezTo>
                    <a:pt x="8438921" y="321271"/>
                    <a:pt x="8408401" y="179713"/>
                    <a:pt x="8456861" y="349321"/>
                  </a:cubicBezTo>
                  <a:cubicBezTo>
                    <a:pt x="8479079" y="427084"/>
                    <a:pt x="8450715" y="376062"/>
                    <a:pt x="8487683" y="431514"/>
                  </a:cubicBezTo>
                  <a:cubicBezTo>
                    <a:pt x="8484258" y="445213"/>
                    <a:pt x="8487394" y="462626"/>
                    <a:pt x="8477409" y="472611"/>
                  </a:cubicBezTo>
                  <a:cubicBezTo>
                    <a:pt x="8464368" y="485652"/>
                    <a:pt x="8443703" y="487860"/>
                    <a:pt x="8426038" y="493159"/>
                  </a:cubicBezTo>
                  <a:cubicBezTo>
                    <a:pt x="8409312" y="498177"/>
                    <a:pt x="8391608" y="499198"/>
                    <a:pt x="8374667" y="503433"/>
                  </a:cubicBezTo>
                  <a:cubicBezTo>
                    <a:pt x="8364161" y="506060"/>
                    <a:pt x="8354351" y="511080"/>
                    <a:pt x="8343845" y="513707"/>
                  </a:cubicBezTo>
                  <a:cubicBezTo>
                    <a:pt x="8313213" y="521365"/>
                    <a:pt x="8282009" y="526598"/>
                    <a:pt x="8251377" y="534256"/>
                  </a:cubicBezTo>
                  <a:cubicBezTo>
                    <a:pt x="8156328" y="558019"/>
                    <a:pt x="8308026" y="529561"/>
                    <a:pt x="8169184" y="554804"/>
                  </a:cubicBezTo>
                  <a:cubicBezTo>
                    <a:pt x="8148688" y="558530"/>
                    <a:pt x="8128161" y="562132"/>
                    <a:pt x="8107539" y="565078"/>
                  </a:cubicBezTo>
                  <a:cubicBezTo>
                    <a:pt x="8046947" y="573734"/>
                    <a:pt x="7993962" y="578440"/>
                    <a:pt x="7932879" y="585627"/>
                  </a:cubicBezTo>
                  <a:lnTo>
                    <a:pt x="7850685" y="595901"/>
                  </a:lnTo>
                  <a:cubicBezTo>
                    <a:pt x="7826712" y="602750"/>
                    <a:pt x="7803060" y="610843"/>
                    <a:pt x="7778766" y="616449"/>
                  </a:cubicBezTo>
                  <a:cubicBezTo>
                    <a:pt x="7727212" y="628346"/>
                    <a:pt x="7651790" y="633182"/>
                    <a:pt x="7604105" y="636997"/>
                  </a:cubicBezTo>
                  <a:cubicBezTo>
                    <a:pt x="7556190" y="640830"/>
                    <a:pt x="7508330" y="646600"/>
                    <a:pt x="7460267" y="647272"/>
                  </a:cubicBezTo>
                  <a:lnTo>
                    <a:pt x="6134901" y="657546"/>
                  </a:lnTo>
                  <a:lnTo>
                    <a:pt x="5939692" y="667820"/>
                  </a:lnTo>
                  <a:cubicBezTo>
                    <a:pt x="5853679" y="673964"/>
                    <a:pt x="5768870" y="692776"/>
                    <a:pt x="5682838" y="698642"/>
                  </a:cubicBezTo>
                  <a:cubicBezTo>
                    <a:pt x="5587107" y="705169"/>
                    <a:pt x="5491054" y="705491"/>
                    <a:pt x="5395162" y="708916"/>
                  </a:cubicBezTo>
                  <a:cubicBezTo>
                    <a:pt x="5077172" y="740716"/>
                    <a:pt x="5258483" y="727380"/>
                    <a:pt x="4850631" y="739739"/>
                  </a:cubicBezTo>
                  <a:cubicBezTo>
                    <a:pt x="4603710" y="784633"/>
                    <a:pt x="4816343" y="751869"/>
                    <a:pt x="4367746" y="770561"/>
                  </a:cubicBezTo>
                  <a:cubicBezTo>
                    <a:pt x="4033963" y="784469"/>
                    <a:pt x="4380977" y="773095"/>
                    <a:pt x="4182811" y="791110"/>
                  </a:cubicBezTo>
                  <a:cubicBezTo>
                    <a:pt x="4128134" y="796081"/>
                    <a:pt x="4073220" y="797959"/>
                    <a:pt x="4018425" y="801384"/>
                  </a:cubicBezTo>
                  <a:cubicBezTo>
                    <a:pt x="3891710" y="797959"/>
                    <a:pt x="3764735" y="799932"/>
                    <a:pt x="3638281" y="791110"/>
                  </a:cubicBezTo>
                  <a:cubicBezTo>
                    <a:pt x="3546402" y="784700"/>
                    <a:pt x="3605216" y="772289"/>
                    <a:pt x="3545813" y="750013"/>
                  </a:cubicBezTo>
                  <a:cubicBezTo>
                    <a:pt x="3529462" y="743882"/>
                    <a:pt x="3511702" y="742394"/>
                    <a:pt x="3494443" y="739739"/>
                  </a:cubicBezTo>
                  <a:cubicBezTo>
                    <a:pt x="3405264" y="726019"/>
                    <a:pt x="3357565" y="725819"/>
                    <a:pt x="3258137" y="719191"/>
                  </a:cubicBezTo>
                  <a:cubicBezTo>
                    <a:pt x="2986541" y="673921"/>
                    <a:pt x="3222218" y="710068"/>
                    <a:pt x="2559494" y="698642"/>
                  </a:cubicBezTo>
                  <a:lnTo>
                    <a:pt x="2004690" y="688368"/>
                  </a:lnTo>
                  <a:cubicBezTo>
                    <a:pt x="1845242" y="648507"/>
                    <a:pt x="2092806" y="707323"/>
                    <a:pt x="1645094" y="667820"/>
                  </a:cubicBezTo>
                  <a:cubicBezTo>
                    <a:pt x="1632794" y="666735"/>
                    <a:pt x="1625316" y="652794"/>
                    <a:pt x="1614272" y="647272"/>
                  </a:cubicBezTo>
                  <a:cubicBezTo>
                    <a:pt x="1604168" y="642220"/>
                    <a:pt x="1549477" y="626992"/>
                    <a:pt x="1542353" y="626723"/>
                  </a:cubicBezTo>
                  <a:cubicBezTo>
                    <a:pt x="1374626" y="620394"/>
                    <a:pt x="1206730" y="619874"/>
                    <a:pt x="1038919" y="616449"/>
                  </a:cubicBezTo>
                  <a:cubicBezTo>
                    <a:pt x="1018371" y="609600"/>
                    <a:pt x="998513" y="600149"/>
                    <a:pt x="977274" y="595901"/>
                  </a:cubicBezTo>
                  <a:cubicBezTo>
                    <a:pt x="804214" y="561289"/>
                    <a:pt x="784157" y="565209"/>
                    <a:pt x="617679" y="554804"/>
                  </a:cubicBezTo>
                  <a:cubicBezTo>
                    <a:pt x="482609" y="509782"/>
                    <a:pt x="661495" y="566162"/>
                    <a:pt x="278631" y="534256"/>
                  </a:cubicBezTo>
                  <a:cubicBezTo>
                    <a:pt x="257046" y="532457"/>
                    <a:pt x="238351" y="517268"/>
                    <a:pt x="216986" y="513707"/>
                  </a:cubicBezTo>
                  <a:lnTo>
                    <a:pt x="155341" y="503433"/>
                  </a:lnTo>
                  <a:cubicBezTo>
                    <a:pt x="145067" y="496584"/>
                    <a:pt x="133250" y="491616"/>
                    <a:pt x="124519" y="482885"/>
                  </a:cubicBezTo>
                  <a:cubicBezTo>
                    <a:pt x="71116" y="429482"/>
                    <a:pt x="134261" y="472186"/>
                    <a:pt x="83422" y="431514"/>
                  </a:cubicBezTo>
                  <a:cubicBezTo>
                    <a:pt x="73780" y="423800"/>
                    <a:pt x="61829" y="419169"/>
                    <a:pt x="52600" y="410966"/>
                  </a:cubicBezTo>
                  <a:cubicBezTo>
                    <a:pt x="30880" y="391660"/>
                    <a:pt x="-7333" y="351033"/>
                    <a:pt x="1229" y="328773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662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526B85D-52B5-41EC-AB99-DF77ABF686B3}"/>
                </a:ext>
              </a:extLst>
            </p:cNvPr>
            <p:cNvSpPr/>
            <p:nvPr/>
          </p:nvSpPr>
          <p:spPr>
            <a:xfrm rot="214653">
              <a:off x="7616666" y="1407560"/>
              <a:ext cx="1234976" cy="4911252"/>
            </a:xfrm>
            <a:custGeom>
              <a:avLst/>
              <a:gdLst>
                <a:gd name="connsiteX0" fmla="*/ 431514 w 1068897"/>
                <a:gd name="connsiteY0" fmla="*/ 86 h 4870037"/>
                <a:gd name="connsiteX1" fmla="*/ 369869 w 1068897"/>
                <a:gd name="connsiteY1" fmla="*/ 61731 h 4870037"/>
                <a:gd name="connsiteX2" fmla="*/ 328773 w 1068897"/>
                <a:gd name="connsiteY2" fmla="*/ 72006 h 4870037"/>
                <a:gd name="connsiteX3" fmla="*/ 267128 w 1068897"/>
                <a:gd name="connsiteY3" fmla="*/ 102828 h 4870037"/>
                <a:gd name="connsiteX4" fmla="*/ 226031 w 1068897"/>
                <a:gd name="connsiteY4" fmla="*/ 174747 h 4870037"/>
                <a:gd name="connsiteX5" fmla="*/ 215757 w 1068897"/>
                <a:gd name="connsiteY5" fmla="*/ 205570 h 4870037"/>
                <a:gd name="connsiteX6" fmla="*/ 184935 w 1068897"/>
                <a:gd name="connsiteY6" fmla="*/ 236392 h 4870037"/>
                <a:gd name="connsiteX7" fmla="*/ 133564 w 1068897"/>
                <a:gd name="connsiteY7" fmla="*/ 298037 h 4870037"/>
                <a:gd name="connsiteX8" fmla="*/ 164386 w 1068897"/>
                <a:gd name="connsiteY8" fmla="*/ 390504 h 4870037"/>
                <a:gd name="connsiteX9" fmla="*/ 195209 w 1068897"/>
                <a:gd name="connsiteY9" fmla="*/ 411053 h 4870037"/>
                <a:gd name="connsiteX10" fmla="*/ 226031 w 1068897"/>
                <a:gd name="connsiteY10" fmla="*/ 462424 h 4870037"/>
                <a:gd name="connsiteX11" fmla="*/ 297950 w 1068897"/>
                <a:gd name="connsiteY11" fmla="*/ 493246 h 4870037"/>
                <a:gd name="connsiteX12" fmla="*/ 328773 w 1068897"/>
                <a:gd name="connsiteY12" fmla="*/ 503520 h 4870037"/>
                <a:gd name="connsiteX13" fmla="*/ 390418 w 1068897"/>
                <a:gd name="connsiteY13" fmla="*/ 544617 h 4870037"/>
                <a:gd name="connsiteX14" fmla="*/ 421240 w 1068897"/>
                <a:gd name="connsiteY14" fmla="*/ 595988 h 4870037"/>
                <a:gd name="connsiteX15" fmla="*/ 297950 w 1068897"/>
                <a:gd name="connsiteY15" fmla="*/ 647358 h 4870037"/>
                <a:gd name="connsiteX16" fmla="*/ 267128 w 1068897"/>
                <a:gd name="connsiteY16" fmla="*/ 657633 h 4870037"/>
                <a:gd name="connsiteX17" fmla="*/ 215757 w 1068897"/>
                <a:gd name="connsiteY17" fmla="*/ 688455 h 4870037"/>
                <a:gd name="connsiteX18" fmla="*/ 143838 w 1068897"/>
                <a:gd name="connsiteY18" fmla="*/ 709003 h 4870037"/>
                <a:gd name="connsiteX19" fmla="*/ 113015 w 1068897"/>
                <a:gd name="connsiteY19" fmla="*/ 719278 h 4870037"/>
                <a:gd name="connsiteX20" fmla="*/ 133564 w 1068897"/>
                <a:gd name="connsiteY20" fmla="*/ 750100 h 4870037"/>
                <a:gd name="connsiteX21" fmla="*/ 164386 w 1068897"/>
                <a:gd name="connsiteY21" fmla="*/ 760374 h 4870037"/>
                <a:gd name="connsiteX22" fmla="*/ 215757 w 1068897"/>
                <a:gd name="connsiteY22" fmla="*/ 770648 h 4870037"/>
                <a:gd name="connsiteX23" fmla="*/ 256854 w 1068897"/>
                <a:gd name="connsiteY23" fmla="*/ 780922 h 4870037"/>
                <a:gd name="connsiteX24" fmla="*/ 277402 w 1068897"/>
                <a:gd name="connsiteY24" fmla="*/ 801471 h 4870037"/>
                <a:gd name="connsiteX25" fmla="*/ 297950 w 1068897"/>
                <a:gd name="connsiteY25" fmla="*/ 893938 h 4870037"/>
                <a:gd name="connsiteX26" fmla="*/ 308224 w 1068897"/>
                <a:gd name="connsiteY26" fmla="*/ 924761 h 4870037"/>
                <a:gd name="connsiteX27" fmla="*/ 318499 w 1068897"/>
                <a:gd name="connsiteY27" fmla="*/ 965857 h 4870037"/>
                <a:gd name="connsiteX28" fmla="*/ 339047 w 1068897"/>
                <a:gd name="connsiteY28" fmla="*/ 986406 h 4870037"/>
                <a:gd name="connsiteX29" fmla="*/ 380144 w 1068897"/>
                <a:gd name="connsiteY29" fmla="*/ 1037776 h 4870037"/>
                <a:gd name="connsiteX30" fmla="*/ 390418 w 1068897"/>
                <a:gd name="connsiteY30" fmla="*/ 1068599 h 4870037"/>
                <a:gd name="connsiteX31" fmla="*/ 339047 w 1068897"/>
                <a:gd name="connsiteY31" fmla="*/ 1078873 h 4870037"/>
                <a:gd name="connsiteX32" fmla="*/ 308224 w 1068897"/>
                <a:gd name="connsiteY32" fmla="*/ 1109695 h 4870037"/>
                <a:gd name="connsiteX33" fmla="*/ 277402 w 1068897"/>
                <a:gd name="connsiteY33" fmla="*/ 1119970 h 4870037"/>
                <a:gd name="connsiteX34" fmla="*/ 215757 w 1068897"/>
                <a:gd name="connsiteY34" fmla="*/ 1171340 h 4870037"/>
                <a:gd name="connsiteX35" fmla="*/ 195209 w 1068897"/>
                <a:gd name="connsiteY35" fmla="*/ 1191889 h 4870037"/>
                <a:gd name="connsiteX36" fmla="*/ 133564 w 1068897"/>
                <a:gd name="connsiteY36" fmla="*/ 1222711 h 4870037"/>
                <a:gd name="connsiteX37" fmla="*/ 113015 w 1068897"/>
                <a:gd name="connsiteY37" fmla="*/ 1243260 h 4870037"/>
                <a:gd name="connsiteX38" fmla="*/ 133564 w 1068897"/>
                <a:gd name="connsiteY38" fmla="*/ 1263808 h 4870037"/>
                <a:gd name="connsiteX39" fmla="*/ 205483 w 1068897"/>
                <a:gd name="connsiteY39" fmla="*/ 1315179 h 4870037"/>
                <a:gd name="connsiteX40" fmla="*/ 256854 w 1068897"/>
                <a:gd name="connsiteY40" fmla="*/ 1346001 h 4870037"/>
                <a:gd name="connsiteX41" fmla="*/ 287676 w 1068897"/>
                <a:gd name="connsiteY41" fmla="*/ 1366549 h 4870037"/>
                <a:gd name="connsiteX42" fmla="*/ 349321 w 1068897"/>
                <a:gd name="connsiteY42" fmla="*/ 1387098 h 4870037"/>
                <a:gd name="connsiteX43" fmla="*/ 369869 w 1068897"/>
                <a:gd name="connsiteY43" fmla="*/ 1417920 h 4870037"/>
                <a:gd name="connsiteX44" fmla="*/ 390418 w 1068897"/>
                <a:gd name="connsiteY44" fmla="*/ 1479565 h 4870037"/>
                <a:gd name="connsiteX45" fmla="*/ 308224 w 1068897"/>
                <a:gd name="connsiteY45" fmla="*/ 1530936 h 4870037"/>
                <a:gd name="connsiteX46" fmla="*/ 277402 w 1068897"/>
                <a:gd name="connsiteY46" fmla="*/ 1551484 h 4870037"/>
                <a:gd name="connsiteX47" fmla="*/ 256854 w 1068897"/>
                <a:gd name="connsiteY47" fmla="*/ 1572033 h 4870037"/>
                <a:gd name="connsiteX48" fmla="*/ 195209 w 1068897"/>
                <a:gd name="connsiteY48" fmla="*/ 1613129 h 4870037"/>
                <a:gd name="connsiteX49" fmla="*/ 164386 w 1068897"/>
                <a:gd name="connsiteY49" fmla="*/ 1633678 h 4870037"/>
                <a:gd name="connsiteX50" fmla="*/ 143838 w 1068897"/>
                <a:gd name="connsiteY50" fmla="*/ 1726145 h 4870037"/>
                <a:gd name="connsiteX51" fmla="*/ 174660 w 1068897"/>
                <a:gd name="connsiteY51" fmla="*/ 1746693 h 4870037"/>
                <a:gd name="connsiteX52" fmla="*/ 195209 w 1068897"/>
                <a:gd name="connsiteY52" fmla="*/ 1767242 h 4870037"/>
                <a:gd name="connsiteX53" fmla="*/ 297950 w 1068897"/>
                <a:gd name="connsiteY53" fmla="*/ 1798064 h 4870037"/>
                <a:gd name="connsiteX54" fmla="*/ 359595 w 1068897"/>
                <a:gd name="connsiteY54" fmla="*/ 1818612 h 4870037"/>
                <a:gd name="connsiteX55" fmla="*/ 369869 w 1068897"/>
                <a:gd name="connsiteY55" fmla="*/ 1911080 h 4870037"/>
                <a:gd name="connsiteX56" fmla="*/ 308224 w 1068897"/>
                <a:gd name="connsiteY56" fmla="*/ 1952176 h 4870037"/>
                <a:gd name="connsiteX57" fmla="*/ 256854 w 1068897"/>
                <a:gd name="connsiteY57" fmla="*/ 2013821 h 4870037"/>
                <a:gd name="connsiteX58" fmla="*/ 215757 w 1068897"/>
                <a:gd name="connsiteY58" fmla="*/ 2075466 h 4870037"/>
                <a:gd name="connsiteX59" fmla="*/ 205483 w 1068897"/>
                <a:gd name="connsiteY59" fmla="*/ 2106289 h 4870037"/>
                <a:gd name="connsiteX60" fmla="*/ 215757 w 1068897"/>
                <a:gd name="connsiteY60" fmla="*/ 2188482 h 4870037"/>
                <a:gd name="connsiteX61" fmla="*/ 267128 w 1068897"/>
                <a:gd name="connsiteY61" fmla="*/ 2229579 h 4870037"/>
                <a:gd name="connsiteX62" fmla="*/ 318499 w 1068897"/>
                <a:gd name="connsiteY62" fmla="*/ 2270675 h 4870037"/>
                <a:gd name="connsiteX63" fmla="*/ 308224 w 1068897"/>
                <a:gd name="connsiteY63" fmla="*/ 2383691 h 4870037"/>
                <a:gd name="connsiteX64" fmla="*/ 267128 w 1068897"/>
                <a:gd name="connsiteY64" fmla="*/ 2414513 h 4870037"/>
                <a:gd name="connsiteX65" fmla="*/ 205483 w 1068897"/>
                <a:gd name="connsiteY65" fmla="*/ 2465884 h 4870037"/>
                <a:gd name="connsiteX66" fmla="*/ 215757 w 1068897"/>
                <a:gd name="connsiteY66" fmla="*/ 2537803 h 4870037"/>
                <a:gd name="connsiteX67" fmla="*/ 421240 w 1068897"/>
                <a:gd name="connsiteY67" fmla="*/ 2548078 h 4870037"/>
                <a:gd name="connsiteX68" fmla="*/ 482885 w 1068897"/>
                <a:gd name="connsiteY68" fmla="*/ 2589174 h 4870037"/>
                <a:gd name="connsiteX69" fmla="*/ 380144 w 1068897"/>
                <a:gd name="connsiteY69" fmla="*/ 2681642 h 4870037"/>
                <a:gd name="connsiteX70" fmla="*/ 339047 w 1068897"/>
                <a:gd name="connsiteY70" fmla="*/ 2722738 h 4870037"/>
                <a:gd name="connsiteX71" fmla="*/ 246579 w 1068897"/>
                <a:gd name="connsiteY71" fmla="*/ 2804931 h 4870037"/>
                <a:gd name="connsiteX72" fmla="*/ 226031 w 1068897"/>
                <a:gd name="connsiteY72" fmla="*/ 2825480 h 4870037"/>
                <a:gd name="connsiteX73" fmla="*/ 184935 w 1068897"/>
                <a:gd name="connsiteY73" fmla="*/ 2876851 h 4870037"/>
                <a:gd name="connsiteX74" fmla="*/ 205483 w 1068897"/>
                <a:gd name="connsiteY74" fmla="*/ 2928221 h 4870037"/>
                <a:gd name="connsiteX75" fmla="*/ 236305 w 1068897"/>
                <a:gd name="connsiteY75" fmla="*/ 2948770 h 4870037"/>
                <a:gd name="connsiteX76" fmla="*/ 267128 w 1068897"/>
                <a:gd name="connsiteY76" fmla="*/ 2989866 h 4870037"/>
                <a:gd name="connsiteX77" fmla="*/ 287676 w 1068897"/>
                <a:gd name="connsiteY77" fmla="*/ 3010415 h 4870037"/>
                <a:gd name="connsiteX78" fmla="*/ 318499 w 1068897"/>
                <a:gd name="connsiteY78" fmla="*/ 3072060 h 4870037"/>
                <a:gd name="connsiteX79" fmla="*/ 246579 w 1068897"/>
                <a:gd name="connsiteY79" fmla="*/ 3123430 h 4870037"/>
                <a:gd name="connsiteX80" fmla="*/ 102741 w 1068897"/>
                <a:gd name="connsiteY80" fmla="*/ 3143979 h 4870037"/>
                <a:gd name="connsiteX81" fmla="*/ 30822 w 1068897"/>
                <a:gd name="connsiteY81" fmla="*/ 3195349 h 4870037"/>
                <a:gd name="connsiteX82" fmla="*/ 102741 w 1068897"/>
                <a:gd name="connsiteY82" fmla="*/ 3236446 h 4870037"/>
                <a:gd name="connsiteX83" fmla="*/ 318499 w 1068897"/>
                <a:gd name="connsiteY83" fmla="*/ 3246720 h 4870037"/>
                <a:gd name="connsiteX84" fmla="*/ 339047 w 1068897"/>
                <a:gd name="connsiteY84" fmla="*/ 3277543 h 4870037"/>
                <a:gd name="connsiteX85" fmla="*/ 369869 w 1068897"/>
                <a:gd name="connsiteY85" fmla="*/ 3339188 h 4870037"/>
                <a:gd name="connsiteX86" fmla="*/ 349321 w 1068897"/>
                <a:gd name="connsiteY86" fmla="*/ 3421381 h 4870037"/>
                <a:gd name="connsiteX87" fmla="*/ 308224 w 1068897"/>
                <a:gd name="connsiteY87" fmla="*/ 3431655 h 4870037"/>
                <a:gd name="connsiteX88" fmla="*/ 277402 w 1068897"/>
                <a:gd name="connsiteY88" fmla="*/ 3452203 h 4870037"/>
                <a:gd name="connsiteX89" fmla="*/ 226031 w 1068897"/>
                <a:gd name="connsiteY89" fmla="*/ 3472752 h 4870037"/>
                <a:gd name="connsiteX90" fmla="*/ 174660 w 1068897"/>
                <a:gd name="connsiteY90" fmla="*/ 3503574 h 4870037"/>
                <a:gd name="connsiteX91" fmla="*/ 133564 w 1068897"/>
                <a:gd name="connsiteY91" fmla="*/ 3524122 h 4870037"/>
                <a:gd name="connsiteX92" fmla="*/ 71919 w 1068897"/>
                <a:gd name="connsiteY92" fmla="*/ 3554945 h 4870037"/>
                <a:gd name="connsiteX93" fmla="*/ 61645 w 1068897"/>
                <a:gd name="connsiteY93" fmla="*/ 3585767 h 4870037"/>
                <a:gd name="connsiteX94" fmla="*/ 71919 w 1068897"/>
                <a:gd name="connsiteY94" fmla="*/ 3626864 h 4870037"/>
                <a:gd name="connsiteX95" fmla="*/ 102741 w 1068897"/>
                <a:gd name="connsiteY95" fmla="*/ 3637138 h 4870037"/>
                <a:gd name="connsiteX96" fmla="*/ 154112 w 1068897"/>
                <a:gd name="connsiteY96" fmla="*/ 3647412 h 4870037"/>
                <a:gd name="connsiteX97" fmla="*/ 226031 w 1068897"/>
                <a:gd name="connsiteY97" fmla="*/ 3719331 h 4870037"/>
                <a:gd name="connsiteX98" fmla="*/ 246579 w 1068897"/>
                <a:gd name="connsiteY98" fmla="*/ 3739880 h 4870037"/>
                <a:gd name="connsiteX99" fmla="*/ 226031 w 1068897"/>
                <a:gd name="connsiteY99" fmla="*/ 3842621 h 4870037"/>
                <a:gd name="connsiteX100" fmla="*/ 195209 w 1068897"/>
                <a:gd name="connsiteY100" fmla="*/ 3873444 h 4870037"/>
                <a:gd name="connsiteX101" fmla="*/ 154112 w 1068897"/>
                <a:gd name="connsiteY101" fmla="*/ 3924815 h 4870037"/>
                <a:gd name="connsiteX102" fmla="*/ 123290 w 1068897"/>
                <a:gd name="connsiteY102" fmla="*/ 3935089 h 4870037"/>
                <a:gd name="connsiteX103" fmla="*/ 102741 w 1068897"/>
                <a:gd name="connsiteY103" fmla="*/ 3955637 h 4870037"/>
                <a:gd name="connsiteX104" fmla="*/ 133564 w 1068897"/>
                <a:gd name="connsiteY104" fmla="*/ 3965911 h 4870037"/>
                <a:gd name="connsiteX105" fmla="*/ 226031 w 1068897"/>
                <a:gd name="connsiteY105" fmla="*/ 3976185 h 4870037"/>
                <a:gd name="connsiteX106" fmla="*/ 297950 w 1068897"/>
                <a:gd name="connsiteY106" fmla="*/ 3986460 h 4870037"/>
                <a:gd name="connsiteX107" fmla="*/ 308224 w 1068897"/>
                <a:gd name="connsiteY107" fmla="*/ 4017282 h 4870037"/>
                <a:gd name="connsiteX108" fmla="*/ 328773 w 1068897"/>
                <a:gd name="connsiteY108" fmla="*/ 4048104 h 4870037"/>
                <a:gd name="connsiteX109" fmla="*/ 277402 w 1068897"/>
                <a:gd name="connsiteY109" fmla="*/ 4078927 h 4870037"/>
                <a:gd name="connsiteX110" fmla="*/ 236305 w 1068897"/>
                <a:gd name="connsiteY110" fmla="*/ 4140572 h 4870037"/>
                <a:gd name="connsiteX111" fmla="*/ 215757 w 1068897"/>
                <a:gd name="connsiteY111" fmla="*/ 4171394 h 4870037"/>
                <a:gd name="connsiteX112" fmla="*/ 184935 w 1068897"/>
                <a:gd name="connsiteY112" fmla="*/ 4181669 h 4870037"/>
                <a:gd name="connsiteX113" fmla="*/ 143838 w 1068897"/>
                <a:gd name="connsiteY113" fmla="*/ 4253588 h 4870037"/>
                <a:gd name="connsiteX114" fmla="*/ 82193 w 1068897"/>
                <a:gd name="connsiteY114" fmla="*/ 4284410 h 4870037"/>
                <a:gd name="connsiteX115" fmla="*/ 205483 w 1068897"/>
                <a:gd name="connsiteY115" fmla="*/ 4304958 h 4870037"/>
                <a:gd name="connsiteX116" fmla="*/ 308224 w 1068897"/>
                <a:gd name="connsiteY116" fmla="*/ 4325507 h 4870037"/>
                <a:gd name="connsiteX117" fmla="*/ 339047 w 1068897"/>
                <a:gd name="connsiteY117" fmla="*/ 4346055 h 4870037"/>
                <a:gd name="connsiteX118" fmla="*/ 328773 w 1068897"/>
                <a:gd name="connsiteY118" fmla="*/ 4387152 h 4870037"/>
                <a:gd name="connsiteX119" fmla="*/ 267128 w 1068897"/>
                <a:gd name="connsiteY119" fmla="*/ 4407700 h 4870037"/>
                <a:gd name="connsiteX120" fmla="*/ 174660 w 1068897"/>
                <a:gd name="connsiteY120" fmla="*/ 4438522 h 4870037"/>
                <a:gd name="connsiteX121" fmla="*/ 123290 w 1068897"/>
                <a:gd name="connsiteY121" fmla="*/ 4479619 h 4870037"/>
                <a:gd name="connsiteX122" fmla="*/ 71919 w 1068897"/>
                <a:gd name="connsiteY122" fmla="*/ 4520716 h 4870037"/>
                <a:gd name="connsiteX123" fmla="*/ 0 w 1068897"/>
                <a:gd name="connsiteY123" fmla="*/ 4613183 h 4870037"/>
                <a:gd name="connsiteX124" fmla="*/ 61645 w 1068897"/>
                <a:gd name="connsiteY124" fmla="*/ 4633731 h 4870037"/>
                <a:gd name="connsiteX125" fmla="*/ 143838 w 1068897"/>
                <a:gd name="connsiteY125" fmla="*/ 4674828 h 4870037"/>
                <a:gd name="connsiteX126" fmla="*/ 174660 w 1068897"/>
                <a:gd name="connsiteY126" fmla="*/ 4705651 h 4870037"/>
                <a:gd name="connsiteX127" fmla="*/ 205483 w 1068897"/>
                <a:gd name="connsiteY127" fmla="*/ 4726199 h 4870037"/>
                <a:gd name="connsiteX128" fmla="*/ 246579 w 1068897"/>
                <a:gd name="connsiteY128" fmla="*/ 4777570 h 4870037"/>
                <a:gd name="connsiteX129" fmla="*/ 339047 w 1068897"/>
                <a:gd name="connsiteY129" fmla="*/ 4808392 h 4870037"/>
                <a:gd name="connsiteX130" fmla="*/ 410966 w 1068897"/>
                <a:gd name="connsiteY130" fmla="*/ 4828940 h 4870037"/>
                <a:gd name="connsiteX131" fmla="*/ 472611 w 1068897"/>
                <a:gd name="connsiteY131" fmla="*/ 4839215 h 4870037"/>
                <a:gd name="connsiteX132" fmla="*/ 739739 w 1068897"/>
                <a:gd name="connsiteY132" fmla="*/ 4870037 h 4870037"/>
                <a:gd name="connsiteX133" fmla="*/ 801384 w 1068897"/>
                <a:gd name="connsiteY133" fmla="*/ 4798118 h 4870037"/>
                <a:gd name="connsiteX134" fmla="*/ 852755 w 1068897"/>
                <a:gd name="connsiteY134" fmla="*/ 4715925 h 4870037"/>
                <a:gd name="connsiteX135" fmla="*/ 873303 w 1068897"/>
                <a:gd name="connsiteY135" fmla="*/ 4695376 h 4870037"/>
                <a:gd name="connsiteX136" fmla="*/ 883577 w 1068897"/>
                <a:gd name="connsiteY136" fmla="*/ 4664554 h 4870037"/>
                <a:gd name="connsiteX137" fmla="*/ 924674 w 1068897"/>
                <a:gd name="connsiteY137" fmla="*/ 4582361 h 4870037"/>
                <a:gd name="connsiteX138" fmla="*/ 976045 w 1068897"/>
                <a:gd name="connsiteY138" fmla="*/ 4438522 h 4870037"/>
                <a:gd name="connsiteX139" fmla="*/ 996593 w 1068897"/>
                <a:gd name="connsiteY139" fmla="*/ 4397426 h 4870037"/>
                <a:gd name="connsiteX140" fmla="*/ 1006867 w 1068897"/>
                <a:gd name="connsiteY140" fmla="*/ 4315233 h 4870037"/>
                <a:gd name="connsiteX141" fmla="*/ 1027415 w 1068897"/>
                <a:gd name="connsiteY141" fmla="*/ 4212491 h 4870037"/>
                <a:gd name="connsiteX142" fmla="*/ 1037690 w 1068897"/>
                <a:gd name="connsiteY142" fmla="*/ 4150846 h 4870037"/>
                <a:gd name="connsiteX143" fmla="*/ 1047964 w 1068897"/>
                <a:gd name="connsiteY143" fmla="*/ 3904266 h 4870037"/>
                <a:gd name="connsiteX144" fmla="*/ 1068512 w 1068897"/>
                <a:gd name="connsiteY144" fmla="*/ 3719331 h 4870037"/>
                <a:gd name="connsiteX145" fmla="*/ 1058238 w 1068897"/>
                <a:gd name="connsiteY145" fmla="*/ 3441929 h 4870037"/>
                <a:gd name="connsiteX146" fmla="*/ 1047964 w 1068897"/>
                <a:gd name="connsiteY146" fmla="*/ 3390558 h 4870037"/>
                <a:gd name="connsiteX147" fmla="*/ 1037690 w 1068897"/>
                <a:gd name="connsiteY147" fmla="*/ 3298091 h 4870037"/>
                <a:gd name="connsiteX148" fmla="*/ 1006867 w 1068897"/>
                <a:gd name="connsiteY148" fmla="*/ 3092608 h 4870037"/>
                <a:gd name="connsiteX149" fmla="*/ 996593 w 1068897"/>
                <a:gd name="connsiteY149" fmla="*/ 1397372 h 4870037"/>
                <a:gd name="connsiteX150" fmla="*/ 986319 w 1068897"/>
                <a:gd name="connsiteY150" fmla="*/ 1212437 h 4870037"/>
                <a:gd name="connsiteX151" fmla="*/ 955496 w 1068897"/>
                <a:gd name="connsiteY151" fmla="*/ 719278 h 4870037"/>
                <a:gd name="connsiteX152" fmla="*/ 924674 w 1068897"/>
                <a:gd name="connsiteY152" fmla="*/ 616536 h 4870037"/>
                <a:gd name="connsiteX153" fmla="*/ 914400 w 1068897"/>
                <a:gd name="connsiteY153" fmla="*/ 585713 h 4870037"/>
                <a:gd name="connsiteX154" fmla="*/ 893851 w 1068897"/>
                <a:gd name="connsiteY154" fmla="*/ 503520 h 4870037"/>
                <a:gd name="connsiteX155" fmla="*/ 873303 w 1068897"/>
                <a:gd name="connsiteY155" fmla="*/ 472698 h 4870037"/>
                <a:gd name="connsiteX156" fmla="*/ 852755 w 1068897"/>
                <a:gd name="connsiteY156" fmla="*/ 380230 h 4870037"/>
                <a:gd name="connsiteX157" fmla="*/ 842481 w 1068897"/>
                <a:gd name="connsiteY157" fmla="*/ 339134 h 4870037"/>
                <a:gd name="connsiteX158" fmla="*/ 821932 w 1068897"/>
                <a:gd name="connsiteY158" fmla="*/ 308311 h 4870037"/>
                <a:gd name="connsiteX159" fmla="*/ 801384 w 1068897"/>
                <a:gd name="connsiteY159" fmla="*/ 246666 h 4870037"/>
                <a:gd name="connsiteX160" fmla="*/ 791110 w 1068897"/>
                <a:gd name="connsiteY160" fmla="*/ 215844 h 4870037"/>
                <a:gd name="connsiteX161" fmla="*/ 770561 w 1068897"/>
                <a:gd name="connsiteY161" fmla="*/ 195295 h 4870037"/>
                <a:gd name="connsiteX162" fmla="*/ 729465 w 1068897"/>
                <a:gd name="connsiteY162" fmla="*/ 143925 h 4870037"/>
                <a:gd name="connsiteX163" fmla="*/ 708917 w 1068897"/>
                <a:gd name="connsiteY163" fmla="*/ 123376 h 4870037"/>
                <a:gd name="connsiteX164" fmla="*/ 585627 w 1068897"/>
                <a:gd name="connsiteY164" fmla="*/ 92554 h 4870037"/>
                <a:gd name="connsiteX165" fmla="*/ 472611 w 1068897"/>
                <a:gd name="connsiteY165" fmla="*/ 82280 h 4870037"/>
                <a:gd name="connsiteX166" fmla="*/ 452063 w 1068897"/>
                <a:gd name="connsiteY166" fmla="*/ 51457 h 4870037"/>
                <a:gd name="connsiteX167" fmla="*/ 431514 w 1068897"/>
                <a:gd name="connsiteY167" fmla="*/ 86 h 487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</a:cxnLst>
              <a:rect l="l" t="t" r="r" b="b"/>
              <a:pathLst>
                <a:path w="1068897" h="4870037">
                  <a:moveTo>
                    <a:pt x="431514" y="86"/>
                  </a:moveTo>
                  <a:cubicBezTo>
                    <a:pt x="417815" y="1798"/>
                    <a:pt x="393676" y="45066"/>
                    <a:pt x="369869" y="61731"/>
                  </a:cubicBezTo>
                  <a:cubicBezTo>
                    <a:pt x="358301" y="69829"/>
                    <a:pt x="341752" y="66444"/>
                    <a:pt x="328773" y="72006"/>
                  </a:cubicBezTo>
                  <a:cubicBezTo>
                    <a:pt x="189375" y="131749"/>
                    <a:pt x="396986" y="59542"/>
                    <a:pt x="267128" y="102828"/>
                  </a:cubicBezTo>
                  <a:cubicBezTo>
                    <a:pt x="246491" y="133782"/>
                    <a:pt x="241673" y="138249"/>
                    <a:pt x="226031" y="174747"/>
                  </a:cubicBezTo>
                  <a:cubicBezTo>
                    <a:pt x="221765" y="184701"/>
                    <a:pt x="221764" y="196559"/>
                    <a:pt x="215757" y="205570"/>
                  </a:cubicBezTo>
                  <a:cubicBezTo>
                    <a:pt x="207698" y="217659"/>
                    <a:pt x="194237" y="225230"/>
                    <a:pt x="184935" y="236392"/>
                  </a:cubicBezTo>
                  <a:cubicBezTo>
                    <a:pt x="113415" y="322215"/>
                    <a:pt x="223609" y="207992"/>
                    <a:pt x="133564" y="298037"/>
                  </a:cubicBezTo>
                  <a:cubicBezTo>
                    <a:pt x="140452" y="339365"/>
                    <a:pt x="135493" y="361611"/>
                    <a:pt x="164386" y="390504"/>
                  </a:cubicBezTo>
                  <a:cubicBezTo>
                    <a:pt x="173118" y="399236"/>
                    <a:pt x="184935" y="404203"/>
                    <a:pt x="195209" y="411053"/>
                  </a:cubicBezTo>
                  <a:cubicBezTo>
                    <a:pt x="205483" y="428177"/>
                    <a:pt x="213035" y="447262"/>
                    <a:pt x="226031" y="462424"/>
                  </a:cubicBezTo>
                  <a:cubicBezTo>
                    <a:pt x="246321" y="486096"/>
                    <a:pt x="270354" y="485362"/>
                    <a:pt x="297950" y="493246"/>
                  </a:cubicBezTo>
                  <a:cubicBezTo>
                    <a:pt x="308363" y="496221"/>
                    <a:pt x="318499" y="500095"/>
                    <a:pt x="328773" y="503520"/>
                  </a:cubicBezTo>
                  <a:cubicBezTo>
                    <a:pt x="349321" y="517219"/>
                    <a:pt x="382608" y="521188"/>
                    <a:pt x="390418" y="544617"/>
                  </a:cubicBezTo>
                  <a:cubicBezTo>
                    <a:pt x="403755" y="584629"/>
                    <a:pt x="393034" y="567781"/>
                    <a:pt x="421240" y="595988"/>
                  </a:cubicBezTo>
                  <a:cubicBezTo>
                    <a:pt x="380143" y="613111"/>
                    <a:pt x="340186" y="633278"/>
                    <a:pt x="297950" y="647358"/>
                  </a:cubicBezTo>
                  <a:cubicBezTo>
                    <a:pt x="287676" y="650783"/>
                    <a:pt x="276814" y="652790"/>
                    <a:pt x="267128" y="657633"/>
                  </a:cubicBezTo>
                  <a:cubicBezTo>
                    <a:pt x="249267" y="666564"/>
                    <a:pt x="233618" y="679525"/>
                    <a:pt x="215757" y="688455"/>
                  </a:cubicBezTo>
                  <a:cubicBezTo>
                    <a:pt x="199333" y="696667"/>
                    <a:pt x="159202" y="704613"/>
                    <a:pt x="143838" y="709003"/>
                  </a:cubicBezTo>
                  <a:cubicBezTo>
                    <a:pt x="133425" y="711978"/>
                    <a:pt x="123289" y="715853"/>
                    <a:pt x="113015" y="719278"/>
                  </a:cubicBezTo>
                  <a:cubicBezTo>
                    <a:pt x="119865" y="729552"/>
                    <a:pt x="123922" y="742386"/>
                    <a:pt x="133564" y="750100"/>
                  </a:cubicBezTo>
                  <a:cubicBezTo>
                    <a:pt x="142021" y="756865"/>
                    <a:pt x="153880" y="757747"/>
                    <a:pt x="164386" y="760374"/>
                  </a:cubicBezTo>
                  <a:cubicBezTo>
                    <a:pt x="181327" y="764609"/>
                    <a:pt x="198710" y="766860"/>
                    <a:pt x="215757" y="770648"/>
                  </a:cubicBezTo>
                  <a:cubicBezTo>
                    <a:pt x="229541" y="773711"/>
                    <a:pt x="243155" y="777497"/>
                    <a:pt x="256854" y="780922"/>
                  </a:cubicBezTo>
                  <a:cubicBezTo>
                    <a:pt x="263703" y="787772"/>
                    <a:pt x="272418" y="793165"/>
                    <a:pt x="277402" y="801471"/>
                  </a:cubicBezTo>
                  <a:cubicBezTo>
                    <a:pt x="289647" y="821879"/>
                    <a:pt x="294777" y="879657"/>
                    <a:pt x="297950" y="893938"/>
                  </a:cubicBezTo>
                  <a:cubicBezTo>
                    <a:pt x="300299" y="904510"/>
                    <a:pt x="305249" y="914348"/>
                    <a:pt x="308224" y="924761"/>
                  </a:cubicBezTo>
                  <a:cubicBezTo>
                    <a:pt x="312103" y="938338"/>
                    <a:pt x="312184" y="953227"/>
                    <a:pt x="318499" y="965857"/>
                  </a:cubicBezTo>
                  <a:cubicBezTo>
                    <a:pt x="322831" y="974521"/>
                    <a:pt x="332198" y="979556"/>
                    <a:pt x="339047" y="986406"/>
                  </a:cubicBezTo>
                  <a:cubicBezTo>
                    <a:pt x="364871" y="1063879"/>
                    <a:pt x="327032" y="971386"/>
                    <a:pt x="380144" y="1037776"/>
                  </a:cubicBezTo>
                  <a:cubicBezTo>
                    <a:pt x="386910" y="1046233"/>
                    <a:pt x="386993" y="1058325"/>
                    <a:pt x="390418" y="1068599"/>
                  </a:cubicBezTo>
                  <a:cubicBezTo>
                    <a:pt x="373294" y="1072024"/>
                    <a:pt x="354666" y="1071064"/>
                    <a:pt x="339047" y="1078873"/>
                  </a:cubicBezTo>
                  <a:cubicBezTo>
                    <a:pt x="326051" y="1085371"/>
                    <a:pt x="320314" y="1101635"/>
                    <a:pt x="308224" y="1109695"/>
                  </a:cubicBezTo>
                  <a:cubicBezTo>
                    <a:pt x="299213" y="1115702"/>
                    <a:pt x="287676" y="1116545"/>
                    <a:pt x="277402" y="1119970"/>
                  </a:cubicBezTo>
                  <a:cubicBezTo>
                    <a:pt x="204171" y="1193199"/>
                    <a:pt x="287288" y="1114114"/>
                    <a:pt x="215757" y="1171340"/>
                  </a:cubicBezTo>
                  <a:cubicBezTo>
                    <a:pt x="208193" y="1177391"/>
                    <a:pt x="202773" y="1185838"/>
                    <a:pt x="195209" y="1191889"/>
                  </a:cubicBezTo>
                  <a:cubicBezTo>
                    <a:pt x="166758" y="1214650"/>
                    <a:pt x="166117" y="1211860"/>
                    <a:pt x="133564" y="1222711"/>
                  </a:cubicBezTo>
                  <a:cubicBezTo>
                    <a:pt x="126714" y="1229561"/>
                    <a:pt x="113015" y="1233573"/>
                    <a:pt x="113015" y="1243260"/>
                  </a:cubicBezTo>
                  <a:cubicBezTo>
                    <a:pt x="113015" y="1252947"/>
                    <a:pt x="126122" y="1257607"/>
                    <a:pt x="133564" y="1263808"/>
                  </a:cubicBezTo>
                  <a:cubicBezTo>
                    <a:pt x="151646" y="1278876"/>
                    <a:pt x="184132" y="1301835"/>
                    <a:pt x="205483" y="1315179"/>
                  </a:cubicBezTo>
                  <a:cubicBezTo>
                    <a:pt x="222417" y="1325763"/>
                    <a:pt x="239920" y="1335417"/>
                    <a:pt x="256854" y="1346001"/>
                  </a:cubicBezTo>
                  <a:cubicBezTo>
                    <a:pt x="267325" y="1352545"/>
                    <a:pt x="276392" y="1361534"/>
                    <a:pt x="287676" y="1366549"/>
                  </a:cubicBezTo>
                  <a:cubicBezTo>
                    <a:pt x="307469" y="1375346"/>
                    <a:pt x="349321" y="1387098"/>
                    <a:pt x="349321" y="1387098"/>
                  </a:cubicBezTo>
                  <a:cubicBezTo>
                    <a:pt x="356170" y="1397372"/>
                    <a:pt x="364854" y="1406636"/>
                    <a:pt x="369869" y="1417920"/>
                  </a:cubicBezTo>
                  <a:cubicBezTo>
                    <a:pt x="378666" y="1437713"/>
                    <a:pt x="390418" y="1479565"/>
                    <a:pt x="390418" y="1479565"/>
                  </a:cubicBezTo>
                  <a:cubicBezTo>
                    <a:pt x="339336" y="1530647"/>
                    <a:pt x="368116" y="1515963"/>
                    <a:pt x="308224" y="1530936"/>
                  </a:cubicBezTo>
                  <a:cubicBezTo>
                    <a:pt x="297950" y="1537785"/>
                    <a:pt x="287044" y="1543770"/>
                    <a:pt x="277402" y="1551484"/>
                  </a:cubicBezTo>
                  <a:cubicBezTo>
                    <a:pt x="269838" y="1557535"/>
                    <a:pt x="264603" y="1566221"/>
                    <a:pt x="256854" y="1572033"/>
                  </a:cubicBezTo>
                  <a:cubicBezTo>
                    <a:pt x="237097" y="1586851"/>
                    <a:pt x="215757" y="1599430"/>
                    <a:pt x="195209" y="1613129"/>
                  </a:cubicBezTo>
                  <a:lnTo>
                    <a:pt x="164386" y="1633678"/>
                  </a:lnTo>
                  <a:cubicBezTo>
                    <a:pt x="130139" y="1685048"/>
                    <a:pt x="102742" y="1685048"/>
                    <a:pt x="143838" y="1726145"/>
                  </a:cubicBezTo>
                  <a:cubicBezTo>
                    <a:pt x="152569" y="1734876"/>
                    <a:pt x="165018" y="1738979"/>
                    <a:pt x="174660" y="1746693"/>
                  </a:cubicBezTo>
                  <a:cubicBezTo>
                    <a:pt x="182224" y="1752744"/>
                    <a:pt x="186545" y="1762910"/>
                    <a:pt x="195209" y="1767242"/>
                  </a:cubicBezTo>
                  <a:cubicBezTo>
                    <a:pt x="231531" y="1785403"/>
                    <a:pt x="261082" y="1787004"/>
                    <a:pt x="297950" y="1798064"/>
                  </a:cubicBezTo>
                  <a:cubicBezTo>
                    <a:pt x="318696" y="1804288"/>
                    <a:pt x="359595" y="1818612"/>
                    <a:pt x="359595" y="1818612"/>
                  </a:cubicBezTo>
                  <a:cubicBezTo>
                    <a:pt x="387435" y="1846452"/>
                    <a:pt x="406096" y="1854153"/>
                    <a:pt x="369869" y="1911080"/>
                  </a:cubicBezTo>
                  <a:cubicBezTo>
                    <a:pt x="356610" y="1931915"/>
                    <a:pt x="308224" y="1952176"/>
                    <a:pt x="308224" y="1952176"/>
                  </a:cubicBezTo>
                  <a:cubicBezTo>
                    <a:pt x="234809" y="2062303"/>
                    <a:pt x="349132" y="1895179"/>
                    <a:pt x="256854" y="2013821"/>
                  </a:cubicBezTo>
                  <a:cubicBezTo>
                    <a:pt x="241692" y="2033315"/>
                    <a:pt x="215757" y="2075466"/>
                    <a:pt x="215757" y="2075466"/>
                  </a:cubicBezTo>
                  <a:cubicBezTo>
                    <a:pt x="212332" y="2085740"/>
                    <a:pt x="205483" y="2095459"/>
                    <a:pt x="205483" y="2106289"/>
                  </a:cubicBezTo>
                  <a:cubicBezTo>
                    <a:pt x="205483" y="2133900"/>
                    <a:pt x="208492" y="2161844"/>
                    <a:pt x="215757" y="2188482"/>
                  </a:cubicBezTo>
                  <a:cubicBezTo>
                    <a:pt x="226695" y="2228589"/>
                    <a:pt x="238289" y="2215159"/>
                    <a:pt x="267128" y="2229579"/>
                  </a:cubicBezTo>
                  <a:cubicBezTo>
                    <a:pt x="293048" y="2242539"/>
                    <a:pt x="299387" y="2251564"/>
                    <a:pt x="318499" y="2270675"/>
                  </a:cubicBezTo>
                  <a:cubicBezTo>
                    <a:pt x="315074" y="2308347"/>
                    <a:pt x="320947" y="2348067"/>
                    <a:pt x="308224" y="2383691"/>
                  </a:cubicBezTo>
                  <a:cubicBezTo>
                    <a:pt x="302465" y="2399817"/>
                    <a:pt x="279236" y="2402405"/>
                    <a:pt x="267128" y="2414513"/>
                  </a:cubicBezTo>
                  <a:cubicBezTo>
                    <a:pt x="209040" y="2472601"/>
                    <a:pt x="293646" y="2421803"/>
                    <a:pt x="205483" y="2465884"/>
                  </a:cubicBezTo>
                  <a:cubicBezTo>
                    <a:pt x="162818" y="2529881"/>
                    <a:pt x="134429" y="2531297"/>
                    <a:pt x="215757" y="2537803"/>
                  </a:cubicBezTo>
                  <a:cubicBezTo>
                    <a:pt x="284118" y="2543272"/>
                    <a:pt x="352746" y="2544653"/>
                    <a:pt x="421240" y="2548078"/>
                  </a:cubicBezTo>
                  <a:cubicBezTo>
                    <a:pt x="432315" y="2550847"/>
                    <a:pt x="491233" y="2555785"/>
                    <a:pt x="482885" y="2589174"/>
                  </a:cubicBezTo>
                  <a:cubicBezTo>
                    <a:pt x="471980" y="2632791"/>
                    <a:pt x="408658" y="2658830"/>
                    <a:pt x="380144" y="2681642"/>
                  </a:cubicBezTo>
                  <a:cubicBezTo>
                    <a:pt x="365016" y="2693744"/>
                    <a:pt x="353627" y="2709981"/>
                    <a:pt x="339047" y="2722738"/>
                  </a:cubicBezTo>
                  <a:cubicBezTo>
                    <a:pt x="218126" y="2828543"/>
                    <a:pt x="395548" y="2655962"/>
                    <a:pt x="246579" y="2804931"/>
                  </a:cubicBezTo>
                  <a:cubicBezTo>
                    <a:pt x="239729" y="2811781"/>
                    <a:pt x="231404" y="2817420"/>
                    <a:pt x="226031" y="2825480"/>
                  </a:cubicBezTo>
                  <a:cubicBezTo>
                    <a:pt x="200110" y="2864362"/>
                    <a:pt x="214214" y="2847571"/>
                    <a:pt x="184935" y="2876851"/>
                  </a:cubicBezTo>
                  <a:cubicBezTo>
                    <a:pt x="191784" y="2893974"/>
                    <a:pt x="194764" y="2913214"/>
                    <a:pt x="205483" y="2928221"/>
                  </a:cubicBezTo>
                  <a:cubicBezTo>
                    <a:pt x="212660" y="2938269"/>
                    <a:pt x="227574" y="2940039"/>
                    <a:pt x="236305" y="2948770"/>
                  </a:cubicBezTo>
                  <a:cubicBezTo>
                    <a:pt x="248413" y="2960878"/>
                    <a:pt x="256166" y="2976711"/>
                    <a:pt x="267128" y="2989866"/>
                  </a:cubicBezTo>
                  <a:cubicBezTo>
                    <a:pt x="273329" y="2997307"/>
                    <a:pt x="281625" y="3002851"/>
                    <a:pt x="287676" y="3010415"/>
                  </a:cubicBezTo>
                  <a:cubicBezTo>
                    <a:pt x="310438" y="3038868"/>
                    <a:pt x="307647" y="3039505"/>
                    <a:pt x="318499" y="3072060"/>
                  </a:cubicBezTo>
                  <a:cubicBezTo>
                    <a:pt x="303771" y="3116239"/>
                    <a:pt x="313703" y="3113840"/>
                    <a:pt x="246579" y="3123430"/>
                  </a:cubicBezTo>
                  <a:lnTo>
                    <a:pt x="102741" y="3143979"/>
                  </a:lnTo>
                  <a:cubicBezTo>
                    <a:pt x="95241" y="3146979"/>
                    <a:pt x="24552" y="3164001"/>
                    <a:pt x="30822" y="3195349"/>
                  </a:cubicBezTo>
                  <a:cubicBezTo>
                    <a:pt x="32429" y="3203384"/>
                    <a:pt x="102642" y="3236434"/>
                    <a:pt x="102741" y="3236446"/>
                  </a:cubicBezTo>
                  <a:cubicBezTo>
                    <a:pt x="174229" y="3245024"/>
                    <a:pt x="246580" y="3243295"/>
                    <a:pt x="318499" y="3246720"/>
                  </a:cubicBezTo>
                  <a:cubicBezTo>
                    <a:pt x="325348" y="3256994"/>
                    <a:pt x="334183" y="3266193"/>
                    <a:pt x="339047" y="3277543"/>
                  </a:cubicBezTo>
                  <a:cubicBezTo>
                    <a:pt x="367449" y="3343816"/>
                    <a:pt x="328512" y="3297829"/>
                    <a:pt x="369869" y="3339188"/>
                  </a:cubicBezTo>
                  <a:cubicBezTo>
                    <a:pt x="363020" y="3366586"/>
                    <a:pt x="364986" y="3397883"/>
                    <a:pt x="349321" y="3421381"/>
                  </a:cubicBezTo>
                  <a:cubicBezTo>
                    <a:pt x="341488" y="3433130"/>
                    <a:pt x="321203" y="3426093"/>
                    <a:pt x="308224" y="3431655"/>
                  </a:cubicBezTo>
                  <a:cubicBezTo>
                    <a:pt x="296875" y="3436519"/>
                    <a:pt x="288446" y="3446681"/>
                    <a:pt x="277402" y="3452203"/>
                  </a:cubicBezTo>
                  <a:cubicBezTo>
                    <a:pt x="260906" y="3460451"/>
                    <a:pt x="242527" y="3464504"/>
                    <a:pt x="226031" y="3472752"/>
                  </a:cubicBezTo>
                  <a:cubicBezTo>
                    <a:pt x="208170" y="3481683"/>
                    <a:pt x="192116" y="3493876"/>
                    <a:pt x="174660" y="3503574"/>
                  </a:cubicBezTo>
                  <a:cubicBezTo>
                    <a:pt x="161272" y="3511012"/>
                    <a:pt x="146862" y="3516523"/>
                    <a:pt x="133564" y="3524122"/>
                  </a:cubicBezTo>
                  <a:cubicBezTo>
                    <a:pt x="77796" y="3555990"/>
                    <a:pt x="128430" y="3536108"/>
                    <a:pt x="71919" y="3554945"/>
                  </a:cubicBezTo>
                  <a:cubicBezTo>
                    <a:pt x="68494" y="3565219"/>
                    <a:pt x="61645" y="3574937"/>
                    <a:pt x="61645" y="3585767"/>
                  </a:cubicBezTo>
                  <a:cubicBezTo>
                    <a:pt x="61645" y="3599888"/>
                    <a:pt x="63098" y="3615838"/>
                    <a:pt x="71919" y="3626864"/>
                  </a:cubicBezTo>
                  <a:cubicBezTo>
                    <a:pt x="78684" y="3635321"/>
                    <a:pt x="92235" y="3634511"/>
                    <a:pt x="102741" y="3637138"/>
                  </a:cubicBezTo>
                  <a:cubicBezTo>
                    <a:pt x="119682" y="3641373"/>
                    <a:pt x="136988" y="3643987"/>
                    <a:pt x="154112" y="3647412"/>
                  </a:cubicBezTo>
                  <a:lnTo>
                    <a:pt x="226031" y="3719331"/>
                  </a:lnTo>
                  <a:lnTo>
                    <a:pt x="246579" y="3739880"/>
                  </a:lnTo>
                  <a:cubicBezTo>
                    <a:pt x="239730" y="3774127"/>
                    <a:pt x="238568" y="3810024"/>
                    <a:pt x="226031" y="3842621"/>
                  </a:cubicBezTo>
                  <a:cubicBezTo>
                    <a:pt x="220815" y="3856182"/>
                    <a:pt x="204511" y="3862282"/>
                    <a:pt x="195209" y="3873444"/>
                  </a:cubicBezTo>
                  <a:cubicBezTo>
                    <a:pt x="181213" y="3890239"/>
                    <a:pt x="174035" y="3912861"/>
                    <a:pt x="154112" y="3924815"/>
                  </a:cubicBezTo>
                  <a:cubicBezTo>
                    <a:pt x="144826" y="3930387"/>
                    <a:pt x="133564" y="3931664"/>
                    <a:pt x="123290" y="3935089"/>
                  </a:cubicBezTo>
                  <a:cubicBezTo>
                    <a:pt x="116440" y="3941938"/>
                    <a:pt x="99678" y="3946447"/>
                    <a:pt x="102741" y="3955637"/>
                  </a:cubicBezTo>
                  <a:cubicBezTo>
                    <a:pt x="106166" y="3965911"/>
                    <a:pt x="122881" y="3964131"/>
                    <a:pt x="133564" y="3965911"/>
                  </a:cubicBezTo>
                  <a:cubicBezTo>
                    <a:pt x="164154" y="3971009"/>
                    <a:pt x="195258" y="3972338"/>
                    <a:pt x="226031" y="3976185"/>
                  </a:cubicBezTo>
                  <a:cubicBezTo>
                    <a:pt x="250060" y="3979189"/>
                    <a:pt x="273977" y="3983035"/>
                    <a:pt x="297950" y="3986460"/>
                  </a:cubicBezTo>
                  <a:cubicBezTo>
                    <a:pt x="301375" y="3996734"/>
                    <a:pt x="303381" y="4007596"/>
                    <a:pt x="308224" y="4017282"/>
                  </a:cubicBezTo>
                  <a:cubicBezTo>
                    <a:pt x="313746" y="4028326"/>
                    <a:pt x="328773" y="4035756"/>
                    <a:pt x="328773" y="4048104"/>
                  </a:cubicBezTo>
                  <a:cubicBezTo>
                    <a:pt x="328773" y="4066909"/>
                    <a:pt x="285879" y="4076101"/>
                    <a:pt x="277402" y="4078927"/>
                  </a:cubicBezTo>
                  <a:lnTo>
                    <a:pt x="236305" y="4140572"/>
                  </a:lnTo>
                  <a:cubicBezTo>
                    <a:pt x="229456" y="4150846"/>
                    <a:pt x="227471" y="4167489"/>
                    <a:pt x="215757" y="4171394"/>
                  </a:cubicBezTo>
                  <a:lnTo>
                    <a:pt x="184935" y="4181669"/>
                  </a:lnTo>
                  <a:cubicBezTo>
                    <a:pt x="176879" y="4197781"/>
                    <a:pt x="158357" y="4239069"/>
                    <a:pt x="143838" y="4253588"/>
                  </a:cubicBezTo>
                  <a:cubicBezTo>
                    <a:pt x="123922" y="4273504"/>
                    <a:pt x="107260" y="4276054"/>
                    <a:pt x="82193" y="4284410"/>
                  </a:cubicBezTo>
                  <a:cubicBezTo>
                    <a:pt x="152050" y="4307696"/>
                    <a:pt x="74720" y="4284311"/>
                    <a:pt x="205483" y="4304958"/>
                  </a:cubicBezTo>
                  <a:cubicBezTo>
                    <a:pt x="239981" y="4310405"/>
                    <a:pt x="308224" y="4325507"/>
                    <a:pt x="308224" y="4325507"/>
                  </a:cubicBezTo>
                  <a:cubicBezTo>
                    <a:pt x="318498" y="4332356"/>
                    <a:pt x="335142" y="4334341"/>
                    <a:pt x="339047" y="4346055"/>
                  </a:cubicBezTo>
                  <a:cubicBezTo>
                    <a:pt x="343512" y="4359451"/>
                    <a:pt x="339494" y="4377962"/>
                    <a:pt x="328773" y="4387152"/>
                  </a:cubicBezTo>
                  <a:cubicBezTo>
                    <a:pt x="312328" y="4401248"/>
                    <a:pt x="287484" y="4400298"/>
                    <a:pt x="267128" y="4407700"/>
                  </a:cubicBezTo>
                  <a:cubicBezTo>
                    <a:pt x="182013" y="4438650"/>
                    <a:pt x="249447" y="4419826"/>
                    <a:pt x="174660" y="4438522"/>
                  </a:cubicBezTo>
                  <a:cubicBezTo>
                    <a:pt x="157537" y="4452221"/>
                    <a:pt x="140833" y="4466462"/>
                    <a:pt x="123290" y="4479619"/>
                  </a:cubicBezTo>
                  <a:cubicBezTo>
                    <a:pt x="100176" y="4496955"/>
                    <a:pt x="88828" y="4498170"/>
                    <a:pt x="71919" y="4520716"/>
                  </a:cubicBezTo>
                  <a:cubicBezTo>
                    <a:pt x="-1812" y="4619024"/>
                    <a:pt x="62743" y="4550440"/>
                    <a:pt x="0" y="4613183"/>
                  </a:cubicBezTo>
                  <a:cubicBezTo>
                    <a:pt x="20548" y="4620032"/>
                    <a:pt x="41737" y="4625199"/>
                    <a:pt x="61645" y="4633731"/>
                  </a:cubicBezTo>
                  <a:cubicBezTo>
                    <a:pt x="89800" y="4645797"/>
                    <a:pt x="143838" y="4674828"/>
                    <a:pt x="143838" y="4674828"/>
                  </a:cubicBezTo>
                  <a:cubicBezTo>
                    <a:pt x="154112" y="4685102"/>
                    <a:pt x="163498" y="4696349"/>
                    <a:pt x="174660" y="4705651"/>
                  </a:cubicBezTo>
                  <a:cubicBezTo>
                    <a:pt x="184146" y="4713556"/>
                    <a:pt x="196751" y="4717468"/>
                    <a:pt x="205483" y="4726199"/>
                  </a:cubicBezTo>
                  <a:cubicBezTo>
                    <a:pt x="220000" y="4740716"/>
                    <a:pt x="226246" y="4767404"/>
                    <a:pt x="246579" y="4777570"/>
                  </a:cubicBezTo>
                  <a:cubicBezTo>
                    <a:pt x="246582" y="4777572"/>
                    <a:pt x="323634" y="4803254"/>
                    <a:pt x="339047" y="4808392"/>
                  </a:cubicBezTo>
                  <a:cubicBezTo>
                    <a:pt x="368428" y="4818185"/>
                    <a:pt x="378709" y="4822488"/>
                    <a:pt x="410966" y="4828940"/>
                  </a:cubicBezTo>
                  <a:cubicBezTo>
                    <a:pt x="431393" y="4833026"/>
                    <a:pt x="451989" y="4836269"/>
                    <a:pt x="472611" y="4839215"/>
                  </a:cubicBezTo>
                  <a:cubicBezTo>
                    <a:pt x="629077" y="4861568"/>
                    <a:pt x="600760" y="4857403"/>
                    <a:pt x="739739" y="4870037"/>
                  </a:cubicBezTo>
                  <a:cubicBezTo>
                    <a:pt x="771485" y="4838291"/>
                    <a:pt x="775025" y="4837657"/>
                    <a:pt x="801384" y="4798118"/>
                  </a:cubicBezTo>
                  <a:cubicBezTo>
                    <a:pt x="812214" y="4781872"/>
                    <a:pt x="837419" y="4735095"/>
                    <a:pt x="852755" y="4715925"/>
                  </a:cubicBezTo>
                  <a:cubicBezTo>
                    <a:pt x="858806" y="4708361"/>
                    <a:pt x="866454" y="4702226"/>
                    <a:pt x="873303" y="4695376"/>
                  </a:cubicBezTo>
                  <a:cubicBezTo>
                    <a:pt x="876728" y="4685102"/>
                    <a:pt x="879096" y="4674413"/>
                    <a:pt x="883577" y="4664554"/>
                  </a:cubicBezTo>
                  <a:cubicBezTo>
                    <a:pt x="896253" y="4636668"/>
                    <a:pt x="914988" y="4611421"/>
                    <a:pt x="924674" y="4582361"/>
                  </a:cubicBezTo>
                  <a:cubicBezTo>
                    <a:pt x="941834" y="4530879"/>
                    <a:pt x="954693" y="4489766"/>
                    <a:pt x="976045" y="4438522"/>
                  </a:cubicBezTo>
                  <a:cubicBezTo>
                    <a:pt x="981936" y="4424385"/>
                    <a:pt x="989744" y="4411125"/>
                    <a:pt x="996593" y="4397426"/>
                  </a:cubicBezTo>
                  <a:cubicBezTo>
                    <a:pt x="1000018" y="4370028"/>
                    <a:pt x="1002328" y="4342468"/>
                    <a:pt x="1006867" y="4315233"/>
                  </a:cubicBezTo>
                  <a:cubicBezTo>
                    <a:pt x="1012609" y="4280783"/>
                    <a:pt x="1020979" y="4246818"/>
                    <a:pt x="1027415" y="4212491"/>
                  </a:cubicBezTo>
                  <a:cubicBezTo>
                    <a:pt x="1031254" y="4192016"/>
                    <a:pt x="1034265" y="4171394"/>
                    <a:pt x="1037690" y="4150846"/>
                  </a:cubicBezTo>
                  <a:cubicBezTo>
                    <a:pt x="1041115" y="4068653"/>
                    <a:pt x="1042103" y="3986322"/>
                    <a:pt x="1047964" y="3904266"/>
                  </a:cubicBezTo>
                  <a:cubicBezTo>
                    <a:pt x="1052383" y="3842399"/>
                    <a:pt x="1067134" y="3781340"/>
                    <a:pt x="1068512" y="3719331"/>
                  </a:cubicBezTo>
                  <a:cubicBezTo>
                    <a:pt x="1070568" y="3626823"/>
                    <a:pt x="1064010" y="3534280"/>
                    <a:pt x="1058238" y="3441929"/>
                  </a:cubicBezTo>
                  <a:cubicBezTo>
                    <a:pt x="1057149" y="3424500"/>
                    <a:pt x="1050434" y="3407845"/>
                    <a:pt x="1047964" y="3390558"/>
                  </a:cubicBezTo>
                  <a:cubicBezTo>
                    <a:pt x="1043578" y="3359858"/>
                    <a:pt x="1041927" y="3328812"/>
                    <a:pt x="1037690" y="3298091"/>
                  </a:cubicBezTo>
                  <a:cubicBezTo>
                    <a:pt x="1028226" y="3229480"/>
                    <a:pt x="1006867" y="3092608"/>
                    <a:pt x="1006867" y="3092608"/>
                  </a:cubicBezTo>
                  <a:cubicBezTo>
                    <a:pt x="1003442" y="2527529"/>
                    <a:pt x="1002768" y="1962427"/>
                    <a:pt x="996593" y="1397372"/>
                  </a:cubicBezTo>
                  <a:cubicBezTo>
                    <a:pt x="995918" y="1335636"/>
                    <a:pt x="989060" y="1274116"/>
                    <a:pt x="986319" y="1212437"/>
                  </a:cubicBezTo>
                  <a:cubicBezTo>
                    <a:pt x="983416" y="1147114"/>
                    <a:pt x="976976" y="805198"/>
                    <a:pt x="955496" y="719278"/>
                  </a:cubicBezTo>
                  <a:cubicBezTo>
                    <a:pt x="939969" y="657167"/>
                    <a:pt x="949688" y="691579"/>
                    <a:pt x="924674" y="616536"/>
                  </a:cubicBezTo>
                  <a:cubicBezTo>
                    <a:pt x="921249" y="606262"/>
                    <a:pt x="917027" y="596220"/>
                    <a:pt x="914400" y="585713"/>
                  </a:cubicBezTo>
                  <a:cubicBezTo>
                    <a:pt x="907550" y="558315"/>
                    <a:pt x="909516" y="527018"/>
                    <a:pt x="893851" y="503520"/>
                  </a:cubicBezTo>
                  <a:lnTo>
                    <a:pt x="873303" y="472698"/>
                  </a:lnTo>
                  <a:cubicBezTo>
                    <a:pt x="848245" y="372463"/>
                    <a:pt x="878844" y="497632"/>
                    <a:pt x="852755" y="380230"/>
                  </a:cubicBezTo>
                  <a:cubicBezTo>
                    <a:pt x="849692" y="366446"/>
                    <a:pt x="848043" y="352113"/>
                    <a:pt x="842481" y="339134"/>
                  </a:cubicBezTo>
                  <a:cubicBezTo>
                    <a:pt x="837617" y="327784"/>
                    <a:pt x="828782" y="318585"/>
                    <a:pt x="821932" y="308311"/>
                  </a:cubicBezTo>
                  <a:lnTo>
                    <a:pt x="801384" y="246666"/>
                  </a:lnTo>
                  <a:cubicBezTo>
                    <a:pt x="797959" y="236392"/>
                    <a:pt x="798768" y="223502"/>
                    <a:pt x="791110" y="215844"/>
                  </a:cubicBezTo>
                  <a:lnTo>
                    <a:pt x="770561" y="195295"/>
                  </a:lnTo>
                  <a:cubicBezTo>
                    <a:pt x="754265" y="146406"/>
                    <a:pt x="771712" y="177724"/>
                    <a:pt x="729465" y="143925"/>
                  </a:cubicBezTo>
                  <a:cubicBezTo>
                    <a:pt x="721901" y="137874"/>
                    <a:pt x="717581" y="127708"/>
                    <a:pt x="708917" y="123376"/>
                  </a:cubicBezTo>
                  <a:cubicBezTo>
                    <a:pt x="674061" y="105948"/>
                    <a:pt x="623865" y="97052"/>
                    <a:pt x="585627" y="92554"/>
                  </a:cubicBezTo>
                  <a:cubicBezTo>
                    <a:pt x="548059" y="88134"/>
                    <a:pt x="510283" y="85705"/>
                    <a:pt x="472611" y="82280"/>
                  </a:cubicBezTo>
                  <a:cubicBezTo>
                    <a:pt x="465762" y="72006"/>
                    <a:pt x="456399" y="63019"/>
                    <a:pt x="452063" y="51457"/>
                  </a:cubicBezTo>
                  <a:cubicBezTo>
                    <a:pt x="441116" y="22266"/>
                    <a:pt x="445213" y="-1626"/>
                    <a:pt x="431514" y="8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662"/>
            </a:p>
          </p:txBody>
        </p:sp>
      </p:grpSp>
      <p:sp>
        <p:nvSpPr>
          <p:cNvPr id="14340" name="Rectangle 8">
            <a:extLst>
              <a:ext uri="{FF2B5EF4-FFF2-40B4-BE49-F238E27FC236}">
                <a16:creationId xmlns:a16="http://schemas.microsoft.com/office/drawing/2014/main" id="{982B4FFA-8BE9-44C8-8325-F1C19B927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697" y="845433"/>
            <a:ext cx="749916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GB" altLang="en-US" sz="2000" dirty="0">
                <a:latin typeface="Century Gothic" panose="020B0502020202020204" pitchFamily="34" charset="0"/>
              </a:rPr>
              <a:t>For computer analysis the data must have a clear </a:t>
            </a:r>
            <a:r>
              <a:rPr lang="en-GB" altLang="en-US" sz="2000" u="sng" dirty="0">
                <a:latin typeface="Century Gothic" panose="020B0502020202020204" pitchFamily="34" charset="0"/>
              </a:rPr>
              <a:t>structure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D47FE1D-9389-4CF5-A6C2-3DFFCAD4E813}"/>
              </a:ext>
            </a:extLst>
          </p:cNvPr>
          <p:cNvGrpSpPr/>
          <p:nvPr/>
        </p:nvGrpSpPr>
        <p:grpSpPr>
          <a:xfrm>
            <a:off x="3261947" y="1373066"/>
            <a:ext cx="5496658" cy="2455985"/>
            <a:chOff x="3533775" y="1201738"/>
            <a:chExt cx="5954713" cy="2660650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DC2AFB3-E35A-427E-8D49-50828136346E}"/>
                </a:ext>
              </a:extLst>
            </p:cNvPr>
            <p:cNvCxnSpPr>
              <a:cxnSpLocks/>
              <a:stCxn id="7" idx="4"/>
            </p:cNvCxnSpPr>
            <p:nvPr/>
          </p:nvCxnSpPr>
          <p:spPr>
            <a:xfrm flipH="1">
              <a:off x="3533775" y="2049463"/>
              <a:ext cx="4905375" cy="181292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17D9C28-5C47-4249-86B5-A1DAA1C4A84F}"/>
                </a:ext>
              </a:extLst>
            </p:cNvPr>
            <p:cNvCxnSpPr>
              <a:cxnSpLocks/>
              <a:stCxn id="7" idx="4"/>
            </p:cNvCxnSpPr>
            <p:nvPr/>
          </p:nvCxnSpPr>
          <p:spPr>
            <a:xfrm flipH="1">
              <a:off x="4572000" y="2049463"/>
              <a:ext cx="3867150" cy="171926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1F5A963-90D6-45E4-BE23-D1EA39EBD434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 flipH="1">
              <a:off x="5478463" y="1979613"/>
              <a:ext cx="3013075" cy="181768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53944D5-BC17-48EA-98C0-28F2F9D2084B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 flipH="1">
              <a:off x="6475413" y="1979613"/>
              <a:ext cx="2016125" cy="178911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2566F05-6233-454F-BB4F-E6987662644F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 flipH="1">
              <a:off x="7631113" y="1979613"/>
              <a:ext cx="860425" cy="188277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4346" name="Group 34">
              <a:extLst>
                <a:ext uri="{FF2B5EF4-FFF2-40B4-BE49-F238E27FC236}">
                  <a16:creationId xmlns:a16="http://schemas.microsoft.com/office/drawing/2014/main" id="{44297A7D-BF40-4DC3-9C58-A61A1A6FA4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48525" y="1201738"/>
              <a:ext cx="2239963" cy="814387"/>
              <a:chOff x="7247683" y="1152085"/>
              <a:chExt cx="2239767" cy="814409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BA8AED72-B907-44CF-BE33-E1BD6F760166}"/>
                  </a:ext>
                </a:extLst>
              </p:cNvPr>
              <p:cNvSpPr/>
              <p:nvPr/>
            </p:nvSpPr>
            <p:spPr>
              <a:xfrm>
                <a:off x="7366736" y="1152085"/>
                <a:ext cx="2030234" cy="814409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662"/>
              </a:p>
            </p:txBody>
          </p:sp>
          <p:sp>
            <p:nvSpPr>
              <p:cNvPr id="14352" name="TextBox 32">
                <a:extLst>
                  <a:ext uri="{FF2B5EF4-FFF2-40B4-BE49-F238E27FC236}">
                    <a16:creationId xmlns:a16="http://schemas.microsoft.com/office/drawing/2014/main" id="{169EAEC4-3B48-4FD7-9C3A-0ED43F4712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47683" y="1263311"/>
                <a:ext cx="2239767" cy="5308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GB" altLang="en-US" sz="1292" dirty="0"/>
                  <a:t>Columns of information are called ‘variables’</a:t>
                </a: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B2ED881-9072-4B47-B314-C63452C3F31A}"/>
              </a:ext>
            </a:extLst>
          </p:cNvPr>
          <p:cNvGrpSpPr/>
          <p:nvPr/>
        </p:nvGrpSpPr>
        <p:grpSpPr>
          <a:xfrm>
            <a:off x="156797" y="4879731"/>
            <a:ext cx="4687765" cy="984738"/>
            <a:chOff x="169863" y="5000625"/>
            <a:chExt cx="5078412" cy="1066800"/>
          </a:xfrm>
        </p:grpSpPr>
        <p:grpSp>
          <p:nvGrpSpPr>
            <p:cNvPr id="14347" name="Group 40">
              <a:extLst>
                <a:ext uri="{FF2B5EF4-FFF2-40B4-BE49-F238E27FC236}">
                  <a16:creationId xmlns:a16="http://schemas.microsoft.com/office/drawing/2014/main" id="{B1733E66-9552-4EA7-A50D-3B3FE8EF32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863" y="5253038"/>
              <a:ext cx="2239962" cy="814387"/>
              <a:chOff x="7262228" y="1152085"/>
              <a:chExt cx="2239767" cy="814409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EAFCE228-857A-4665-A022-0E408E7C0218}"/>
                  </a:ext>
                </a:extLst>
              </p:cNvPr>
              <p:cNvSpPr/>
              <p:nvPr/>
            </p:nvSpPr>
            <p:spPr>
              <a:xfrm>
                <a:off x="7366994" y="1152085"/>
                <a:ext cx="2030235" cy="814409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662"/>
              </a:p>
            </p:txBody>
          </p:sp>
          <p:sp>
            <p:nvSpPr>
              <p:cNvPr id="14350" name="TextBox 42">
                <a:extLst>
                  <a:ext uri="{FF2B5EF4-FFF2-40B4-BE49-F238E27FC236}">
                    <a16:creationId xmlns:a16="http://schemas.microsoft.com/office/drawing/2014/main" id="{F024826D-07FF-43FE-A692-7C6E05A494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62228" y="1302454"/>
                <a:ext cx="2239767" cy="5308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GB" altLang="en-US" sz="1292" dirty="0"/>
                  <a:t>One piece of information per cell</a:t>
                </a:r>
              </a:p>
            </p:txBody>
          </p:sp>
        </p:grp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E95485CC-C8A0-4727-B9F2-5526159487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19338" y="5000625"/>
              <a:ext cx="2928937" cy="66516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5977306" y="4973118"/>
            <a:ext cx="2664066" cy="1392512"/>
            <a:chOff x="5977306" y="4973118"/>
            <a:chExt cx="2664066" cy="1392512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AFCE228-857A-4665-A022-0E408E7C0218}"/>
                </a:ext>
              </a:extLst>
            </p:cNvPr>
            <p:cNvSpPr/>
            <p:nvPr/>
          </p:nvSpPr>
          <p:spPr bwMode="auto">
            <a:xfrm>
              <a:off x="6670430" y="5613889"/>
              <a:ext cx="1874226" cy="751741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662"/>
            </a:p>
          </p:txBody>
        </p:sp>
        <p:sp>
          <p:nvSpPr>
            <p:cNvPr id="25" name="TextBox 42">
              <a:extLst>
                <a:ext uri="{FF2B5EF4-FFF2-40B4-BE49-F238E27FC236}">
                  <a16:creationId xmlns:a16="http://schemas.microsoft.com/office/drawing/2014/main" id="{F024826D-07FF-43FE-A692-7C6E05A494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3715" y="5752687"/>
              <a:ext cx="2067657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GB" altLang="en-US" sz="1292" dirty="0"/>
                <a:t>Consistently recorded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E95485CC-C8A0-4727-B9F2-5526159487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77306" y="4973118"/>
              <a:ext cx="679934" cy="66694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6D741BB-B0A4-0A50-4E4E-B10CDF99594B}"/>
              </a:ext>
            </a:extLst>
          </p:cNvPr>
          <p:cNvGrpSpPr/>
          <p:nvPr/>
        </p:nvGrpSpPr>
        <p:grpSpPr>
          <a:xfrm>
            <a:off x="2948906" y="5150427"/>
            <a:ext cx="2777188" cy="1653212"/>
            <a:chOff x="2948906" y="5150427"/>
            <a:chExt cx="2777188" cy="1653212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7AF9FC6-3CA1-7368-0C2A-B7927A65573B}"/>
                </a:ext>
              </a:extLst>
            </p:cNvPr>
            <p:cNvGrpSpPr/>
            <p:nvPr/>
          </p:nvGrpSpPr>
          <p:grpSpPr>
            <a:xfrm>
              <a:off x="2948906" y="5150427"/>
              <a:ext cx="2067659" cy="1653212"/>
              <a:chOff x="2137173" y="4756241"/>
              <a:chExt cx="2239963" cy="1790981"/>
            </a:xfrm>
          </p:grpSpPr>
          <p:grpSp>
            <p:nvGrpSpPr>
              <p:cNvPr id="5" name="Group 40">
                <a:extLst>
                  <a:ext uri="{FF2B5EF4-FFF2-40B4-BE49-F238E27FC236}">
                    <a16:creationId xmlns:a16="http://schemas.microsoft.com/office/drawing/2014/main" id="{9B19CAEB-EA2B-ABCC-7ED1-767013CD08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37173" y="5732835"/>
                <a:ext cx="2239963" cy="814387"/>
                <a:chOff x="9229366" y="1631895"/>
                <a:chExt cx="2239768" cy="814409"/>
              </a:xfrm>
            </p:grpSpPr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2AF6783B-2A52-4E44-F347-27E61F337B16}"/>
                    </a:ext>
                  </a:extLst>
                </p:cNvPr>
                <p:cNvSpPr/>
                <p:nvPr/>
              </p:nvSpPr>
              <p:spPr>
                <a:xfrm>
                  <a:off x="9334133" y="1631895"/>
                  <a:ext cx="2030235" cy="814409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GB" sz="1662"/>
                </a:p>
              </p:txBody>
            </p:sp>
            <p:sp>
              <p:nvSpPr>
                <p:cNvPr id="16" name="TextBox 42">
                  <a:extLst>
                    <a:ext uri="{FF2B5EF4-FFF2-40B4-BE49-F238E27FC236}">
                      <a16:creationId xmlns:a16="http://schemas.microsoft.com/office/drawing/2014/main" id="{81B66871-E191-1597-69FF-4518600EE5F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229366" y="1835611"/>
                  <a:ext cx="2239768" cy="5308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GB" altLang="en-US" sz="1292" dirty="0"/>
                    <a:t>Can be numeric or alphabetic</a:t>
                  </a:r>
                </a:p>
              </p:txBody>
            </p:sp>
          </p:grp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8F95F4DB-A085-0A6A-FECE-A799ECB5E3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99532" y="4756241"/>
                <a:ext cx="419564" cy="107632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B57779B-0664-FF07-9CB5-129CF5FED9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68090" y="5251526"/>
              <a:ext cx="1158004" cy="91712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57281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69932" y="779040"/>
            <a:ext cx="26462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340">
              <a:spcBef>
                <a:spcPts val="2000"/>
              </a:spcBef>
              <a:spcAft>
                <a:spcPts val="500"/>
              </a:spcAft>
            </a:pPr>
            <a:r>
              <a:rPr lang="en-US" sz="3200" kern="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Types of Data</a:t>
            </a:r>
            <a:endParaRPr lang="en-GB" sz="3200" b="1" kern="0" dirty="0">
              <a:solidFill>
                <a:srgbClr val="000000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26775" y="2246130"/>
            <a:ext cx="692075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GB" altLang="en-US" sz="2000" dirty="0">
                <a:latin typeface="Century Gothic" panose="020B0502020202020204" pitchFamily="34" charset="0"/>
              </a:rPr>
              <a:t>To produce descriptive statistics appropriately requires knowledge of different </a:t>
            </a:r>
            <a:r>
              <a:rPr lang="en-GB" altLang="en-US" sz="2000" b="1" dirty="0">
                <a:latin typeface="Century Gothic" panose="020B0502020202020204" pitchFamily="34" charset="0"/>
              </a:rPr>
              <a:t>data types</a:t>
            </a:r>
            <a:r>
              <a:rPr lang="en-GB" altLang="en-US" sz="2000" dirty="0">
                <a:latin typeface="Century Gothic" panose="020B0502020202020204" pitchFamily="34" charset="0"/>
              </a:rPr>
              <a:t>. 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6775" y="3589929"/>
            <a:ext cx="654423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en-US" sz="2000" dirty="0">
                <a:latin typeface="Century Gothic" panose="020B0502020202020204" pitchFamily="34" charset="0"/>
              </a:rPr>
              <a:t>Broadly, data are either </a:t>
            </a:r>
            <a:r>
              <a:rPr lang="en-GB" altLang="en-US" sz="2000" b="1" i="1" dirty="0">
                <a:solidFill>
                  <a:srgbClr val="ED7D31"/>
                </a:solidFill>
                <a:latin typeface="Century Gothic" panose="020B0502020202020204" pitchFamily="34" charset="0"/>
              </a:rPr>
              <a:t>numerical</a:t>
            </a:r>
            <a:r>
              <a:rPr lang="en-GB" altLang="en-US" sz="2000" b="1" dirty="0">
                <a:solidFill>
                  <a:srgbClr val="ED7D31"/>
                </a:solidFill>
                <a:latin typeface="Century Gothic" panose="020B0502020202020204" pitchFamily="34" charset="0"/>
              </a:rPr>
              <a:t> or </a:t>
            </a:r>
            <a:r>
              <a:rPr lang="en-GB" altLang="en-US" sz="2000" b="1" i="1" dirty="0">
                <a:solidFill>
                  <a:srgbClr val="ED7D31"/>
                </a:solidFill>
                <a:latin typeface="Century Gothic" panose="020B0502020202020204" pitchFamily="34" charset="0"/>
              </a:rPr>
              <a:t>categorical</a:t>
            </a:r>
            <a:endParaRPr lang="en-US" altLang="en-US" sz="2000" b="1" dirty="0">
              <a:solidFill>
                <a:srgbClr val="ED7D3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883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2916238" y="1484313"/>
            <a:ext cx="3313112" cy="1152525"/>
            <a:chOff x="2916238" y="1484313"/>
            <a:chExt cx="3313112" cy="1152525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" name="Rectangle 5"/>
            <p:cNvSpPr>
              <a:spLocks noChangeArrowheads="1"/>
            </p:cNvSpPr>
            <p:nvPr/>
          </p:nvSpPr>
          <p:spPr bwMode="auto">
            <a:xfrm>
              <a:off x="2916238" y="1484313"/>
              <a:ext cx="3313112" cy="1152525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3056756" y="1601961"/>
              <a:ext cx="3032075" cy="90794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b="1" dirty="0">
                  <a:latin typeface="Century Gothic" panose="020B0502020202020204" pitchFamily="34" charset="0"/>
                </a:rPr>
                <a:t>Numerical (quantitative)</a:t>
              </a:r>
            </a:p>
            <a:p>
              <a:pPr algn="ctr" eaLnBrk="1" hangingPunct="1">
                <a:spcBef>
                  <a:spcPct val="50000"/>
                </a:spcBef>
              </a:pPr>
              <a:r>
                <a:rPr lang="en-GB" altLang="en-US" sz="1400" dirty="0">
                  <a:latin typeface="Century Gothic" panose="020B0502020202020204" pitchFamily="34" charset="0"/>
                </a:rPr>
                <a:t>Values are counts or measurements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931637" y="3640610"/>
            <a:ext cx="3506771" cy="1223619"/>
            <a:chOff x="631596" y="3640612"/>
            <a:chExt cx="3506771" cy="122361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Rectangle 10"/>
            <p:cNvSpPr>
              <a:spLocks noChangeArrowheads="1"/>
            </p:cNvSpPr>
            <p:nvPr/>
          </p:nvSpPr>
          <p:spPr bwMode="auto">
            <a:xfrm>
              <a:off x="631596" y="3640612"/>
              <a:ext cx="3506771" cy="122361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" name="Text Box 8"/>
            <p:cNvSpPr txBox="1">
              <a:spLocks noChangeArrowheads="1"/>
            </p:cNvSpPr>
            <p:nvPr/>
          </p:nvSpPr>
          <p:spPr bwMode="auto">
            <a:xfrm>
              <a:off x="680498" y="3781779"/>
              <a:ext cx="3278760" cy="1005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1080"/>
                </a:spcBef>
              </a:pPr>
              <a:r>
                <a:rPr lang="en-GB" altLang="en-US" b="1" dirty="0">
                  <a:latin typeface="Century Gothic" panose="020B0502020202020204" pitchFamily="34" charset="0"/>
                </a:rPr>
                <a:t>Discrete</a:t>
              </a:r>
            </a:p>
            <a:p>
              <a:pPr eaLnBrk="1" hangingPunct="1">
                <a:spcBef>
                  <a:spcPts val="1080"/>
                </a:spcBef>
              </a:pPr>
              <a:r>
                <a:rPr lang="en-GB" altLang="en-US" sz="1400" dirty="0">
                  <a:latin typeface="Century Gothic" panose="020B0502020202020204" pitchFamily="34" charset="0"/>
                </a:rPr>
                <a:t>Values arise from </a:t>
              </a:r>
              <a:r>
                <a:rPr lang="en-GB" altLang="en-US" sz="1400" b="1" i="1" dirty="0">
                  <a:latin typeface="Century Gothic" panose="020B0502020202020204" pitchFamily="34" charset="0"/>
                </a:rPr>
                <a:t>counting</a:t>
              </a:r>
              <a:r>
                <a:rPr lang="en-GB" altLang="en-US" sz="1400" b="1" dirty="0">
                  <a:latin typeface="Century Gothic" panose="020B0502020202020204" pitchFamily="34" charset="0"/>
                </a:rPr>
                <a:t> </a:t>
              </a:r>
              <a:r>
                <a:rPr lang="en-GB" altLang="en-US" sz="1400" dirty="0">
                  <a:latin typeface="Century Gothic" panose="020B0502020202020204" pitchFamily="34" charset="0"/>
                </a:rPr>
                <a:t>process</a:t>
              </a:r>
            </a:p>
            <a:p>
              <a:pPr eaLnBrk="1" hangingPunct="1">
                <a:spcBef>
                  <a:spcPts val="840"/>
                </a:spcBef>
              </a:pPr>
              <a:r>
                <a:rPr lang="en-GB" altLang="en-US" sz="1200" dirty="0">
                  <a:latin typeface="Century Gothic" panose="020B0502020202020204" pitchFamily="34" charset="0"/>
                </a:rPr>
                <a:t>(e.g. number of tumours)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820468" y="3501775"/>
            <a:ext cx="3795631" cy="1501290"/>
            <a:chOff x="5763149" y="3562069"/>
            <a:chExt cx="3795631" cy="150129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5763149" y="3562069"/>
              <a:ext cx="3795631" cy="150129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" name="Text Box 9"/>
            <p:cNvSpPr txBox="1">
              <a:spLocks noChangeArrowheads="1"/>
            </p:cNvSpPr>
            <p:nvPr/>
          </p:nvSpPr>
          <p:spPr bwMode="auto">
            <a:xfrm>
              <a:off x="5825061" y="3748562"/>
              <a:ext cx="3582889" cy="11900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ts val="1080"/>
                </a:spcBef>
              </a:pPr>
              <a:r>
                <a:rPr lang="en-GB" altLang="en-US" b="1" dirty="0">
                  <a:latin typeface="Century Gothic" panose="020B0502020202020204" pitchFamily="34" charset="0"/>
                </a:rPr>
                <a:t>Continuous</a:t>
              </a:r>
            </a:p>
            <a:p>
              <a:pPr eaLnBrk="1" hangingPunct="1">
                <a:spcBef>
                  <a:spcPts val="1080"/>
                </a:spcBef>
              </a:pPr>
              <a:r>
                <a:rPr lang="en-GB" altLang="en-US" sz="1400" dirty="0">
                  <a:latin typeface="Century Gothic" panose="020B0502020202020204" pitchFamily="34" charset="0"/>
                </a:rPr>
                <a:t>Values arise from </a:t>
              </a:r>
              <a:r>
                <a:rPr lang="en-GB" altLang="en-US" sz="1400" b="1" i="1" dirty="0">
                  <a:latin typeface="Century Gothic" panose="020B0502020202020204" pitchFamily="34" charset="0"/>
                </a:rPr>
                <a:t>measuring</a:t>
              </a:r>
              <a:r>
                <a:rPr lang="en-GB" altLang="en-US" sz="1400" dirty="0">
                  <a:latin typeface="Century Gothic" panose="020B0502020202020204" pitchFamily="34" charset="0"/>
                </a:rPr>
                <a:t> process</a:t>
              </a:r>
            </a:p>
            <a:p>
              <a:pPr eaLnBrk="1" hangingPunct="1">
                <a:spcBef>
                  <a:spcPts val="840"/>
                </a:spcBef>
              </a:pPr>
              <a:r>
                <a:rPr lang="en-GB" altLang="en-US" sz="1200" dirty="0">
                  <a:latin typeface="Century Gothic" panose="020B0502020202020204" pitchFamily="34" charset="0"/>
                </a:rPr>
                <a:t>(e.g. height, tumour size, planning treatment volume, age, overall survival, weight, FEV1)</a:t>
              </a:r>
            </a:p>
          </p:txBody>
        </p:sp>
      </p:grpSp>
      <p:sp>
        <p:nvSpPr>
          <p:cNvPr id="2" name="Arrow: Left 1">
            <a:extLst>
              <a:ext uri="{FF2B5EF4-FFF2-40B4-BE49-F238E27FC236}">
                <a16:creationId xmlns:a16="http://schemas.microsoft.com/office/drawing/2014/main" id="{EF2C4066-C75B-5054-CB59-48D12E29ABE8}"/>
              </a:ext>
            </a:extLst>
          </p:cNvPr>
          <p:cNvSpPr/>
          <p:nvPr/>
        </p:nvSpPr>
        <p:spPr>
          <a:xfrm rot="18373405">
            <a:off x="2537722" y="3006935"/>
            <a:ext cx="1498600" cy="325594"/>
          </a:xfrm>
          <a:prstGeom prst="lef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rrow: Left 2">
            <a:extLst>
              <a:ext uri="{FF2B5EF4-FFF2-40B4-BE49-F238E27FC236}">
                <a16:creationId xmlns:a16="http://schemas.microsoft.com/office/drawing/2014/main" id="{11196CBD-442F-011C-0C28-D2074C3F4B33}"/>
              </a:ext>
            </a:extLst>
          </p:cNvPr>
          <p:cNvSpPr/>
          <p:nvPr/>
        </p:nvSpPr>
        <p:spPr>
          <a:xfrm rot="14287170">
            <a:off x="5031461" y="2969728"/>
            <a:ext cx="1498600" cy="325594"/>
          </a:xfrm>
          <a:prstGeom prst="lef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1020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785432" y="1449388"/>
            <a:ext cx="3588454" cy="1266917"/>
          </a:xfrm>
          <a:prstGeom prst="rect">
            <a:avLst/>
          </a:prstGeom>
          <a:solidFill>
            <a:schemeClr val="bg1"/>
          </a:solidFill>
          <a:ln w="6350" cap="flat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118779" y="1634177"/>
            <a:ext cx="275235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Categorical (qualitative)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3191806" y="2102609"/>
            <a:ext cx="267933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tells us which category an individual belongs to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706445" y="4014282"/>
            <a:ext cx="3378314" cy="1702640"/>
            <a:chOff x="706445" y="4014282"/>
            <a:chExt cx="3378314" cy="170264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706445" y="4014282"/>
              <a:ext cx="3378314" cy="1702640"/>
            </a:xfrm>
            <a:prstGeom prst="rect">
              <a:avLst/>
            </a:prstGeom>
            <a:solidFill>
              <a:srgbClr val="FFFFFF"/>
            </a:solidFill>
            <a:ln w="6350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1622677" y="4205716"/>
              <a:ext cx="160620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entury Gothic" panose="020B0502020202020204" pitchFamily="34" charset="0"/>
                </a:rPr>
                <a:t>Nominal scale</a:t>
              </a:r>
              <a:endPara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801695" y="4640577"/>
              <a:ext cx="3187814" cy="861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entury Gothic" panose="020B0502020202020204" pitchFamily="34" charset="0"/>
                </a:rPr>
                <a:t>Categories distinguished by a 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entury Gothic" panose="020B0502020202020204" pitchFamily="34" charset="0"/>
                </a:rPr>
                <a:t>name</a:t>
              </a:r>
              <a:r>
                <a:rPr kumimoji="0" lang="en-US" altLang="en-US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entury Gothic" panose="020B0502020202020204" pitchFamily="34" charset="0"/>
                </a:rPr>
                <a:t> with 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entury Gothic" panose="020B0502020202020204" pitchFamily="34" charset="0"/>
                </a:rPr>
                <a:t>no intrinsic ordering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400" dirty="0">
                  <a:solidFill>
                    <a:srgbClr val="000000"/>
                  </a:solidFill>
                  <a:latin typeface="Century Gothic" panose="020B0502020202020204" pitchFamily="34" charset="0"/>
                </a:rPr>
                <a:t>(e.g. sex, histology, cancer type, postcode)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entury Gothic" panose="020B0502020202020204" pitchFamily="34" charset="0"/>
                </a:rPr>
                <a:t> </a:t>
              </a:r>
              <a:endPara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4878632" y="3642659"/>
            <a:ext cx="3831602" cy="1404471"/>
            <a:chOff x="4878632" y="3642659"/>
            <a:chExt cx="3831602" cy="1404471"/>
          </a:xfrm>
        </p:grpSpPr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4878632" y="3642659"/>
              <a:ext cx="3831602" cy="1404471"/>
            </a:xfrm>
            <a:prstGeom prst="rect">
              <a:avLst/>
            </a:prstGeom>
            <a:solidFill>
              <a:srgbClr val="FFFFFF"/>
            </a:solidFill>
            <a:ln w="6350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6049036" y="3737283"/>
              <a:ext cx="149079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entury Gothic" panose="020B0502020202020204" pitchFamily="34" charset="0"/>
                </a:rPr>
                <a:t>Ordinal scale</a:t>
              </a:r>
              <a:endPara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9" name="Rectangle 19"/>
            <p:cNvSpPr>
              <a:spLocks noChangeArrowheads="1"/>
            </p:cNvSpPr>
            <p:nvPr/>
          </p:nvSpPr>
          <p:spPr bwMode="auto">
            <a:xfrm>
              <a:off x="5298141" y="4105058"/>
              <a:ext cx="3186743" cy="775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entury Gothic" panose="020B0502020202020204" pitchFamily="34" charset="0"/>
                </a:rPr>
                <a:t>Categories distinguished by name with intrinsic ordering</a:t>
              </a:r>
            </a:p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400" dirty="0">
                  <a:solidFill>
                    <a:srgbClr val="000000"/>
                  </a:solidFill>
                  <a:latin typeface="Century Gothic" panose="020B0502020202020204" pitchFamily="34" charset="0"/>
                </a:rPr>
                <a:t>(</a:t>
              </a:r>
              <a:r>
                <a:rPr lang="en-US" altLang="en-US" sz="1400" dirty="0" err="1">
                  <a:solidFill>
                    <a:srgbClr val="000000"/>
                  </a:solidFill>
                  <a:latin typeface="Century Gothic" panose="020B0502020202020204" pitchFamily="34" charset="0"/>
                </a:rPr>
                <a:t>e.g</a:t>
              </a:r>
              <a:r>
                <a:rPr lang="en-US" altLang="en-US" sz="1400" dirty="0">
                  <a:solidFill>
                    <a:srgbClr val="000000"/>
                  </a:solidFill>
                  <a:latin typeface="Century Gothic" panose="020B0502020202020204" pitchFamily="34" charset="0"/>
                </a:rPr>
                <a:t> performance status, toxicity)</a:t>
              </a:r>
              <a:r>
                <a:rPr kumimoji="0" lang="en-US" altLang="en-US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entury Gothic" panose="020B0502020202020204" pitchFamily="34" charset="0"/>
                </a:rPr>
                <a:t> </a:t>
              </a:r>
              <a:endPara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sp>
        <p:nvSpPr>
          <p:cNvPr id="21" name="Rectangle 21"/>
          <p:cNvSpPr>
            <a:spLocks noChangeArrowheads="1"/>
          </p:cNvSpPr>
          <p:nvPr/>
        </p:nvSpPr>
        <p:spPr bwMode="auto">
          <a:xfrm>
            <a:off x="7098776" y="4025807"/>
            <a:ext cx="117475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Arrow: Left 1">
            <a:extLst>
              <a:ext uri="{FF2B5EF4-FFF2-40B4-BE49-F238E27FC236}">
                <a16:creationId xmlns:a16="http://schemas.microsoft.com/office/drawing/2014/main" id="{59012B61-C531-2354-77F5-15F9F294B29B}"/>
              </a:ext>
            </a:extLst>
          </p:cNvPr>
          <p:cNvSpPr/>
          <p:nvPr/>
        </p:nvSpPr>
        <p:spPr>
          <a:xfrm rot="18373405">
            <a:off x="2248083" y="3224269"/>
            <a:ext cx="1783070" cy="341384"/>
          </a:xfrm>
          <a:prstGeom prst="lef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rrow: Left 2">
            <a:extLst>
              <a:ext uri="{FF2B5EF4-FFF2-40B4-BE49-F238E27FC236}">
                <a16:creationId xmlns:a16="http://schemas.microsoft.com/office/drawing/2014/main" id="{3B398C61-F1C2-490B-CC5B-31F6E3400B32}"/>
              </a:ext>
            </a:extLst>
          </p:cNvPr>
          <p:cNvSpPr/>
          <p:nvPr/>
        </p:nvSpPr>
        <p:spPr>
          <a:xfrm rot="14287170">
            <a:off x="4770264" y="3089787"/>
            <a:ext cx="1498600" cy="325594"/>
          </a:xfrm>
          <a:prstGeom prst="lef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292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400" b="212"/>
          <a:stretch/>
        </p:blipFill>
        <p:spPr>
          <a:xfrm>
            <a:off x="0" y="584684"/>
            <a:ext cx="9180512" cy="568863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750233" y="698798"/>
            <a:ext cx="56435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GB" altLang="en-US" sz="2400" dirty="0"/>
              <a:t>A sample of 6 week old Burmese kittens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8F4040-F7DF-4074-97CA-B5B2F949E6EA}"/>
              </a:ext>
            </a:extLst>
          </p:cNvPr>
          <p:cNvSpPr/>
          <p:nvPr/>
        </p:nvSpPr>
        <p:spPr>
          <a:xfrm>
            <a:off x="1650094" y="5784019"/>
            <a:ext cx="61941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GB" altLang="en-US" sz="2000" dirty="0"/>
              <a:t>Identify 2 continuous variables and 2 categorical variables</a:t>
            </a:r>
          </a:p>
        </p:txBody>
      </p:sp>
    </p:spTree>
    <p:extLst>
      <p:ext uri="{BB962C8B-B14F-4D97-AF65-F5344CB8AC3E}">
        <p14:creationId xmlns:p14="http://schemas.microsoft.com/office/powerpoint/2010/main" val="1867995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47751" y="2627090"/>
            <a:ext cx="7571738" cy="803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88595">
              <a:lnSpc>
                <a:spcPct val="120000"/>
              </a:lnSpc>
            </a:pPr>
            <a:r>
              <a:rPr lang="en-US" sz="2000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 categorical measure with only two categories (for example alive or dead) is called </a:t>
            </a:r>
            <a:r>
              <a:rPr lang="en-US" sz="2000" b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dichotomous</a:t>
            </a:r>
            <a:r>
              <a:rPr lang="en-US" sz="2000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en-GB" sz="2000" dirty="0">
              <a:effectLst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47750" y="3844836"/>
            <a:ext cx="75717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000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Sometimes the categories of a dichotomous variable are labeled 0 and 1, and called a </a:t>
            </a:r>
            <a:r>
              <a:rPr lang="en-US" sz="2000" b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binary variable</a:t>
            </a:r>
            <a:r>
              <a:rPr lang="en-US" sz="2000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GB" sz="2000" dirty="0"/>
          </a:p>
        </p:txBody>
      </p:sp>
      <p:sp>
        <p:nvSpPr>
          <p:cNvPr id="4" name="Rectangle 3"/>
          <p:cNvSpPr/>
          <p:nvPr/>
        </p:nvSpPr>
        <p:spPr>
          <a:xfrm>
            <a:off x="1047749" y="1639652"/>
            <a:ext cx="7571739" cy="5029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88595">
              <a:lnSpc>
                <a:spcPct val="120000"/>
              </a:lnSpc>
            </a:pPr>
            <a:r>
              <a:rPr lang="en-US" sz="2400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Binary variables</a:t>
            </a:r>
            <a:endParaRPr lang="en-GB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829144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3840" y="1603451"/>
            <a:ext cx="7093324" cy="426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GB" sz="2000" dirty="0">
                <a:latin typeface="Century Gothic" panose="020B0502020202020204" pitchFamily="34" charset="0"/>
              </a:rPr>
              <a:t>Usually, we compare 2 separate groups of individuals. 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5046" y="2576492"/>
            <a:ext cx="70821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latin typeface="Century Gothic" panose="020B0502020202020204" pitchFamily="34" charset="0"/>
              </a:rPr>
              <a:t>Sometimes data may consist of paired of observations from the same individuals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59848" y="3571537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i="1" dirty="0">
                <a:latin typeface="Century Gothic" panose="020B0502020202020204" pitchFamily="34" charset="0"/>
              </a:rPr>
              <a:t>Tumour size before or after treatment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5046" y="6029583"/>
            <a:ext cx="72711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latin typeface="Century Gothic" panose="020B0502020202020204" pitchFamily="34" charset="0"/>
              </a:rPr>
              <a:t>It is important to be able to recognise ‘paired’ data 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1185046" y="701515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2400" dirty="0">
                <a:latin typeface="Century Gothic" panose="020B0502020202020204" pitchFamily="34" charset="0"/>
              </a:rPr>
              <a:t>Paired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59848" y="412853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i="1" dirty="0">
                <a:latin typeface="Century Gothic" panose="020B0502020202020204" pitchFamily="34" charset="0"/>
              </a:rPr>
              <a:t>PS recorded on same patients by 2 separate clinicians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AE4C19-7179-CA32-319D-68D49E25859E}"/>
              </a:ext>
            </a:extLst>
          </p:cNvPr>
          <p:cNvSpPr/>
          <p:nvPr/>
        </p:nvSpPr>
        <p:spPr>
          <a:xfrm>
            <a:off x="2759848" y="4931383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i="1" dirty="0">
                <a:latin typeface="Century Gothic" panose="020B0502020202020204" pitchFamily="34" charset="0"/>
              </a:rPr>
              <a:t>Pain score recorded on 2 separate occasions</a:t>
            </a:r>
          </a:p>
        </p:txBody>
      </p:sp>
    </p:spTree>
    <p:extLst>
      <p:ext uri="{BB962C8B-B14F-4D97-AF65-F5344CB8AC3E}">
        <p14:creationId xmlns:p14="http://schemas.microsoft.com/office/powerpoint/2010/main" val="507966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43196" y="875767"/>
            <a:ext cx="589757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/>
              <a:t>Graphics and descriptive statistics </a:t>
            </a:r>
          </a:p>
        </p:txBody>
      </p:sp>
      <p:sp>
        <p:nvSpPr>
          <p:cNvPr id="5" name="Rectangle 4"/>
          <p:cNvSpPr/>
          <p:nvPr/>
        </p:nvSpPr>
        <p:spPr>
          <a:xfrm>
            <a:off x="1343197" y="2018522"/>
            <a:ext cx="434606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latin typeface="Century Gothic" panose="020B0502020202020204" pitchFamily="34" charset="0"/>
              </a:rPr>
              <a:t>Identify the main features of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1343197" y="2825629"/>
            <a:ext cx="19607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latin typeface="Century Gothic" panose="020B0502020202020204" pitchFamily="34" charset="0"/>
              </a:rPr>
              <a:t>Detect outliers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43196" y="3632736"/>
            <a:ext cx="555183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latin typeface="Century Gothic" panose="020B0502020202020204" pitchFamily="34" charset="0"/>
              </a:rPr>
              <a:t>Identifying data which has been recorded incorrectly</a:t>
            </a:r>
          </a:p>
        </p:txBody>
      </p:sp>
      <p:sp>
        <p:nvSpPr>
          <p:cNvPr id="8" name="Rectangle 7"/>
          <p:cNvSpPr/>
          <p:nvPr/>
        </p:nvSpPr>
        <p:spPr>
          <a:xfrm>
            <a:off x="1343196" y="4731372"/>
            <a:ext cx="66159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GB" sz="2000" dirty="0">
                <a:latin typeface="Century Gothic" panose="020B0502020202020204" pitchFamily="34" charset="0"/>
              </a:rPr>
              <a:t>Includes frequency tables, histograms, bar charts, pie charts, </a:t>
            </a:r>
            <a:r>
              <a:rPr lang="en-GB" sz="2000" dirty="0" err="1">
                <a:latin typeface="Century Gothic" panose="020B0502020202020204" pitchFamily="34" charset="0"/>
              </a:rPr>
              <a:t>scattergraphs</a:t>
            </a:r>
            <a:r>
              <a:rPr lang="en-GB" sz="2000" dirty="0">
                <a:latin typeface="Century Gothic" panose="020B0502020202020204" pitchFamily="34" charset="0"/>
              </a:rPr>
              <a:t>, contingency tables, box plots </a:t>
            </a:r>
          </a:p>
        </p:txBody>
      </p:sp>
    </p:spTree>
    <p:extLst>
      <p:ext uri="{BB962C8B-B14F-4D97-AF65-F5344CB8AC3E}">
        <p14:creationId xmlns:p14="http://schemas.microsoft.com/office/powerpoint/2010/main" val="3713129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37887" y="903074"/>
            <a:ext cx="5129546" cy="6438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40404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Frequency Distribution Tables</a:t>
            </a:r>
            <a:endParaRPr lang="en-GB" sz="3200" dirty="0">
              <a:solidFill>
                <a:srgbClr val="404040"/>
              </a:solidFill>
              <a:effectLst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37887" y="2059680"/>
            <a:ext cx="6517341" cy="795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GB" sz="2000" b="1" dirty="0">
                <a:latin typeface="Century Gothic" panose="020B0502020202020204" pitchFamily="34" charset="0"/>
              </a:rPr>
              <a:t>Frequency count </a:t>
            </a:r>
            <a:r>
              <a:rPr lang="en-GB" sz="2000" dirty="0">
                <a:latin typeface="Century Gothic" panose="020B0502020202020204" pitchFamily="34" charset="0"/>
              </a:rPr>
              <a:t>- a count of the number of times something occurs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7887" y="3236748"/>
            <a:ext cx="5916706" cy="804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000000"/>
                </a:solidFill>
                <a:latin typeface="Century Gothic" panose="020B0502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Within a data set we list the data values and count how many times each value occurs.</a:t>
            </a:r>
            <a:endParaRPr lang="en-GB" sz="2000" dirty="0"/>
          </a:p>
        </p:txBody>
      </p:sp>
      <p:sp>
        <p:nvSpPr>
          <p:cNvPr id="5" name="Rectangle 4"/>
          <p:cNvSpPr/>
          <p:nvPr/>
        </p:nvSpPr>
        <p:spPr>
          <a:xfrm>
            <a:off x="1237887" y="4422344"/>
            <a:ext cx="6795247" cy="795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GB" sz="2000" dirty="0">
                <a:latin typeface="Century Gothic" panose="020B0502020202020204" pitchFamily="34" charset="0"/>
              </a:rPr>
              <a:t>A </a:t>
            </a:r>
            <a:r>
              <a:rPr lang="en-GB" sz="2000" b="1" dirty="0">
                <a:latin typeface="Century Gothic" panose="020B0502020202020204" pitchFamily="34" charset="0"/>
              </a:rPr>
              <a:t>frequency distribution table </a:t>
            </a:r>
            <a:r>
              <a:rPr lang="en-GB" sz="2000" dirty="0">
                <a:latin typeface="Century Gothic" panose="020B0502020202020204" pitchFamily="34" charset="0"/>
              </a:rPr>
              <a:t>lists data values and the frequency each value occurs</a:t>
            </a:r>
          </a:p>
        </p:txBody>
      </p:sp>
    </p:spTree>
    <p:extLst>
      <p:ext uri="{BB962C8B-B14F-4D97-AF65-F5344CB8AC3E}">
        <p14:creationId xmlns:p14="http://schemas.microsoft.com/office/powerpoint/2010/main" val="4021867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122046"/>
              </p:ext>
            </p:extLst>
          </p:nvPr>
        </p:nvGraphicFramePr>
        <p:xfrm>
          <a:off x="1863181" y="1601857"/>
          <a:ext cx="5266173" cy="3127717"/>
        </p:xfrm>
        <a:graphic>
          <a:graphicData uri="http://schemas.openxmlformats.org/drawingml/2006/table">
            <a:tbl>
              <a:tblPr firstRow="1" firstCol="1" bandRow="1"/>
              <a:tblGrid>
                <a:gridCol w="1728337">
                  <a:extLst>
                    <a:ext uri="{9D8B030D-6E8A-4147-A177-3AD203B41FA5}">
                      <a16:colId xmlns:a16="http://schemas.microsoft.com/office/drawing/2014/main" val="604482374"/>
                    </a:ext>
                  </a:extLst>
                </a:gridCol>
                <a:gridCol w="1554845">
                  <a:extLst>
                    <a:ext uri="{9D8B030D-6E8A-4147-A177-3AD203B41FA5}">
                      <a16:colId xmlns:a16="http://schemas.microsoft.com/office/drawing/2014/main" val="1439996774"/>
                    </a:ext>
                  </a:extLst>
                </a:gridCol>
                <a:gridCol w="1982991">
                  <a:extLst>
                    <a:ext uri="{9D8B030D-6E8A-4147-A177-3AD203B41FA5}">
                      <a16:colId xmlns:a16="http://schemas.microsoft.com/office/drawing/2014/main" val="3985500402"/>
                    </a:ext>
                  </a:extLst>
                </a:gridCol>
              </a:tblGrid>
              <a:tr h="87882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Number of brain metastases</a:t>
                      </a:r>
                      <a:endParaRPr lang="en-GB" sz="18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684" marR="121684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Number of patients (n)</a:t>
                      </a:r>
                      <a:endParaRPr lang="en-GB" sz="18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684" marR="121684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percent of patients (%)</a:t>
                      </a:r>
                      <a:endParaRPr lang="en-GB" sz="18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684" marR="121684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828325"/>
                  </a:ext>
                </a:extLst>
              </a:tr>
              <a:tr h="56222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en-GB" sz="18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684" marR="121684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19</a:t>
                      </a:r>
                      <a:endParaRPr lang="en-GB" sz="180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684" marR="121684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59.4</a:t>
                      </a:r>
                      <a:endParaRPr lang="en-GB" sz="180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684" marR="121684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654169"/>
                  </a:ext>
                </a:extLst>
              </a:tr>
              <a:tr h="56222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en-GB" sz="180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684" marR="12168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</a:t>
                      </a:r>
                      <a:endParaRPr lang="en-GB" sz="180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684" marR="12168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12.5</a:t>
                      </a:r>
                      <a:endParaRPr lang="en-GB" sz="180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684" marR="12168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8262988"/>
                  </a:ext>
                </a:extLst>
              </a:tr>
              <a:tr h="56222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 or more</a:t>
                      </a:r>
                      <a:endParaRPr lang="en-GB" sz="180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684" marR="12168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</a:t>
                      </a:r>
                      <a:endParaRPr lang="en-GB" sz="180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684" marR="12168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28.1</a:t>
                      </a:r>
                      <a:endParaRPr lang="en-GB" sz="18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684" marR="12168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8601335"/>
                  </a:ext>
                </a:extLst>
              </a:tr>
              <a:tr h="56222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Total</a:t>
                      </a:r>
                      <a:endParaRPr lang="en-GB" sz="18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684" marR="121684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32</a:t>
                      </a:r>
                      <a:endParaRPr lang="en-GB" sz="180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684" marR="121684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100</a:t>
                      </a:r>
                      <a:endParaRPr lang="en-GB" sz="18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684" marR="121684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0450661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406400" y="5288443"/>
            <a:ext cx="7098553" cy="4549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8595">
              <a:lnSpc>
                <a:spcPct val="150000"/>
              </a:lnSpc>
              <a:spcAft>
                <a:spcPts val="600"/>
              </a:spcAft>
            </a:pP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</a:t>
            </a:r>
            <a:r>
              <a:rPr lang="en-US" b="1" i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most</a:t>
            </a:r>
            <a:r>
              <a:rPr lang="en-US" i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frequent</a:t>
            </a: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category is called the </a:t>
            </a:r>
            <a:r>
              <a:rPr lang="en-US" b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mode</a:t>
            </a: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en-GB" kern="1400" dirty="0">
              <a:solidFill>
                <a:srgbClr val="2A7B88"/>
              </a:solidFill>
              <a:effectLst/>
              <a:latin typeface="Century Gothic" panose="020B0502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06400" y="5784646"/>
            <a:ext cx="873760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8595">
              <a:lnSpc>
                <a:spcPct val="150000"/>
              </a:lnSpc>
              <a:spcAft>
                <a:spcPts val="600"/>
              </a:spcAft>
            </a:pP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percentages sometimes expressed </a:t>
            </a:r>
            <a:r>
              <a:rPr lang="en-US" b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proportions</a:t>
            </a: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(0.594, 0.125, 0.281).</a:t>
            </a:r>
            <a:endParaRPr lang="en-GB" kern="1400" dirty="0">
              <a:solidFill>
                <a:srgbClr val="2A7B88"/>
              </a:solidFill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63181" y="458213"/>
            <a:ext cx="54176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340">
              <a:spcAft>
                <a:spcPts val="1400"/>
              </a:spcAft>
            </a:pPr>
            <a:r>
              <a:rPr lang="en-US" sz="3200" dirty="0">
                <a:solidFill>
                  <a:srgbClr val="40404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Frequency Distribution Tables</a:t>
            </a:r>
            <a:endParaRPr lang="en-GB" sz="3200" dirty="0">
              <a:solidFill>
                <a:srgbClr val="404040"/>
              </a:solidFill>
              <a:effectLst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524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71368" y="3948976"/>
            <a:ext cx="7458619" cy="796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88595">
              <a:lnSpc>
                <a:spcPct val="120000"/>
              </a:lnSpc>
            </a:pPr>
            <a:r>
              <a:rPr lang="en-US" sz="2000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frequency distribution table then includes data groupings and the frequency of each group.</a:t>
            </a:r>
            <a:endParaRPr lang="en-GB" sz="2000" kern="1400" dirty="0">
              <a:solidFill>
                <a:srgbClr val="2A7B88"/>
              </a:solidFill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1368" y="979271"/>
            <a:ext cx="6687472" cy="6438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40404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Grouped Frequency Distribution Tables</a:t>
            </a:r>
            <a:endParaRPr lang="en-GB" sz="3200" dirty="0">
              <a:solidFill>
                <a:srgbClr val="404040"/>
              </a:solidFill>
              <a:effectLst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71368" y="2545052"/>
            <a:ext cx="7867443" cy="795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88595">
              <a:lnSpc>
                <a:spcPct val="120000"/>
              </a:lnSpc>
            </a:pPr>
            <a:r>
              <a:rPr lang="en-US" sz="2000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When there are many data values - data are grouped </a:t>
            </a:r>
          </a:p>
          <a:p>
            <a:pPr marR="188595">
              <a:lnSpc>
                <a:spcPct val="120000"/>
              </a:lnSpc>
            </a:pPr>
            <a:r>
              <a:rPr lang="en-US" sz="2000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kern="1400" dirty="0" err="1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e.g</a:t>
            </a:r>
            <a:r>
              <a:rPr lang="en-US" sz="2000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– age groups 20-29, 30-39, 40-49, 50-59, 60-69, </a:t>
            </a:r>
            <a:r>
              <a:rPr lang="en-US" sz="2000" kern="1400" dirty="0" err="1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etc</a:t>
            </a:r>
            <a:r>
              <a:rPr lang="en-US" sz="2000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2790052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3"/>
          <p:cNvSpPr>
            <a:spLocks noChangeAspect="1" noChangeArrowheads="1" noTextEdit="1"/>
          </p:cNvSpPr>
          <p:nvPr/>
        </p:nvSpPr>
        <p:spPr bwMode="auto">
          <a:xfrm>
            <a:off x="2054225" y="1943554"/>
            <a:ext cx="5695950" cy="425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" name="Freeform 5"/>
          <p:cNvSpPr>
            <a:spLocks noEditPoints="1"/>
          </p:cNvSpPr>
          <p:nvPr/>
        </p:nvSpPr>
        <p:spPr bwMode="auto">
          <a:xfrm>
            <a:off x="3462338" y="2045154"/>
            <a:ext cx="82550" cy="3219450"/>
          </a:xfrm>
          <a:custGeom>
            <a:avLst/>
            <a:gdLst>
              <a:gd name="T0" fmla="*/ 35 w 52"/>
              <a:gd name="T1" fmla="*/ 2028 h 2028"/>
              <a:gd name="T2" fmla="*/ 35 w 52"/>
              <a:gd name="T3" fmla="*/ 44 h 2028"/>
              <a:gd name="T4" fmla="*/ 17 w 52"/>
              <a:gd name="T5" fmla="*/ 44 h 2028"/>
              <a:gd name="T6" fmla="*/ 17 w 52"/>
              <a:gd name="T7" fmla="*/ 2028 h 2028"/>
              <a:gd name="T8" fmla="*/ 35 w 52"/>
              <a:gd name="T9" fmla="*/ 2028 h 2028"/>
              <a:gd name="T10" fmla="*/ 52 w 52"/>
              <a:gd name="T11" fmla="*/ 53 h 2028"/>
              <a:gd name="T12" fmla="*/ 26 w 52"/>
              <a:gd name="T13" fmla="*/ 0 h 2028"/>
              <a:gd name="T14" fmla="*/ 0 w 52"/>
              <a:gd name="T15" fmla="*/ 53 h 2028"/>
              <a:gd name="T16" fmla="*/ 52 w 52"/>
              <a:gd name="T17" fmla="*/ 53 h 20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" h="2028">
                <a:moveTo>
                  <a:pt x="35" y="2028"/>
                </a:moveTo>
                <a:lnTo>
                  <a:pt x="35" y="44"/>
                </a:lnTo>
                <a:lnTo>
                  <a:pt x="17" y="44"/>
                </a:lnTo>
                <a:lnTo>
                  <a:pt x="17" y="2028"/>
                </a:lnTo>
                <a:lnTo>
                  <a:pt x="35" y="2028"/>
                </a:lnTo>
                <a:close/>
                <a:moveTo>
                  <a:pt x="52" y="53"/>
                </a:moveTo>
                <a:lnTo>
                  <a:pt x="26" y="0"/>
                </a:lnTo>
                <a:lnTo>
                  <a:pt x="0" y="53"/>
                </a:lnTo>
                <a:lnTo>
                  <a:pt x="52" y="53"/>
                </a:lnTo>
                <a:close/>
              </a:path>
            </a:pathLst>
          </a:custGeom>
          <a:solidFill>
            <a:srgbClr val="000000"/>
          </a:solidFill>
          <a:ln w="0" cap="flat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Freeform 6"/>
          <p:cNvSpPr>
            <a:spLocks noEditPoints="1"/>
          </p:cNvSpPr>
          <p:nvPr/>
        </p:nvSpPr>
        <p:spPr bwMode="auto">
          <a:xfrm>
            <a:off x="3568700" y="5296354"/>
            <a:ext cx="3978275" cy="84138"/>
          </a:xfrm>
          <a:custGeom>
            <a:avLst/>
            <a:gdLst>
              <a:gd name="T0" fmla="*/ 0 w 2506"/>
              <a:gd name="T1" fmla="*/ 18 h 53"/>
              <a:gd name="T2" fmla="*/ 2463 w 2506"/>
              <a:gd name="T3" fmla="*/ 18 h 53"/>
              <a:gd name="T4" fmla="*/ 2463 w 2506"/>
              <a:gd name="T5" fmla="*/ 35 h 53"/>
              <a:gd name="T6" fmla="*/ 0 w 2506"/>
              <a:gd name="T7" fmla="*/ 35 h 53"/>
              <a:gd name="T8" fmla="*/ 0 w 2506"/>
              <a:gd name="T9" fmla="*/ 18 h 53"/>
              <a:gd name="T10" fmla="*/ 2454 w 2506"/>
              <a:gd name="T11" fmla="*/ 0 h 53"/>
              <a:gd name="T12" fmla="*/ 2506 w 2506"/>
              <a:gd name="T13" fmla="*/ 27 h 53"/>
              <a:gd name="T14" fmla="*/ 2454 w 2506"/>
              <a:gd name="T15" fmla="*/ 53 h 53"/>
              <a:gd name="T16" fmla="*/ 2454 w 2506"/>
              <a:gd name="T17" fmla="*/ 0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06" h="53">
                <a:moveTo>
                  <a:pt x="0" y="18"/>
                </a:moveTo>
                <a:lnTo>
                  <a:pt x="2463" y="18"/>
                </a:lnTo>
                <a:lnTo>
                  <a:pt x="2463" y="35"/>
                </a:lnTo>
                <a:lnTo>
                  <a:pt x="0" y="35"/>
                </a:lnTo>
                <a:lnTo>
                  <a:pt x="0" y="18"/>
                </a:lnTo>
                <a:close/>
                <a:moveTo>
                  <a:pt x="2454" y="0"/>
                </a:moveTo>
                <a:lnTo>
                  <a:pt x="2506" y="27"/>
                </a:lnTo>
                <a:lnTo>
                  <a:pt x="2454" y="53"/>
                </a:lnTo>
                <a:lnTo>
                  <a:pt x="2454" y="0"/>
                </a:lnTo>
                <a:close/>
              </a:path>
            </a:pathLst>
          </a:custGeom>
          <a:solidFill>
            <a:srgbClr val="000000"/>
          </a:solidFill>
          <a:ln w="0" cap="flat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546600" y="3094492"/>
            <a:ext cx="628650" cy="2170113"/>
          </a:xfrm>
          <a:prstGeom prst="rect">
            <a:avLst/>
          </a:prstGeom>
          <a:solidFill>
            <a:srgbClr val="BBE0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4546600" y="3094492"/>
            <a:ext cx="628650" cy="2170113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grpSp>
        <p:nvGrpSpPr>
          <p:cNvPr id="2" name="Group 1"/>
          <p:cNvGrpSpPr/>
          <p:nvPr/>
        </p:nvGrpSpPr>
        <p:grpSpPr>
          <a:xfrm>
            <a:off x="5175250" y="3864429"/>
            <a:ext cx="627063" cy="1400175"/>
            <a:chOff x="5175250" y="3864429"/>
            <a:chExt cx="627063" cy="1400175"/>
          </a:xfrm>
        </p:grpSpPr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5175250" y="3864429"/>
              <a:ext cx="627063" cy="1400175"/>
            </a:xfrm>
            <a:prstGeom prst="rect">
              <a:avLst/>
            </a:prstGeom>
            <a:solidFill>
              <a:srgbClr val="BBE0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5175250" y="3864429"/>
              <a:ext cx="627063" cy="1400175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5802313" y="3446917"/>
            <a:ext cx="627063" cy="1817688"/>
            <a:chOff x="5802313" y="3446917"/>
            <a:chExt cx="627063" cy="1817688"/>
          </a:xfrm>
        </p:grpSpPr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5802313" y="3446917"/>
              <a:ext cx="627063" cy="1817688"/>
            </a:xfrm>
            <a:prstGeom prst="rect">
              <a:avLst/>
            </a:prstGeom>
            <a:solidFill>
              <a:srgbClr val="BBE0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5802313" y="3446917"/>
              <a:ext cx="627063" cy="1817688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2611438" y="1980067"/>
            <a:ext cx="739775" cy="38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y axis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6869113" y="5417004"/>
            <a:ext cx="747713" cy="38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x axis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5"/>
          <p:cNvSpPr>
            <a:spLocks noChangeArrowheads="1"/>
          </p:cNvSpPr>
          <p:nvPr/>
        </p:nvSpPr>
        <p:spPr bwMode="auto">
          <a:xfrm>
            <a:off x="2193925" y="2892879"/>
            <a:ext cx="1190625" cy="38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frequency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2193925" y="3289754"/>
            <a:ext cx="341313" cy="38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or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17"/>
          <p:cNvSpPr>
            <a:spLocks noChangeArrowheads="1"/>
          </p:cNvSpPr>
          <p:nvPr/>
        </p:nvSpPr>
        <p:spPr bwMode="auto">
          <a:xfrm>
            <a:off x="2193925" y="3688217"/>
            <a:ext cx="127317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% relative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2193925" y="3959679"/>
            <a:ext cx="1190625" cy="38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frequency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19"/>
          <p:cNvSpPr>
            <a:spLocks noChangeArrowheads="1"/>
          </p:cNvSpPr>
          <p:nvPr/>
        </p:nvSpPr>
        <p:spPr bwMode="auto">
          <a:xfrm>
            <a:off x="4565650" y="5764667"/>
            <a:ext cx="2041525" cy="38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Values of variable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Freeform 20"/>
          <p:cNvSpPr>
            <a:spLocks/>
          </p:cNvSpPr>
          <p:nvPr/>
        </p:nvSpPr>
        <p:spPr bwMode="auto">
          <a:xfrm>
            <a:off x="4546600" y="2815092"/>
            <a:ext cx="628650" cy="139700"/>
          </a:xfrm>
          <a:custGeom>
            <a:avLst/>
            <a:gdLst>
              <a:gd name="T0" fmla="*/ 0 w 1088"/>
              <a:gd name="T1" fmla="*/ 240 h 240"/>
              <a:gd name="T2" fmla="*/ 90 w 1088"/>
              <a:gd name="T3" fmla="*/ 120 h 240"/>
              <a:gd name="T4" fmla="*/ 455 w 1088"/>
              <a:gd name="T5" fmla="*/ 120 h 240"/>
              <a:gd name="T6" fmla="*/ 544 w 1088"/>
              <a:gd name="T7" fmla="*/ 0 h 240"/>
              <a:gd name="T8" fmla="*/ 634 w 1088"/>
              <a:gd name="T9" fmla="*/ 120 h 240"/>
              <a:gd name="T10" fmla="*/ 999 w 1088"/>
              <a:gd name="T11" fmla="*/ 120 h 240"/>
              <a:gd name="T12" fmla="*/ 1088 w 1088"/>
              <a:gd name="T13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88" h="240">
                <a:moveTo>
                  <a:pt x="0" y="240"/>
                </a:moveTo>
                <a:cubicBezTo>
                  <a:pt x="0" y="174"/>
                  <a:pt x="41" y="120"/>
                  <a:pt x="90" y="120"/>
                </a:cubicBezTo>
                <a:lnTo>
                  <a:pt x="455" y="120"/>
                </a:lnTo>
                <a:cubicBezTo>
                  <a:pt x="504" y="120"/>
                  <a:pt x="544" y="67"/>
                  <a:pt x="544" y="0"/>
                </a:cubicBezTo>
                <a:cubicBezTo>
                  <a:pt x="544" y="67"/>
                  <a:pt x="585" y="120"/>
                  <a:pt x="634" y="120"/>
                </a:cubicBezTo>
                <a:lnTo>
                  <a:pt x="999" y="120"/>
                </a:lnTo>
                <a:cubicBezTo>
                  <a:pt x="1048" y="120"/>
                  <a:pt x="1088" y="174"/>
                  <a:pt x="1088" y="240"/>
                </a:cubicBezTo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3" name="Rectangle 21"/>
          <p:cNvSpPr>
            <a:spLocks noChangeArrowheads="1"/>
          </p:cNvSpPr>
          <p:nvPr/>
        </p:nvSpPr>
        <p:spPr bwMode="auto">
          <a:xfrm>
            <a:off x="4216400" y="2470604"/>
            <a:ext cx="12684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group width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Line 22"/>
          <p:cNvSpPr>
            <a:spLocks noChangeShapeType="1"/>
          </p:cNvSpPr>
          <p:nvPr/>
        </p:nvSpPr>
        <p:spPr bwMode="auto">
          <a:xfrm>
            <a:off x="4860925" y="5339217"/>
            <a:ext cx="0" cy="138113"/>
          </a:xfrm>
          <a:prstGeom prst="line">
            <a:avLst/>
          </a:prstGeom>
          <a:noFill/>
          <a:ln w="2698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>
            <a:off x="5487988" y="5339217"/>
            <a:ext cx="0" cy="138113"/>
          </a:xfrm>
          <a:prstGeom prst="line">
            <a:avLst/>
          </a:prstGeom>
          <a:noFill/>
          <a:ln w="2698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6" name="Line 24"/>
          <p:cNvSpPr>
            <a:spLocks noChangeShapeType="1"/>
          </p:cNvSpPr>
          <p:nvPr/>
        </p:nvSpPr>
        <p:spPr bwMode="auto">
          <a:xfrm>
            <a:off x="6116638" y="5339217"/>
            <a:ext cx="0" cy="138113"/>
          </a:xfrm>
          <a:prstGeom prst="line">
            <a:avLst/>
          </a:prstGeom>
          <a:noFill/>
          <a:ln w="2698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7" name="Freeform 25"/>
          <p:cNvSpPr>
            <a:spLocks noEditPoints="1"/>
          </p:cNvSpPr>
          <p:nvPr/>
        </p:nvSpPr>
        <p:spPr bwMode="auto">
          <a:xfrm>
            <a:off x="4479925" y="5456692"/>
            <a:ext cx="279400" cy="100013"/>
          </a:xfrm>
          <a:custGeom>
            <a:avLst/>
            <a:gdLst>
              <a:gd name="T0" fmla="*/ 4 w 176"/>
              <a:gd name="T1" fmla="*/ 63 h 63"/>
              <a:gd name="T2" fmla="*/ 136 w 176"/>
              <a:gd name="T3" fmla="*/ 32 h 63"/>
              <a:gd name="T4" fmla="*/ 132 w 176"/>
              <a:gd name="T5" fmla="*/ 15 h 63"/>
              <a:gd name="T6" fmla="*/ 0 w 176"/>
              <a:gd name="T7" fmla="*/ 46 h 63"/>
              <a:gd name="T8" fmla="*/ 4 w 176"/>
              <a:gd name="T9" fmla="*/ 63 h 63"/>
              <a:gd name="T10" fmla="*/ 131 w 176"/>
              <a:gd name="T11" fmla="*/ 51 h 63"/>
              <a:gd name="T12" fmla="*/ 176 w 176"/>
              <a:gd name="T13" fmla="*/ 13 h 63"/>
              <a:gd name="T14" fmla="*/ 119 w 176"/>
              <a:gd name="T15" fmla="*/ 0 h 63"/>
              <a:gd name="T16" fmla="*/ 131 w 176"/>
              <a:gd name="T17" fmla="*/ 51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6" h="63">
                <a:moveTo>
                  <a:pt x="4" y="63"/>
                </a:moveTo>
                <a:lnTo>
                  <a:pt x="136" y="32"/>
                </a:lnTo>
                <a:lnTo>
                  <a:pt x="132" y="15"/>
                </a:lnTo>
                <a:lnTo>
                  <a:pt x="0" y="46"/>
                </a:lnTo>
                <a:lnTo>
                  <a:pt x="4" y="63"/>
                </a:lnTo>
                <a:close/>
                <a:moveTo>
                  <a:pt x="131" y="51"/>
                </a:moveTo>
                <a:lnTo>
                  <a:pt x="176" y="13"/>
                </a:lnTo>
                <a:lnTo>
                  <a:pt x="119" y="0"/>
                </a:lnTo>
                <a:lnTo>
                  <a:pt x="131" y="51"/>
                </a:lnTo>
                <a:close/>
              </a:path>
            </a:pathLst>
          </a:custGeom>
          <a:solidFill>
            <a:srgbClr val="000000"/>
          </a:solidFill>
          <a:ln w="0" cap="flat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8" name="Freeform 26"/>
          <p:cNvSpPr>
            <a:spLocks noEditPoints="1"/>
          </p:cNvSpPr>
          <p:nvPr/>
        </p:nvSpPr>
        <p:spPr bwMode="auto">
          <a:xfrm>
            <a:off x="5170488" y="5463042"/>
            <a:ext cx="215900" cy="93663"/>
          </a:xfrm>
          <a:custGeom>
            <a:avLst/>
            <a:gdLst>
              <a:gd name="T0" fmla="*/ 5 w 136"/>
              <a:gd name="T1" fmla="*/ 59 h 59"/>
              <a:gd name="T2" fmla="*/ 97 w 136"/>
              <a:gd name="T3" fmla="*/ 30 h 59"/>
              <a:gd name="T4" fmla="*/ 92 w 136"/>
              <a:gd name="T5" fmla="*/ 14 h 59"/>
              <a:gd name="T6" fmla="*/ 0 w 136"/>
              <a:gd name="T7" fmla="*/ 42 h 59"/>
              <a:gd name="T8" fmla="*/ 5 w 136"/>
              <a:gd name="T9" fmla="*/ 59 h 59"/>
              <a:gd name="T10" fmla="*/ 94 w 136"/>
              <a:gd name="T11" fmla="*/ 50 h 59"/>
              <a:gd name="T12" fmla="*/ 136 w 136"/>
              <a:gd name="T13" fmla="*/ 9 h 59"/>
              <a:gd name="T14" fmla="*/ 79 w 136"/>
              <a:gd name="T15" fmla="*/ 0 h 59"/>
              <a:gd name="T16" fmla="*/ 94 w 136"/>
              <a:gd name="T17" fmla="*/ 5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6" h="59">
                <a:moveTo>
                  <a:pt x="5" y="59"/>
                </a:moveTo>
                <a:lnTo>
                  <a:pt x="97" y="30"/>
                </a:lnTo>
                <a:lnTo>
                  <a:pt x="92" y="14"/>
                </a:lnTo>
                <a:lnTo>
                  <a:pt x="0" y="42"/>
                </a:lnTo>
                <a:lnTo>
                  <a:pt x="5" y="59"/>
                </a:lnTo>
                <a:close/>
                <a:moveTo>
                  <a:pt x="94" y="50"/>
                </a:moveTo>
                <a:lnTo>
                  <a:pt x="136" y="9"/>
                </a:lnTo>
                <a:lnTo>
                  <a:pt x="79" y="0"/>
                </a:lnTo>
                <a:lnTo>
                  <a:pt x="94" y="50"/>
                </a:lnTo>
                <a:close/>
              </a:path>
            </a:pathLst>
          </a:custGeom>
          <a:solidFill>
            <a:srgbClr val="000000"/>
          </a:solidFill>
          <a:ln w="0" cap="flat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9" name="Freeform 27"/>
          <p:cNvSpPr>
            <a:spLocks/>
          </p:cNvSpPr>
          <p:nvPr/>
        </p:nvSpPr>
        <p:spPr bwMode="auto">
          <a:xfrm>
            <a:off x="4481513" y="5551942"/>
            <a:ext cx="693738" cy="65088"/>
          </a:xfrm>
          <a:custGeom>
            <a:avLst/>
            <a:gdLst>
              <a:gd name="T0" fmla="*/ 0 w 437"/>
              <a:gd name="T1" fmla="*/ 0 h 41"/>
              <a:gd name="T2" fmla="*/ 88 w 437"/>
              <a:gd name="T3" fmla="*/ 41 h 41"/>
              <a:gd name="T4" fmla="*/ 437 w 437"/>
              <a:gd name="T5" fmla="*/ 0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7" h="41">
                <a:moveTo>
                  <a:pt x="0" y="0"/>
                </a:moveTo>
                <a:cubicBezTo>
                  <a:pt x="7" y="20"/>
                  <a:pt x="15" y="41"/>
                  <a:pt x="88" y="41"/>
                </a:cubicBezTo>
                <a:cubicBezTo>
                  <a:pt x="161" y="41"/>
                  <a:pt x="379" y="7"/>
                  <a:pt x="437" y="0"/>
                </a:cubicBezTo>
              </a:path>
            </a:pathLst>
          </a:custGeom>
          <a:noFill/>
          <a:ln w="2698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0" name="Line 28"/>
          <p:cNvSpPr>
            <a:spLocks noChangeShapeType="1"/>
          </p:cNvSpPr>
          <p:nvPr/>
        </p:nvSpPr>
        <p:spPr bwMode="auto">
          <a:xfrm flipH="1">
            <a:off x="3641725" y="5551942"/>
            <a:ext cx="839788" cy="204788"/>
          </a:xfrm>
          <a:prstGeom prst="line">
            <a:avLst/>
          </a:prstGeom>
          <a:noFill/>
          <a:ln w="2698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1" name="Rectangle 29"/>
          <p:cNvSpPr>
            <a:spLocks noChangeArrowheads="1"/>
          </p:cNvSpPr>
          <p:nvPr/>
        </p:nvSpPr>
        <p:spPr bwMode="auto">
          <a:xfrm>
            <a:off x="2611438" y="5415417"/>
            <a:ext cx="1412875" cy="38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midpoint of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Rectangle 30"/>
          <p:cNvSpPr>
            <a:spLocks noChangeArrowheads="1"/>
          </p:cNvSpPr>
          <p:nvPr/>
        </p:nvSpPr>
        <p:spPr bwMode="auto">
          <a:xfrm>
            <a:off x="2611438" y="5683704"/>
            <a:ext cx="5984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group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33672" y="1022993"/>
            <a:ext cx="40887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340">
              <a:spcAft>
                <a:spcPts val="1400"/>
              </a:spcAft>
            </a:pPr>
            <a:r>
              <a:rPr lang="en-US" sz="2800" dirty="0">
                <a:solidFill>
                  <a:srgbClr val="40404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Histogram (numeric data)</a:t>
            </a:r>
            <a:endParaRPr lang="en-GB" sz="2800" dirty="0">
              <a:solidFill>
                <a:srgbClr val="404040"/>
              </a:solidFill>
              <a:effectLst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185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2442" y="1051372"/>
            <a:ext cx="40887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340">
              <a:spcAft>
                <a:spcPts val="1400"/>
              </a:spcAft>
            </a:pPr>
            <a:r>
              <a:rPr lang="en-US" sz="2800" dirty="0">
                <a:solidFill>
                  <a:srgbClr val="40404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Histogram (numeric data)</a:t>
            </a:r>
            <a:endParaRPr lang="en-GB" sz="2800" dirty="0">
              <a:solidFill>
                <a:srgbClr val="404040"/>
              </a:solidFill>
              <a:effectLst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640" y="1999130"/>
            <a:ext cx="5761725" cy="421692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19689" y="6332817"/>
            <a:ext cx="29315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340">
              <a:spcAft>
                <a:spcPts val="1400"/>
              </a:spcAft>
            </a:pPr>
            <a:r>
              <a:rPr lang="en-US" sz="1400" dirty="0">
                <a:solidFill>
                  <a:srgbClr val="40404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Height of 5,628 women aged 25-64</a:t>
            </a:r>
            <a:endParaRPr lang="en-GB" sz="1400" dirty="0">
              <a:solidFill>
                <a:srgbClr val="404040"/>
              </a:solidFill>
              <a:effectLst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9793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2442" y="1051372"/>
            <a:ext cx="40887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340">
              <a:spcAft>
                <a:spcPts val="1400"/>
              </a:spcAft>
            </a:pPr>
            <a:r>
              <a:rPr lang="en-US" sz="2800" dirty="0">
                <a:solidFill>
                  <a:srgbClr val="40404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Histogram (numeric data)</a:t>
            </a:r>
            <a:endParaRPr lang="en-GB" sz="2800" dirty="0">
              <a:solidFill>
                <a:srgbClr val="404040"/>
              </a:solidFill>
              <a:effectLst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022" y="2513704"/>
            <a:ext cx="3935039" cy="2880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19689" y="6332817"/>
            <a:ext cx="29315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340">
              <a:spcAft>
                <a:spcPts val="1400"/>
              </a:spcAft>
            </a:pPr>
            <a:r>
              <a:rPr lang="en-US" sz="1400" dirty="0">
                <a:solidFill>
                  <a:srgbClr val="40404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Height of 5,628 women aged 25-64</a:t>
            </a:r>
            <a:endParaRPr lang="en-GB" sz="1400" dirty="0">
              <a:solidFill>
                <a:srgbClr val="404040"/>
              </a:solidFill>
              <a:effectLst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9878" y="2513704"/>
            <a:ext cx="3935039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567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5879074" y="2240079"/>
            <a:ext cx="2972466" cy="2848748"/>
            <a:chOff x="5879074" y="2240079"/>
            <a:chExt cx="2972466" cy="2848748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79074" y="2786789"/>
              <a:ext cx="2898672" cy="2302038"/>
            </a:xfrm>
            <a:prstGeom prst="rect">
              <a:avLst/>
            </a:prstGeom>
          </p:spPr>
        </p:pic>
        <p:sp>
          <p:nvSpPr>
            <p:cNvPr id="13" name="Text Box 5"/>
            <p:cNvSpPr txBox="1">
              <a:spLocks noChangeArrowheads="1"/>
            </p:cNvSpPr>
            <p:nvPr/>
          </p:nvSpPr>
          <p:spPr bwMode="auto">
            <a:xfrm>
              <a:off x="6186721" y="2240079"/>
              <a:ext cx="2664819" cy="433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GB" altLang="en-US" sz="1108" dirty="0">
                  <a:latin typeface="Comic Sans MS" panose="030F0702030302020204" pitchFamily="66" charset="0"/>
                </a:rPr>
                <a:t>Positively skewed</a:t>
              </a:r>
            </a:p>
            <a:p>
              <a:pPr algn="ctr"/>
              <a:r>
                <a:rPr lang="en-GB" altLang="en-US" sz="1108" dirty="0">
                  <a:latin typeface="Comic Sans MS" panose="030F0702030302020204" pitchFamily="66" charset="0"/>
                </a:rPr>
                <a:t>(long tail to the right)</a:t>
              </a:r>
            </a:p>
          </p:txBody>
        </p:sp>
        <p:sp>
          <p:nvSpPr>
            <p:cNvPr id="14" name="Line 8"/>
            <p:cNvSpPr>
              <a:spLocks noChangeShapeType="1"/>
            </p:cNvSpPr>
            <p:nvPr/>
          </p:nvSpPr>
          <p:spPr bwMode="auto">
            <a:xfrm flipV="1">
              <a:off x="7038814" y="2746733"/>
              <a:ext cx="1452252" cy="1461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1662"/>
            </a:p>
          </p:txBody>
        </p:sp>
        <p:sp>
          <p:nvSpPr>
            <p:cNvPr id="15" name="Text Box 9"/>
            <p:cNvSpPr txBox="1">
              <a:spLocks noChangeArrowheads="1"/>
            </p:cNvSpPr>
            <p:nvPr/>
          </p:nvSpPr>
          <p:spPr bwMode="auto">
            <a:xfrm>
              <a:off x="7295176" y="2841852"/>
              <a:ext cx="1213794" cy="2485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1015" dirty="0">
                  <a:latin typeface="Comic Sans MS" panose="030F0702030302020204" pitchFamily="66" charset="0"/>
                </a:rPr>
                <a:t>Long tail to right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146464" y="2170758"/>
            <a:ext cx="3156439" cy="2883285"/>
            <a:chOff x="146464" y="2170758"/>
            <a:chExt cx="3156439" cy="2883285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6464" y="3037410"/>
              <a:ext cx="2713254" cy="2016633"/>
            </a:xfrm>
            <a:prstGeom prst="rect">
              <a:avLst/>
            </a:prstGeom>
          </p:spPr>
        </p:pic>
        <p:sp>
          <p:nvSpPr>
            <p:cNvPr id="16" name="Text Box 5"/>
            <p:cNvSpPr txBox="1">
              <a:spLocks noChangeArrowheads="1"/>
            </p:cNvSpPr>
            <p:nvPr/>
          </p:nvSpPr>
          <p:spPr bwMode="auto">
            <a:xfrm>
              <a:off x="350013" y="2170758"/>
              <a:ext cx="2952890" cy="433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GB" altLang="en-US" sz="1108" dirty="0">
                  <a:latin typeface="Comic Sans MS" panose="030F0702030302020204" pitchFamily="66" charset="0"/>
                </a:rPr>
                <a:t>Negatively skewed</a:t>
              </a:r>
            </a:p>
            <a:p>
              <a:pPr algn="ctr"/>
              <a:r>
                <a:rPr lang="en-GB" altLang="en-US" sz="1108" dirty="0">
                  <a:latin typeface="Comic Sans MS" panose="030F0702030302020204" pitchFamily="66" charset="0"/>
                </a:rPr>
                <a:t>(long tail to the left)</a:t>
              </a:r>
            </a:p>
          </p:txBody>
        </p:sp>
        <p:sp>
          <p:nvSpPr>
            <p:cNvPr id="17" name="Line 8"/>
            <p:cNvSpPr>
              <a:spLocks noChangeShapeType="1"/>
            </p:cNvSpPr>
            <p:nvPr/>
          </p:nvSpPr>
          <p:spPr bwMode="auto">
            <a:xfrm flipH="1">
              <a:off x="1151249" y="2741304"/>
              <a:ext cx="1313269" cy="607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1662"/>
            </a:p>
          </p:txBody>
        </p:sp>
        <p:sp>
          <p:nvSpPr>
            <p:cNvPr id="18" name="Text Box 9"/>
            <p:cNvSpPr txBox="1">
              <a:spLocks noChangeArrowheads="1"/>
            </p:cNvSpPr>
            <p:nvPr/>
          </p:nvSpPr>
          <p:spPr bwMode="auto">
            <a:xfrm>
              <a:off x="1363734" y="2807480"/>
              <a:ext cx="1141659" cy="2485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1015" dirty="0">
                  <a:latin typeface="Comic Sans MS" panose="030F0702030302020204" pitchFamily="66" charset="0"/>
                </a:rPr>
                <a:t>Long tail to left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3048067" y="2341219"/>
            <a:ext cx="2809588" cy="2712824"/>
            <a:chOff x="3048067" y="2341219"/>
            <a:chExt cx="2809588" cy="2712824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8067" y="2738333"/>
              <a:ext cx="2755781" cy="2315710"/>
            </a:xfrm>
            <a:prstGeom prst="rect">
              <a:avLst/>
            </a:prstGeom>
          </p:spPr>
        </p:pic>
        <p:sp>
          <p:nvSpPr>
            <p:cNvPr id="19" name="Text Box 15"/>
            <p:cNvSpPr txBox="1">
              <a:spLocks noChangeArrowheads="1"/>
            </p:cNvSpPr>
            <p:nvPr/>
          </p:nvSpPr>
          <p:spPr bwMode="auto">
            <a:xfrm>
              <a:off x="3363061" y="2341219"/>
              <a:ext cx="2494594" cy="2628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1108" dirty="0">
                  <a:latin typeface="Comic Sans MS" panose="030F0702030302020204" pitchFamily="66" charset="0"/>
                </a:rPr>
                <a:t>Symmetric (bell shaped) histogram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1215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3649713" y="1982144"/>
            <a:ext cx="357313" cy="2800860"/>
            <a:chOff x="3649713" y="1982144"/>
            <a:chExt cx="357313" cy="2800860"/>
          </a:xfrm>
        </p:grpSpPr>
        <p:sp>
          <p:nvSpPr>
            <p:cNvPr id="8" name="Oval 8"/>
            <p:cNvSpPr>
              <a:spLocks noChangeArrowheads="1"/>
            </p:cNvSpPr>
            <p:nvPr/>
          </p:nvSpPr>
          <p:spPr bwMode="auto">
            <a:xfrm>
              <a:off x="3756486" y="4711004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9" name="Oval 9"/>
            <p:cNvSpPr>
              <a:spLocks noChangeArrowheads="1"/>
            </p:cNvSpPr>
            <p:nvPr/>
          </p:nvSpPr>
          <p:spPr bwMode="auto">
            <a:xfrm>
              <a:off x="3826502" y="4711004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0" name="Oval 10"/>
            <p:cNvSpPr>
              <a:spLocks noChangeArrowheads="1"/>
            </p:cNvSpPr>
            <p:nvPr/>
          </p:nvSpPr>
          <p:spPr bwMode="auto">
            <a:xfrm>
              <a:off x="3756486" y="4623484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1" name="Oval 11"/>
            <p:cNvSpPr>
              <a:spLocks noChangeArrowheads="1"/>
            </p:cNvSpPr>
            <p:nvPr/>
          </p:nvSpPr>
          <p:spPr bwMode="auto">
            <a:xfrm>
              <a:off x="3826502" y="4623484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2" name="Oval 12"/>
            <p:cNvSpPr>
              <a:spLocks noChangeArrowheads="1"/>
            </p:cNvSpPr>
            <p:nvPr/>
          </p:nvSpPr>
          <p:spPr bwMode="auto">
            <a:xfrm>
              <a:off x="3793245" y="4535965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3" name="Oval 13"/>
            <p:cNvSpPr>
              <a:spLocks noChangeArrowheads="1"/>
            </p:cNvSpPr>
            <p:nvPr/>
          </p:nvSpPr>
          <p:spPr bwMode="auto">
            <a:xfrm>
              <a:off x="3686471" y="4448445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4" name="Oval 14"/>
            <p:cNvSpPr>
              <a:spLocks noChangeArrowheads="1"/>
            </p:cNvSpPr>
            <p:nvPr/>
          </p:nvSpPr>
          <p:spPr bwMode="auto">
            <a:xfrm>
              <a:off x="3756486" y="4448445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5" name="Oval 15"/>
            <p:cNvSpPr>
              <a:spLocks noChangeArrowheads="1"/>
            </p:cNvSpPr>
            <p:nvPr/>
          </p:nvSpPr>
          <p:spPr bwMode="auto">
            <a:xfrm>
              <a:off x="3826502" y="4448445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6" name="Oval 16"/>
            <p:cNvSpPr>
              <a:spLocks noChangeArrowheads="1"/>
            </p:cNvSpPr>
            <p:nvPr/>
          </p:nvSpPr>
          <p:spPr bwMode="auto">
            <a:xfrm>
              <a:off x="3898268" y="4448445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7" name="Oval 17"/>
            <p:cNvSpPr>
              <a:spLocks noChangeArrowheads="1"/>
            </p:cNvSpPr>
            <p:nvPr/>
          </p:nvSpPr>
          <p:spPr bwMode="auto">
            <a:xfrm>
              <a:off x="3649713" y="4269905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8" name="Oval 18"/>
            <p:cNvSpPr>
              <a:spLocks noChangeArrowheads="1"/>
            </p:cNvSpPr>
            <p:nvPr/>
          </p:nvSpPr>
          <p:spPr bwMode="auto">
            <a:xfrm>
              <a:off x="3723229" y="4269905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9" name="Oval 19"/>
            <p:cNvSpPr>
              <a:spLocks noChangeArrowheads="1"/>
            </p:cNvSpPr>
            <p:nvPr/>
          </p:nvSpPr>
          <p:spPr bwMode="auto">
            <a:xfrm>
              <a:off x="3793245" y="4269905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0" name="Oval 20"/>
            <p:cNvSpPr>
              <a:spLocks noChangeArrowheads="1"/>
            </p:cNvSpPr>
            <p:nvPr/>
          </p:nvSpPr>
          <p:spPr bwMode="auto">
            <a:xfrm>
              <a:off x="3863261" y="4269905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1" name="Oval 21"/>
            <p:cNvSpPr>
              <a:spLocks noChangeArrowheads="1"/>
            </p:cNvSpPr>
            <p:nvPr/>
          </p:nvSpPr>
          <p:spPr bwMode="auto">
            <a:xfrm>
              <a:off x="3935026" y="4269905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2" name="Oval 22"/>
            <p:cNvSpPr>
              <a:spLocks noChangeArrowheads="1"/>
            </p:cNvSpPr>
            <p:nvPr/>
          </p:nvSpPr>
          <p:spPr bwMode="auto">
            <a:xfrm>
              <a:off x="3793245" y="4184136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3" name="Oval 23"/>
            <p:cNvSpPr>
              <a:spLocks noChangeArrowheads="1"/>
            </p:cNvSpPr>
            <p:nvPr/>
          </p:nvSpPr>
          <p:spPr bwMode="auto">
            <a:xfrm>
              <a:off x="3686471" y="4096616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4" name="Oval 24"/>
            <p:cNvSpPr>
              <a:spLocks noChangeArrowheads="1"/>
            </p:cNvSpPr>
            <p:nvPr/>
          </p:nvSpPr>
          <p:spPr bwMode="auto">
            <a:xfrm>
              <a:off x="3756486" y="4096616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5" name="Oval 25"/>
            <p:cNvSpPr>
              <a:spLocks noChangeArrowheads="1"/>
            </p:cNvSpPr>
            <p:nvPr/>
          </p:nvSpPr>
          <p:spPr bwMode="auto">
            <a:xfrm>
              <a:off x="3826502" y="4096616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6" name="Oval 26"/>
            <p:cNvSpPr>
              <a:spLocks noChangeArrowheads="1"/>
            </p:cNvSpPr>
            <p:nvPr/>
          </p:nvSpPr>
          <p:spPr bwMode="auto">
            <a:xfrm>
              <a:off x="3898268" y="4096616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7" name="Oval 27"/>
            <p:cNvSpPr>
              <a:spLocks noChangeArrowheads="1"/>
            </p:cNvSpPr>
            <p:nvPr/>
          </p:nvSpPr>
          <p:spPr bwMode="auto">
            <a:xfrm>
              <a:off x="3649713" y="4009097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8" name="Oval 28"/>
            <p:cNvSpPr>
              <a:spLocks noChangeArrowheads="1"/>
            </p:cNvSpPr>
            <p:nvPr/>
          </p:nvSpPr>
          <p:spPr bwMode="auto">
            <a:xfrm>
              <a:off x="3723229" y="4009097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9" name="Oval 29"/>
            <p:cNvSpPr>
              <a:spLocks noChangeArrowheads="1"/>
            </p:cNvSpPr>
            <p:nvPr/>
          </p:nvSpPr>
          <p:spPr bwMode="auto">
            <a:xfrm>
              <a:off x="3793245" y="4009097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30" name="Oval 30"/>
            <p:cNvSpPr>
              <a:spLocks noChangeArrowheads="1"/>
            </p:cNvSpPr>
            <p:nvPr/>
          </p:nvSpPr>
          <p:spPr bwMode="auto">
            <a:xfrm>
              <a:off x="3863261" y="4009097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31" name="Oval 31"/>
            <p:cNvSpPr>
              <a:spLocks noChangeArrowheads="1"/>
            </p:cNvSpPr>
            <p:nvPr/>
          </p:nvSpPr>
          <p:spPr bwMode="auto">
            <a:xfrm>
              <a:off x="3935026" y="4009097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32" name="Oval 32"/>
            <p:cNvSpPr>
              <a:spLocks noChangeArrowheads="1"/>
            </p:cNvSpPr>
            <p:nvPr/>
          </p:nvSpPr>
          <p:spPr bwMode="auto">
            <a:xfrm>
              <a:off x="3686471" y="3921577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33" name="Oval 33"/>
            <p:cNvSpPr>
              <a:spLocks noChangeArrowheads="1"/>
            </p:cNvSpPr>
            <p:nvPr/>
          </p:nvSpPr>
          <p:spPr bwMode="auto">
            <a:xfrm>
              <a:off x="3756486" y="3921577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34" name="Oval 34"/>
            <p:cNvSpPr>
              <a:spLocks noChangeArrowheads="1"/>
            </p:cNvSpPr>
            <p:nvPr/>
          </p:nvSpPr>
          <p:spPr bwMode="auto">
            <a:xfrm>
              <a:off x="3826502" y="3921577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35" name="Oval 35"/>
            <p:cNvSpPr>
              <a:spLocks noChangeArrowheads="1"/>
            </p:cNvSpPr>
            <p:nvPr/>
          </p:nvSpPr>
          <p:spPr bwMode="auto">
            <a:xfrm>
              <a:off x="3898268" y="3921577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36" name="Oval 36"/>
            <p:cNvSpPr>
              <a:spLocks noChangeArrowheads="1"/>
            </p:cNvSpPr>
            <p:nvPr/>
          </p:nvSpPr>
          <p:spPr bwMode="auto">
            <a:xfrm>
              <a:off x="3793245" y="3830557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37" name="Oval 37"/>
            <p:cNvSpPr>
              <a:spLocks noChangeArrowheads="1"/>
            </p:cNvSpPr>
            <p:nvPr/>
          </p:nvSpPr>
          <p:spPr bwMode="auto">
            <a:xfrm>
              <a:off x="3793245" y="3743037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38" name="Oval 38"/>
            <p:cNvSpPr>
              <a:spLocks noChangeArrowheads="1"/>
            </p:cNvSpPr>
            <p:nvPr/>
          </p:nvSpPr>
          <p:spPr bwMode="auto">
            <a:xfrm>
              <a:off x="3686471" y="3655518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39" name="Oval 39"/>
            <p:cNvSpPr>
              <a:spLocks noChangeArrowheads="1"/>
            </p:cNvSpPr>
            <p:nvPr/>
          </p:nvSpPr>
          <p:spPr bwMode="auto">
            <a:xfrm>
              <a:off x="3756486" y="3655518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40" name="Oval 40"/>
            <p:cNvSpPr>
              <a:spLocks noChangeArrowheads="1"/>
            </p:cNvSpPr>
            <p:nvPr/>
          </p:nvSpPr>
          <p:spPr bwMode="auto">
            <a:xfrm>
              <a:off x="3826502" y="3655518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41" name="Oval 41"/>
            <p:cNvSpPr>
              <a:spLocks noChangeArrowheads="1"/>
            </p:cNvSpPr>
            <p:nvPr/>
          </p:nvSpPr>
          <p:spPr bwMode="auto">
            <a:xfrm>
              <a:off x="3898268" y="3655518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42" name="Oval 42"/>
            <p:cNvSpPr>
              <a:spLocks noChangeArrowheads="1"/>
            </p:cNvSpPr>
            <p:nvPr/>
          </p:nvSpPr>
          <p:spPr bwMode="auto">
            <a:xfrm>
              <a:off x="3793245" y="3476978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43" name="Oval 43"/>
            <p:cNvSpPr>
              <a:spLocks noChangeArrowheads="1"/>
            </p:cNvSpPr>
            <p:nvPr/>
          </p:nvSpPr>
          <p:spPr bwMode="auto">
            <a:xfrm>
              <a:off x="3756486" y="3301939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44" name="Oval 44"/>
            <p:cNvSpPr>
              <a:spLocks noChangeArrowheads="1"/>
            </p:cNvSpPr>
            <p:nvPr/>
          </p:nvSpPr>
          <p:spPr bwMode="auto">
            <a:xfrm>
              <a:off x="3826502" y="3301939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45" name="Oval 45"/>
            <p:cNvSpPr>
              <a:spLocks noChangeArrowheads="1"/>
            </p:cNvSpPr>
            <p:nvPr/>
          </p:nvSpPr>
          <p:spPr bwMode="auto">
            <a:xfrm>
              <a:off x="3793245" y="2950111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46" name="Oval 46"/>
            <p:cNvSpPr>
              <a:spLocks noChangeArrowheads="1"/>
            </p:cNvSpPr>
            <p:nvPr/>
          </p:nvSpPr>
          <p:spPr bwMode="auto">
            <a:xfrm>
              <a:off x="3793245" y="2862591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47" name="Oval 47"/>
            <p:cNvSpPr>
              <a:spLocks noChangeArrowheads="1"/>
            </p:cNvSpPr>
            <p:nvPr/>
          </p:nvSpPr>
          <p:spPr bwMode="auto">
            <a:xfrm>
              <a:off x="3793245" y="2509013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48" name="Oval 48"/>
            <p:cNvSpPr>
              <a:spLocks noChangeArrowheads="1"/>
            </p:cNvSpPr>
            <p:nvPr/>
          </p:nvSpPr>
          <p:spPr bwMode="auto">
            <a:xfrm>
              <a:off x="3793245" y="1982144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2525962" y="5265877"/>
            <a:ext cx="4985112" cy="360593"/>
            <a:chOff x="2525962" y="5265877"/>
            <a:chExt cx="4985112" cy="360593"/>
          </a:xfrm>
        </p:grpSpPr>
        <p:sp>
          <p:nvSpPr>
            <p:cNvPr id="98" name="Line 98"/>
            <p:cNvSpPr>
              <a:spLocks noChangeShapeType="1"/>
            </p:cNvSpPr>
            <p:nvPr/>
          </p:nvSpPr>
          <p:spPr bwMode="auto">
            <a:xfrm>
              <a:off x="2525962" y="5265877"/>
              <a:ext cx="4985112" cy="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99" name="Line 99"/>
            <p:cNvSpPr>
              <a:spLocks noChangeShapeType="1"/>
            </p:cNvSpPr>
            <p:nvPr/>
          </p:nvSpPr>
          <p:spPr bwMode="auto">
            <a:xfrm>
              <a:off x="3817750" y="5265877"/>
              <a:ext cx="0" cy="56012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00" name="Rectangle 100"/>
            <p:cNvSpPr>
              <a:spLocks noChangeArrowheads="1"/>
            </p:cNvSpPr>
            <p:nvPr/>
          </p:nvSpPr>
          <p:spPr bwMode="auto">
            <a:xfrm>
              <a:off x="3657766" y="5380249"/>
              <a:ext cx="464871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844083"/>
              <a:r>
                <a:rPr lang="en-US" altLang="en-US" sz="1600" dirty="0">
                  <a:solidFill>
                    <a:srgbClr val="000000"/>
                  </a:solidFill>
                </a:rPr>
                <a:t>initial</a:t>
              </a:r>
              <a:endParaRPr lang="en-US" altLang="en-US" sz="1600" dirty="0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5632905" y="4711004"/>
            <a:ext cx="1201002" cy="887793"/>
            <a:chOff x="5632905" y="4711004"/>
            <a:chExt cx="1201002" cy="887793"/>
          </a:xfrm>
        </p:grpSpPr>
        <p:sp>
          <p:nvSpPr>
            <p:cNvPr id="49" name="Oval 49"/>
            <p:cNvSpPr>
              <a:spLocks noChangeArrowheads="1"/>
            </p:cNvSpPr>
            <p:nvPr/>
          </p:nvSpPr>
          <p:spPr bwMode="auto">
            <a:xfrm>
              <a:off x="5632905" y="5153852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50" name="Oval 50"/>
            <p:cNvSpPr>
              <a:spLocks noChangeArrowheads="1"/>
            </p:cNvSpPr>
            <p:nvPr/>
          </p:nvSpPr>
          <p:spPr bwMode="auto">
            <a:xfrm>
              <a:off x="5702920" y="5153852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51" name="Oval 51"/>
            <p:cNvSpPr>
              <a:spLocks noChangeArrowheads="1"/>
            </p:cNvSpPr>
            <p:nvPr/>
          </p:nvSpPr>
          <p:spPr bwMode="auto">
            <a:xfrm>
              <a:off x="5772936" y="5153852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52" name="Oval 52"/>
            <p:cNvSpPr>
              <a:spLocks noChangeArrowheads="1"/>
            </p:cNvSpPr>
            <p:nvPr/>
          </p:nvSpPr>
          <p:spPr bwMode="auto">
            <a:xfrm>
              <a:off x="5844702" y="5153852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53" name="Oval 53"/>
            <p:cNvSpPr>
              <a:spLocks noChangeArrowheads="1"/>
            </p:cNvSpPr>
            <p:nvPr/>
          </p:nvSpPr>
          <p:spPr bwMode="auto">
            <a:xfrm>
              <a:off x="5914718" y="5153852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54" name="Oval 54"/>
            <p:cNvSpPr>
              <a:spLocks noChangeArrowheads="1"/>
            </p:cNvSpPr>
            <p:nvPr/>
          </p:nvSpPr>
          <p:spPr bwMode="auto">
            <a:xfrm>
              <a:off x="5984734" y="5153852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55" name="Oval 55"/>
            <p:cNvSpPr>
              <a:spLocks noChangeArrowheads="1"/>
            </p:cNvSpPr>
            <p:nvPr/>
          </p:nvSpPr>
          <p:spPr bwMode="auto">
            <a:xfrm>
              <a:off x="6056499" y="5153852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56" name="Oval 56"/>
            <p:cNvSpPr>
              <a:spLocks noChangeArrowheads="1"/>
            </p:cNvSpPr>
            <p:nvPr/>
          </p:nvSpPr>
          <p:spPr bwMode="auto">
            <a:xfrm>
              <a:off x="6126515" y="5153852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57" name="Oval 57"/>
            <p:cNvSpPr>
              <a:spLocks noChangeArrowheads="1"/>
            </p:cNvSpPr>
            <p:nvPr/>
          </p:nvSpPr>
          <p:spPr bwMode="auto">
            <a:xfrm>
              <a:off x="6196530" y="5153852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58" name="Oval 58"/>
            <p:cNvSpPr>
              <a:spLocks noChangeArrowheads="1"/>
            </p:cNvSpPr>
            <p:nvPr/>
          </p:nvSpPr>
          <p:spPr bwMode="auto">
            <a:xfrm>
              <a:off x="6268297" y="5153852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59" name="Oval 59"/>
            <p:cNvSpPr>
              <a:spLocks noChangeArrowheads="1"/>
            </p:cNvSpPr>
            <p:nvPr/>
          </p:nvSpPr>
          <p:spPr bwMode="auto">
            <a:xfrm>
              <a:off x="6338312" y="5153852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60" name="Oval 60"/>
            <p:cNvSpPr>
              <a:spLocks noChangeArrowheads="1"/>
            </p:cNvSpPr>
            <p:nvPr/>
          </p:nvSpPr>
          <p:spPr bwMode="auto">
            <a:xfrm>
              <a:off x="6408328" y="5153852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61" name="Oval 61"/>
            <p:cNvSpPr>
              <a:spLocks noChangeArrowheads="1"/>
            </p:cNvSpPr>
            <p:nvPr/>
          </p:nvSpPr>
          <p:spPr bwMode="auto">
            <a:xfrm>
              <a:off x="6480094" y="5153852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62" name="Oval 62"/>
            <p:cNvSpPr>
              <a:spLocks noChangeArrowheads="1"/>
            </p:cNvSpPr>
            <p:nvPr/>
          </p:nvSpPr>
          <p:spPr bwMode="auto">
            <a:xfrm>
              <a:off x="6550109" y="5153852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63" name="Oval 63"/>
            <p:cNvSpPr>
              <a:spLocks noChangeArrowheads="1"/>
            </p:cNvSpPr>
            <p:nvPr/>
          </p:nvSpPr>
          <p:spPr bwMode="auto">
            <a:xfrm>
              <a:off x="6620125" y="5153852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64" name="Oval 64"/>
            <p:cNvSpPr>
              <a:spLocks noChangeArrowheads="1"/>
            </p:cNvSpPr>
            <p:nvPr/>
          </p:nvSpPr>
          <p:spPr bwMode="auto">
            <a:xfrm>
              <a:off x="6691891" y="5153852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65" name="Oval 65"/>
            <p:cNvSpPr>
              <a:spLocks noChangeArrowheads="1"/>
            </p:cNvSpPr>
            <p:nvPr/>
          </p:nvSpPr>
          <p:spPr bwMode="auto">
            <a:xfrm>
              <a:off x="6761907" y="5153852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66" name="Oval 66"/>
            <p:cNvSpPr>
              <a:spLocks noChangeArrowheads="1"/>
            </p:cNvSpPr>
            <p:nvPr/>
          </p:nvSpPr>
          <p:spPr bwMode="auto">
            <a:xfrm>
              <a:off x="5702920" y="5064583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67" name="Oval 67"/>
            <p:cNvSpPr>
              <a:spLocks noChangeArrowheads="1"/>
            </p:cNvSpPr>
            <p:nvPr/>
          </p:nvSpPr>
          <p:spPr bwMode="auto">
            <a:xfrm>
              <a:off x="5772936" y="5064583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68" name="Oval 68"/>
            <p:cNvSpPr>
              <a:spLocks noChangeArrowheads="1"/>
            </p:cNvSpPr>
            <p:nvPr/>
          </p:nvSpPr>
          <p:spPr bwMode="auto">
            <a:xfrm>
              <a:off x="5844702" y="5064583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69" name="Oval 69"/>
            <p:cNvSpPr>
              <a:spLocks noChangeArrowheads="1"/>
            </p:cNvSpPr>
            <p:nvPr/>
          </p:nvSpPr>
          <p:spPr bwMode="auto">
            <a:xfrm>
              <a:off x="5914718" y="5064583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70" name="Oval 70"/>
            <p:cNvSpPr>
              <a:spLocks noChangeArrowheads="1"/>
            </p:cNvSpPr>
            <p:nvPr/>
          </p:nvSpPr>
          <p:spPr bwMode="auto">
            <a:xfrm>
              <a:off x="5984734" y="5064583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71" name="Oval 71"/>
            <p:cNvSpPr>
              <a:spLocks noChangeArrowheads="1"/>
            </p:cNvSpPr>
            <p:nvPr/>
          </p:nvSpPr>
          <p:spPr bwMode="auto">
            <a:xfrm>
              <a:off x="6056499" y="5064583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72" name="Oval 72"/>
            <p:cNvSpPr>
              <a:spLocks noChangeArrowheads="1"/>
            </p:cNvSpPr>
            <p:nvPr/>
          </p:nvSpPr>
          <p:spPr bwMode="auto">
            <a:xfrm>
              <a:off x="6126515" y="5064583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73" name="Oval 73"/>
            <p:cNvSpPr>
              <a:spLocks noChangeArrowheads="1"/>
            </p:cNvSpPr>
            <p:nvPr/>
          </p:nvSpPr>
          <p:spPr bwMode="auto">
            <a:xfrm>
              <a:off x="6196530" y="5064583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74" name="Oval 74"/>
            <p:cNvSpPr>
              <a:spLocks noChangeArrowheads="1"/>
            </p:cNvSpPr>
            <p:nvPr/>
          </p:nvSpPr>
          <p:spPr bwMode="auto">
            <a:xfrm>
              <a:off x="6268297" y="5064583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75" name="Oval 75"/>
            <p:cNvSpPr>
              <a:spLocks noChangeArrowheads="1"/>
            </p:cNvSpPr>
            <p:nvPr/>
          </p:nvSpPr>
          <p:spPr bwMode="auto">
            <a:xfrm>
              <a:off x="6338312" y="5064583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76" name="Oval 76"/>
            <p:cNvSpPr>
              <a:spLocks noChangeArrowheads="1"/>
            </p:cNvSpPr>
            <p:nvPr/>
          </p:nvSpPr>
          <p:spPr bwMode="auto">
            <a:xfrm>
              <a:off x="6408328" y="5064583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77" name="Oval 77"/>
            <p:cNvSpPr>
              <a:spLocks noChangeArrowheads="1"/>
            </p:cNvSpPr>
            <p:nvPr/>
          </p:nvSpPr>
          <p:spPr bwMode="auto">
            <a:xfrm>
              <a:off x="6480094" y="5064583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78" name="Oval 78"/>
            <p:cNvSpPr>
              <a:spLocks noChangeArrowheads="1"/>
            </p:cNvSpPr>
            <p:nvPr/>
          </p:nvSpPr>
          <p:spPr bwMode="auto">
            <a:xfrm>
              <a:off x="6550109" y="5064583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79" name="Oval 79"/>
            <p:cNvSpPr>
              <a:spLocks noChangeArrowheads="1"/>
            </p:cNvSpPr>
            <p:nvPr/>
          </p:nvSpPr>
          <p:spPr bwMode="auto">
            <a:xfrm>
              <a:off x="6620125" y="5064583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80" name="Oval 80"/>
            <p:cNvSpPr>
              <a:spLocks noChangeArrowheads="1"/>
            </p:cNvSpPr>
            <p:nvPr/>
          </p:nvSpPr>
          <p:spPr bwMode="auto">
            <a:xfrm>
              <a:off x="6691891" y="5064583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81" name="Oval 81"/>
            <p:cNvSpPr>
              <a:spLocks noChangeArrowheads="1"/>
            </p:cNvSpPr>
            <p:nvPr/>
          </p:nvSpPr>
          <p:spPr bwMode="auto">
            <a:xfrm>
              <a:off x="6159773" y="4977063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82" name="Oval 82"/>
            <p:cNvSpPr>
              <a:spLocks noChangeArrowheads="1"/>
            </p:cNvSpPr>
            <p:nvPr/>
          </p:nvSpPr>
          <p:spPr bwMode="auto">
            <a:xfrm>
              <a:off x="6231538" y="4977063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83" name="Oval 83"/>
            <p:cNvSpPr>
              <a:spLocks noChangeArrowheads="1"/>
            </p:cNvSpPr>
            <p:nvPr/>
          </p:nvSpPr>
          <p:spPr bwMode="auto">
            <a:xfrm>
              <a:off x="6126515" y="4889544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84" name="Oval 84"/>
            <p:cNvSpPr>
              <a:spLocks noChangeArrowheads="1"/>
            </p:cNvSpPr>
            <p:nvPr/>
          </p:nvSpPr>
          <p:spPr bwMode="auto">
            <a:xfrm>
              <a:off x="6196530" y="4889544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85" name="Oval 85"/>
            <p:cNvSpPr>
              <a:spLocks noChangeArrowheads="1"/>
            </p:cNvSpPr>
            <p:nvPr/>
          </p:nvSpPr>
          <p:spPr bwMode="auto">
            <a:xfrm>
              <a:off x="6268297" y="4889544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86" name="Oval 86"/>
            <p:cNvSpPr>
              <a:spLocks noChangeArrowheads="1"/>
            </p:cNvSpPr>
            <p:nvPr/>
          </p:nvSpPr>
          <p:spPr bwMode="auto">
            <a:xfrm>
              <a:off x="6159773" y="4802024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87" name="Oval 87"/>
            <p:cNvSpPr>
              <a:spLocks noChangeArrowheads="1"/>
            </p:cNvSpPr>
            <p:nvPr/>
          </p:nvSpPr>
          <p:spPr bwMode="auto">
            <a:xfrm>
              <a:off x="6231538" y="4802024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88" name="Oval 88"/>
            <p:cNvSpPr>
              <a:spLocks noChangeArrowheads="1"/>
            </p:cNvSpPr>
            <p:nvPr/>
          </p:nvSpPr>
          <p:spPr bwMode="auto">
            <a:xfrm>
              <a:off x="6159773" y="4711004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89" name="Oval 89"/>
            <p:cNvSpPr>
              <a:spLocks noChangeArrowheads="1"/>
            </p:cNvSpPr>
            <p:nvPr/>
          </p:nvSpPr>
          <p:spPr bwMode="auto">
            <a:xfrm>
              <a:off x="6231538" y="4711004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01" name="Line 101"/>
            <p:cNvSpPr>
              <a:spLocks noChangeShapeType="1"/>
            </p:cNvSpPr>
            <p:nvPr/>
          </p:nvSpPr>
          <p:spPr bwMode="auto">
            <a:xfrm>
              <a:off x="6221036" y="5265877"/>
              <a:ext cx="0" cy="56012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02" name="Rectangle 102"/>
            <p:cNvSpPr>
              <a:spLocks noChangeArrowheads="1"/>
            </p:cNvSpPr>
            <p:nvPr/>
          </p:nvSpPr>
          <p:spPr bwMode="auto">
            <a:xfrm>
              <a:off x="5960096" y="5352576"/>
              <a:ext cx="763029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844083"/>
              <a:r>
                <a:rPr lang="en-US" altLang="en-US" sz="1600" dirty="0">
                  <a:solidFill>
                    <a:srgbClr val="000000"/>
                  </a:solidFill>
                </a:rPr>
                <a:t>week 18</a:t>
              </a:r>
              <a:endParaRPr lang="en-US" altLang="en-US" sz="1600" dirty="0"/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1449413" y="1784351"/>
            <a:ext cx="1076549" cy="3566711"/>
            <a:chOff x="1449413" y="1784351"/>
            <a:chExt cx="1076549" cy="3566711"/>
          </a:xfrm>
        </p:grpSpPr>
        <p:sp>
          <p:nvSpPr>
            <p:cNvPr id="90" name="Line 90"/>
            <p:cNvSpPr>
              <a:spLocks noChangeShapeType="1"/>
            </p:cNvSpPr>
            <p:nvPr/>
          </p:nvSpPr>
          <p:spPr bwMode="auto">
            <a:xfrm flipV="1">
              <a:off x="2525962" y="1784351"/>
              <a:ext cx="0" cy="3481526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91" name="Rectangle 91"/>
            <p:cNvSpPr>
              <a:spLocks noChangeArrowheads="1"/>
            </p:cNvSpPr>
            <p:nvPr/>
          </p:nvSpPr>
          <p:spPr bwMode="auto">
            <a:xfrm>
              <a:off x="2303277" y="5104841"/>
              <a:ext cx="11381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844083"/>
              <a:r>
                <a:rPr lang="en-US" altLang="en-US" sz="1600">
                  <a:solidFill>
                    <a:srgbClr val="000000"/>
                  </a:solidFill>
                </a:rPr>
                <a:t>0</a:t>
              </a:r>
              <a:endParaRPr lang="en-US" altLang="en-US" sz="1600"/>
            </a:p>
          </p:txBody>
        </p:sp>
        <p:sp>
          <p:nvSpPr>
            <p:cNvPr id="92" name="Rectangle 92"/>
            <p:cNvSpPr>
              <a:spLocks noChangeArrowheads="1"/>
            </p:cNvSpPr>
            <p:nvPr/>
          </p:nvSpPr>
          <p:spPr bwMode="auto">
            <a:xfrm>
              <a:off x="2224510" y="4002095"/>
              <a:ext cx="227626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844083"/>
              <a:r>
                <a:rPr lang="en-US" altLang="en-US" sz="1600">
                  <a:solidFill>
                    <a:srgbClr val="000000"/>
                  </a:solidFill>
                </a:rPr>
                <a:t>10</a:t>
              </a:r>
              <a:endParaRPr lang="en-US" altLang="en-US" sz="1600"/>
            </a:p>
          </p:txBody>
        </p:sp>
        <p:sp>
          <p:nvSpPr>
            <p:cNvPr id="93" name="Rectangle 93"/>
            <p:cNvSpPr>
              <a:spLocks noChangeArrowheads="1"/>
            </p:cNvSpPr>
            <p:nvPr/>
          </p:nvSpPr>
          <p:spPr bwMode="auto">
            <a:xfrm>
              <a:off x="2224510" y="2902850"/>
              <a:ext cx="227626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844083"/>
              <a:r>
                <a:rPr lang="en-US" altLang="en-US" sz="1600">
                  <a:solidFill>
                    <a:srgbClr val="000000"/>
                  </a:solidFill>
                </a:rPr>
                <a:t>20</a:t>
              </a:r>
              <a:endParaRPr lang="en-US" altLang="en-US" sz="1600"/>
            </a:p>
          </p:txBody>
        </p:sp>
        <p:sp>
          <p:nvSpPr>
            <p:cNvPr id="94" name="Rectangle 94"/>
            <p:cNvSpPr>
              <a:spLocks noChangeArrowheads="1"/>
            </p:cNvSpPr>
            <p:nvPr/>
          </p:nvSpPr>
          <p:spPr bwMode="auto">
            <a:xfrm>
              <a:off x="2224510" y="1800104"/>
              <a:ext cx="227626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844083"/>
              <a:r>
                <a:rPr lang="en-US" altLang="en-US" sz="1600" dirty="0">
                  <a:solidFill>
                    <a:srgbClr val="000000"/>
                  </a:solidFill>
                </a:rPr>
                <a:t>30</a:t>
              </a:r>
              <a:endParaRPr lang="en-US" altLang="en-US" sz="1600" dirty="0"/>
            </a:p>
          </p:txBody>
        </p:sp>
        <p:sp>
          <p:nvSpPr>
            <p:cNvPr id="95" name="Rectangle 95"/>
            <p:cNvSpPr>
              <a:spLocks noChangeArrowheads="1"/>
            </p:cNvSpPr>
            <p:nvPr/>
          </p:nvSpPr>
          <p:spPr bwMode="auto">
            <a:xfrm>
              <a:off x="2224510" y="3450723"/>
              <a:ext cx="227626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844083"/>
              <a:r>
                <a:rPr lang="en-US" altLang="en-US" sz="1600">
                  <a:solidFill>
                    <a:srgbClr val="000000"/>
                  </a:solidFill>
                </a:rPr>
                <a:t>15</a:t>
              </a:r>
              <a:endParaRPr lang="en-US" altLang="en-US" sz="1600"/>
            </a:p>
          </p:txBody>
        </p:sp>
        <p:sp>
          <p:nvSpPr>
            <p:cNvPr id="96" name="Rectangle 96"/>
            <p:cNvSpPr>
              <a:spLocks noChangeArrowheads="1"/>
            </p:cNvSpPr>
            <p:nvPr/>
          </p:nvSpPr>
          <p:spPr bwMode="auto">
            <a:xfrm>
              <a:off x="2303277" y="4553469"/>
              <a:ext cx="11381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844083"/>
              <a:r>
                <a:rPr lang="en-US" altLang="en-US" sz="1600">
                  <a:solidFill>
                    <a:srgbClr val="000000"/>
                  </a:solidFill>
                </a:rPr>
                <a:t>5</a:t>
              </a:r>
              <a:endParaRPr lang="en-US" altLang="en-US" sz="1600"/>
            </a:p>
          </p:txBody>
        </p:sp>
        <p:sp>
          <p:nvSpPr>
            <p:cNvPr id="97" name="Rectangle 97"/>
            <p:cNvSpPr>
              <a:spLocks noChangeArrowheads="1"/>
            </p:cNvSpPr>
            <p:nvPr/>
          </p:nvSpPr>
          <p:spPr bwMode="auto">
            <a:xfrm>
              <a:off x="2224510" y="2351477"/>
              <a:ext cx="227626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844083"/>
              <a:r>
                <a:rPr lang="en-US" altLang="en-US" sz="1600">
                  <a:solidFill>
                    <a:srgbClr val="000000"/>
                  </a:solidFill>
                </a:rPr>
                <a:t>25</a:t>
              </a:r>
              <a:endParaRPr lang="en-US" altLang="en-US" sz="1600"/>
            </a:p>
          </p:txBody>
        </p:sp>
        <p:sp>
          <p:nvSpPr>
            <p:cNvPr id="103" name="Rectangle 100"/>
            <p:cNvSpPr>
              <a:spLocks noChangeArrowheads="1"/>
            </p:cNvSpPr>
            <p:nvPr/>
          </p:nvSpPr>
          <p:spPr bwMode="auto">
            <a:xfrm>
              <a:off x="1449413" y="3230756"/>
              <a:ext cx="708527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defTabSz="844083"/>
              <a:r>
                <a:rPr lang="en-US" altLang="en-US" sz="1600" dirty="0" err="1">
                  <a:solidFill>
                    <a:srgbClr val="000000"/>
                  </a:solidFill>
                </a:rPr>
                <a:t>psa</a:t>
              </a:r>
              <a:r>
                <a:rPr lang="en-US" altLang="en-US" sz="1600" dirty="0">
                  <a:solidFill>
                    <a:srgbClr val="000000"/>
                  </a:solidFill>
                </a:rPr>
                <a:t> </a:t>
              </a:r>
            </a:p>
            <a:p>
              <a:pPr algn="ctr" defTabSz="844083"/>
              <a:r>
                <a:rPr lang="en-US" altLang="en-US" sz="1600" dirty="0">
                  <a:solidFill>
                    <a:srgbClr val="000000"/>
                  </a:solidFill>
                </a:rPr>
                <a:t>(ng/mL)</a:t>
              </a:r>
              <a:endParaRPr lang="en-US" altLang="en-US" sz="1600" dirty="0"/>
            </a:p>
          </p:txBody>
        </p:sp>
      </p:grpSp>
      <p:sp>
        <p:nvSpPr>
          <p:cNvPr id="105" name="Rectangle 104"/>
          <p:cNvSpPr/>
          <p:nvPr/>
        </p:nvSpPr>
        <p:spPr>
          <a:xfrm>
            <a:off x="273166" y="1022385"/>
            <a:ext cx="37061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340">
              <a:spcAft>
                <a:spcPts val="1400"/>
              </a:spcAft>
            </a:pPr>
            <a:r>
              <a:rPr lang="en-US" sz="2800" dirty="0" err="1">
                <a:solidFill>
                  <a:srgbClr val="40404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Dotplot</a:t>
            </a:r>
            <a:r>
              <a:rPr lang="en-US" sz="2800" dirty="0">
                <a:solidFill>
                  <a:srgbClr val="40404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 (numeric data)</a:t>
            </a:r>
            <a:endParaRPr lang="en-GB" sz="2800" dirty="0">
              <a:solidFill>
                <a:srgbClr val="404040"/>
              </a:solidFill>
              <a:effectLst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95204" y="6337007"/>
            <a:ext cx="62162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340">
              <a:spcAft>
                <a:spcPts val="1400"/>
              </a:spcAft>
            </a:pPr>
            <a:r>
              <a:rPr lang="en-US" sz="1400" dirty="0" err="1">
                <a:solidFill>
                  <a:srgbClr val="40404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psa</a:t>
            </a:r>
            <a:r>
              <a:rPr lang="en-US" sz="1400" dirty="0">
                <a:solidFill>
                  <a:srgbClr val="40404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 levels among prostate cancer patients before and after treatment with SABR</a:t>
            </a:r>
            <a:endParaRPr lang="en-GB" sz="1400" dirty="0">
              <a:solidFill>
                <a:srgbClr val="404040"/>
              </a:solidFill>
              <a:effectLst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279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21079" y="1027017"/>
            <a:ext cx="37905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340">
              <a:spcAft>
                <a:spcPts val="1400"/>
              </a:spcAft>
            </a:pPr>
            <a:r>
              <a:rPr lang="en-US" sz="2800" dirty="0">
                <a:solidFill>
                  <a:srgbClr val="40404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Box plot (numeric data)</a:t>
            </a:r>
            <a:endParaRPr lang="en-GB" sz="2800" dirty="0">
              <a:solidFill>
                <a:srgbClr val="404040"/>
              </a:solidFill>
              <a:effectLst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5368926" y="1784351"/>
            <a:ext cx="0" cy="4165600"/>
          </a:xfrm>
          <a:prstGeom prst="line">
            <a:avLst/>
          </a:prstGeom>
          <a:noFill/>
          <a:ln w="2698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5435601" y="1679576"/>
            <a:ext cx="12922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maximum value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5480051" y="5797551"/>
            <a:ext cx="1235075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minimum value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Freeform 14"/>
          <p:cNvSpPr>
            <a:spLocks noEditPoints="1"/>
          </p:cNvSpPr>
          <p:nvPr/>
        </p:nvSpPr>
        <p:spPr bwMode="auto">
          <a:xfrm>
            <a:off x="4548188" y="4006851"/>
            <a:ext cx="1633538" cy="36513"/>
          </a:xfrm>
          <a:custGeom>
            <a:avLst/>
            <a:gdLst>
              <a:gd name="T0" fmla="*/ 24 w 2834"/>
              <a:gd name="T1" fmla="*/ 16 h 65"/>
              <a:gd name="T2" fmla="*/ 121 w 2834"/>
              <a:gd name="T3" fmla="*/ 64 h 65"/>
              <a:gd name="T4" fmla="*/ 120 w 2834"/>
              <a:gd name="T5" fmla="*/ 16 h 65"/>
              <a:gd name="T6" fmla="*/ 217 w 2834"/>
              <a:gd name="T7" fmla="*/ 63 h 65"/>
              <a:gd name="T8" fmla="*/ 216 w 2834"/>
              <a:gd name="T9" fmla="*/ 15 h 65"/>
              <a:gd name="T10" fmla="*/ 313 w 2834"/>
              <a:gd name="T11" fmla="*/ 63 h 65"/>
              <a:gd name="T12" fmla="*/ 289 w 2834"/>
              <a:gd name="T13" fmla="*/ 39 h 65"/>
              <a:gd name="T14" fmla="*/ 433 w 2834"/>
              <a:gd name="T15" fmla="*/ 38 h 65"/>
              <a:gd name="T16" fmla="*/ 409 w 2834"/>
              <a:gd name="T17" fmla="*/ 62 h 65"/>
              <a:gd name="T18" fmla="*/ 505 w 2834"/>
              <a:gd name="T19" fmla="*/ 14 h 65"/>
              <a:gd name="T20" fmla="*/ 601 w 2834"/>
              <a:gd name="T21" fmla="*/ 61 h 65"/>
              <a:gd name="T22" fmla="*/ 601 w 2834"/>
              <a:gd name="T23" fmla="*/ 13 h 65"/>
              <a:gd name="T24" fmla="*/ 697 w 2834"/>
              <a:gd name="T25" fmla="*/ 61 h 65"/>
              <a:gd name="T26" fmla="*/ 673 w 2834"/>
              <a:gd name="T27" fmla="*/ 37 h 65"/>
              <a:gd name="T28" fmla="*/ 817 w 2834"/>
              <a:gd name="T29" fmla="*/ 36 h 65"/>
              <a:gd name="T30" fmla="*/ 793 w 2834"/>
              <a:gd name="T31" fmla="*/ 60 h 65"/>
              <a:gd name="T32" fmla="*/ 889 w 2834"/>
              <a:gd name="T33" fmla="*/ 12 h 65"/>
              <a:gd name="T34" fmla="*/ 985 w 2834"/>
              <a:gd name="T35" fmla="*/ 59 h 65"/>
              <a:gd name="T36" fmla="*/ 985 w 2834"/>
              <a:gd name="T37" fmla="*/ 11 h 65"/>
              <a:gd name="T38" fmla="*/ 1081 w 2834"/>
              <a:gd name="T39" fmla="*/ 58 h 65"/>
              <a:gd name="T40" fmla="*/ 1081 w 2834"/>
              <a:gd name="T41" fmla="*/ 58 h 65"/>
              <a:gd name="T42" fmla="*/ 1177 w 2834"/>
              <a:gd name="T43" fmla="*/ 10 h 65"/>
              <a:gd name="T44" fmla="*/ 1273 w 2834"/>
              <a:gd name="T45" fmla="*/ 57 h 65"/>
              <a:gd name="T46" fmla="*/ 1273 w 2834"/>
              <a:gd name="T47" fmla="*/ 9 h 65"/>
              <a:gd name="T48" fmla="*/ 1369 w 2834"/>
              <a:gd name="T49" fmla="*/ 57 h 65"/>
              <a:gd name="T50" fmla="*/ 1345 w 2834"/>
              <a:gd name="T51" fmla="*/ 33 h 65"/>
              <a:gd name="T52" fmla="*/ 1489 w 2834"/>
              <a:gd name="T53" fmla="*/ 32 h 65"/>
              <a:gd name="T54" fmla="*/ 1561 w 2834"/>
              <a:gd name="T55" fmla="*/ 56 h 65"/>
              <a:gd name="T56" fmla="*/ 1561 w 2834"/>
              <a:gd name="T57" fmla="*/ 8 h 65"/>
              <a:gd name="T58" fmla="*/ 1657 w 2834"/>
              <a:gd name="T59" fmla="*/ 55 h 65"/>
              <a:gd name="T60" fmla="*/ 1633 w 2834"/>
              <a:gd name="T61" fmla="*/ 31 h 65"/>
              <a:gd name="T62" fmla="*/ 1777 w 2834"/>
              <a:gd name="T63" fmla="*/ 30 h 65"/>
              <a:gd name="T64" fmla="*/ 1753 w 2834"/>
              <a:gd name="T65" fmla="*/ 55 h 65"/>
              <a:gd name="T66" fmla="*/ 1849 w 2834"/>
              <a:gd name="T67" fmla="*/ 6 h 65"/>
              <a:gd name="T68" fmla="*/ 1946 w 2834"/>
              <a:gd name="T69" fmla="*/ 53 h 65"/>
              <a:gd name="T70" fmla="*/ 1921 w 2834"/>
              <a:gd name="T71" fmla="*/ 30 h 65"/>
              <a:gd name="T72" fmla="*/ 2065 w 2834"/>
              <a:gd name="T73" fmla="*/ 29 h 65"/>
              <a:gd name="T74" fmla="*/ 2042 w 2834"/>
              <a:gd name="T75" fmla="*/ 53 h 65"/>
              <a:gd name="T76" fmla="*/ 2137 w 2834"/>
              <a:gd name="T77" fmla="*/ 4 h 65"/>
              <a:gd name="T78" fmla="*/ 2234 w 2834"/>
              <a:gd name="T79" fmla="*/ 52 h 65"/>
              <a:gd name="T80" fmla="*/ 2233 w 2834"/>
              <a:gd name="T81" fmla="*/ 4 h 65"/>
              <a:gd name="T82" fmla="*/ 2330 w 2834"/>
              <a:gd name="T83" fmla="*/ 51 h 65"/>
              <a:gd name="T84" fmla="*/ 2330 w 2834"/>
              <a:gd name="T85" fmla="*/ 51 h 65"/>
              <a:gd name="T86" fmla="*/ 2426 w 2834"/>
              <a:gd name="T87" fmla="*/ 3 h 65"/>
              <a:gd name="T88" fmla="*/ 2522 w 2834"/>
              <a:gd name="T89" fmla="*/ 50 h 65"/>
              <a:gd name="T90" fmla="*/ 2498 w 2834"/>
              <a:gd name="T91" fmla="*/ 26 h 65"/>
              <a:gd name="T92" fmla="*/ 2642 w 2834"/>
              <a:gd name="T93" fmla="*/ 26 h 65"/>
              <a:gd name="T94" fmla="*/ 2714 w 2834"/>
              <a:gd name="T95" fmla="*/ 49 h 65"/>
              <a:gd name="T96" fmla="*/ 2714 w 2834"/>
              <a:gd name="T97" fmla="*/ 1 h 65"/>
              <a:gd name="T98" fmla="*/ 2810 w 2834"/>
              <a:gd name="T99" fmla="*/ 49 h 65"/>
              <a:gd name="T100" fmla="*/ 2786 w 2834"/>
              <a:gd name="T101" fmla="*/ 25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2834" h="65">
                <a:moveTo>
                  <a:pt x="25" y="64"/>
                </a:moveTo>
                <a:lnTo>
                  <a:pt x="25" y="64"/>
                </a:lnTo>
                <a:lnTo>
                  <a:pt x="25" y="64"/>
                </a:lnTo>
                <a:cubicBezTo>
                  <a:pt x="38" y="64"/>
                  <a:pt x="49" y="54"/>
                  <a:pt x="49" y="40"/>
                </a:cubicBezTo>
                <a:cubicBezTo>
                  <a:pt x="48" y="27"/>
                  <a:pt x="38" y="16"/>
                  <a:pt x="24" y="16"/>
                </a:cubicBezTo>
                <a:lnTo>
                  <a:pt x="24" y="16"/>
                </a:lnTo>
                <a:lnTo>
                  <a:pt x="24" y="16"/>
                </a:lnTo>
                <a:cubicBezTo>
                  <a:pt x="11" y="17"/>
                  <a:pt x="0" y="27"/>
                  <a:pt x="0" y="41"/>
                </a:cubicBezTo>
                <a:cubicBezTo>
                  <a:pt x="1" y="54"/>
                  <a:pt x="11" y="65"/>
                  <a:pt x="25" y="64"/>
                </a:cubicBezTo>
                <a:close/>
                <a:moveTo>
                  <a:pt x="121" y="64"/>
                </a:moveTo>
                <a:lnTo>
                  <a:pt x="121" y="64"/>
                </a:lnTo>
                <a:lnTo>
                  <a:pt x="121" y="64"/>
                </a:lnTo>
                <a:cubicBezTo>
                  <a:pt x="134" y="64"/>
                  <a:pt x="145" y="53"/>
                  <a:pt x="145" y="40"/>
                </a:cubicBezTo>
                <a:cubicBezTo>
                  <a:pt x="144" y="27"/>
                  <a:pt x="134" y="16"/>
                  <a:pt x="120" y="16"/>
                </a:cubicBezTo>
                <a:lnTo>
                  <a:pt x="120" y="16"/>
                </a:lnTo>
                <a:lnTo>
                  <a:pt x="120" y="16"/>
                </a:lnTo>
                <a:cubicBezTo>
                  <a:pt x="107" y="16"/>
                  <a:pt x="96" y="27"/>
                  <a:pt x="97" y="40"/>
                </a:cubicBezTo>
                <a:cubicBezTo>
                  <a:pt x="97" y="53"/>
                  <a:pt x="107" y="64"/>
                  <a:pt x="121" y="64"/>
                </a:cubicBezTo>
                <a:close/>
                <a:moveTo>
                  <a:pt x="217" y="63"/>
                </a:moveTo>
                <a:lnTo>
                  <a:pt x="217" y="63"/>
                </a:lnTo>
                <a:lnTo>
                  <a:pt x="217" y="63"/>
                </a:lnTo>
                <a:cubicBezTo>
                  <a:pt x="230" y="63"/>
                  <a:pt x="241" y="52"/>
                  <a:pt x="241" y="39"/>
                </a:cubicBezTo>
                <a:cubicBezTo>
                  <a:pt x="241" y="26"/>
                  <a:pt x="230" y="15"/>
                  <a:pt x="216" y="15"/>
                </a:cubicBezTo>
                <a:lnTo>
                  <a:pt x="216" y="15"/>
                </a:lnTo>
                <a:lnTo>
                  <a:pt x="216" y="15"/>
                </a:lnTo>
                <a:cubicBezTo>
                  <a:pt x="203" y="15"/>
                  <a:pt x="192" y="26"/>
                  <a:pt x="193" y="40"/>
                </a:cubicBezTo>
                <a:cubicBezTo>
                  <a:pt x="193" y="53"/>
                  <a:pt x="203" y="63"/>
                  <a:pt x="217" y="63"/>
                </a:cubicBezTo>
                <a:close/>
                <a:moveTo>
                  <a:pt x="313" y="63"/>
                </a:moveTo>
                <a:lnTo>
                  <a:pt x="313" y="63"/>
                </a:lnTo>
                <a:lnTo>
                  <a:pt x="313" y="63"/>
                </a:lnTo>
                <a:cubicBezTo>
                  <a:pt x="326" y="63"/>
                  <a:pt x="337" y="52"/>
                  <a:pt x="337" y="39"/>
                </a:cubicBezTo>
                <a:cubicBezTo>
                  <a:pt x="337" y="25"/>
                  <a:pt x="326" y="15"/>
                  <a:pt x="313" y="15"/>
                </a:cubicBezTo>
                <a:lnTo>
                  <a:pt x="312" y="15"/>
                </a:lnTo>
                <a:lnTo>
                  <a:pt x="312" y="15"/>
                </a:lnTo>
                <a:cubicBezTo>
                  <a:pt x="299" y="15"/>
                  <a:pt x="289" y="26"/>
                  <a:pt x="289" y="39"/>
                </a:cubicBezTo>
                <a:cubicBezTo>
                  <a:pt x="289" y="52"/>
                  <a:pt x="299" y="63"/>
                  <a:pt x="313" y="63"/>
                </a:cubicBezTo>
                <a:close/>
                <a:moveTo>
                  <a:pt x="409" y="62"/>
                </a:moveTo>
                <a:lnTo>
                  <a:pt x="409" y="62"/>
                </a:lnTo>
                <a:lnTo>
                  <a:pt x="409" y="62"/>
                </a:lnTo>
                <a:cubicBezTo>
                  <a:pt x="422" y="62"/>
                  <a:pt x="433" y="51"/>
                  <a:pt x="433" y="38"/>
                </a:cubicBezTo>
                <a:cubicBezTo>
                  <a:pt x="433" y="25"/>
                  <a:pt x="422" y="14"/>
                  <a:pt x="409" y="14"/>
                </a:cubicBezTo>
                <a:lnTo>
                  <a:pt x="409" y="14"/>
                </a:lnTo>
                <a:lnTo>
                  <a:pt x="409" y="14"/>
                </a:lnTo>
                <a:cubicBezTo>
                  <a:pt x="395" y="14"/>
                  <a:pt x="385" y="25"/>
                  <a:pt x="385" y="38"/>
                </a:cubicBezTo>
                <a:cubicBezTo>
                  <a:pt x="385" y="52"/>
                  <a:pt x="396" y="62"/>
                  <a:pt x="409" y="62"/>
                </a:cubicBezTo>
                <a:close/>
                <a:moveTo>
                  <a:pt x="505" y="62"/>
                </a:moveTo>
                <a:lnTo>
                  <a:pt x="505" y="62"/>
                </a:lnTo>
                <a:lnTo>
                  <a:pt x="505" y="62"/>
                </a:lnTo>
                <a:cubicBezTo>
                  <a:pt x="518" y="62"/>
                  <a:pt x="529" y="51"/>
                  <a:pt x="529" y="38"/>
                </a:cubicBezTo>
                <a:cubicBezTo>
                  <a:pt x="529" y="24"/>
                  <a:pt x="518" y="14"/>
                  <a:pt x="505" y="14"/>
                </a:cubicBezTo>
                <a:lnTo>
                  <a:pt x="505" y="14"/>
                </a:lnTo>
                <a:lnTo>
                  <a:pt x="505" y="14"/>
                </a:lnTo>
                <a:cubicBezTo>
                  <a:pt x="491" y="14"/>
                  <a:pt x="481" y="25"/>
                  <a:pt x="481" y="38"/>
                </a:cubicBezTo>
                <a:cubicBezTo>
                  <a:pt x="481" y="51"/>
                  <a:pt x="492" y="62"/>
                  <a:pt x="505" y="62"/>
                </a:cubicBezTo>
                <a:close/>
                <a:moveTo>
                  <a:pt x="601" y="61"/>
                </a:moveTo>
                <a:lnTo>
                  <a:pt x="601" y="61"/>
                </a:lnTo>
                <a:lnTo>
                  <a:pt x="601" y="61"/>
                </a:lnTo>
                <a:cubicBezTo>
                  <a:pt x="614" y="61"/>
                  <a:pt x="625" y="50"/>
                  <a:pt x="625" y="37"/>
                </a:cubicBezTo>
                <a:cubicBezTo>
                  <a:pt x="625" y="24"/>
                  <a:pt x="614" y="13"/>
                  <a:pt x="601" y="13"/>
                </a:cubicBezTo>
                <a:lnTo>
                  <a:pt x="601" y="13"/>
                </a:lnTo>
                <a:lnTo>
                  <a:pt x="601" y="13"/>
                </a:lnTo>
                <a:cubicBezTo>
                  <a:pt x="587" y="13"/>
                  <a:pt x="577" y="24"/>
                  <a:pt x="577" y="37"/>
                </a:cubicBezTo>
                <a:cubicBezTo>
                  <a:pt x="577" y="51"/>
                  <a:pt x="588" y="61"/>
                  <a:pt x="601" y="61"/>
                </a:cubicBezTo>
                <a:close/>
                <a:moveTo>
                  <a:pt x="697" y="61"/>
                </a:moveTo>
                <a:lnTo>
                  <a:pt x="697" y="61"/>
                </a:lnTo>
                <a:lnTo>
                  <a:pt x="697" y="61"/>
                </a:lnTo>
                <a:cubicBezTo>
                  <a:pt x="710" y="61"/>
                  <a:pt x="721" y="50"/>
                  <a:pt x="721" y="36"/>
                </a:cubicBezTo>
                <a:cubicBezTo>
                  <a:pt x="721" y="23"/>
                  <a:pt x="710" y="13"/>
                  <a:pt x="697" y="13"/>
                </a:cubicBezTo>
                <a:lnTo>
                  <a:pt x="697" y="13"/>
                </a:lnTo>
                <a:cubicBezTo>
                  <a:pt x="683" y="13"/>
                  <a:pt x="673" y="24"/>
                  <a:pt x="673" y="37"/>
                </a:cubicBezTo>
                <a:cubicBezTo>
                  <a:pt x="673" y="50"/>
                  <a:pt x="684" y="61"/>
                  <a:pt x="697" y="61"/>
                </a:cubicBezTo>
                <a:close/>
                <a:moveTo>
                  <a:pt x="793" y="60"/>
                </a:moveTo>
                <a:lnTo>
                  <a:pt x="793" y="60"/>
                </a:lnTo>
                <a:lnTo>
                  <a:pt x="793" y="60"/>
                </a:lnTo>
                <a:cubicBezTo>
                  <a:pt x="806" y="60"/>
                  <a:pt x="817" y="49"/>
                  <a:pt x="817" y="36"/>
                </a:cubicBezTo>
                <a:cubicBezTo>
                  <a:pt x="817" y="23"/>
                  <a:pt x="806" y="12"/>
                  <a:pt x="793" y="12"/>
                </a:cubicBezTo>
                <a:lnTo>
                  <a:pt x="793" y="12"/>
                </a:lnTo>
                <a:lnTo>
                  <a:pt x="793" y="12"/>
                </a:lnTo>
                <a:cubicBezTo>
                  <a:pt x="779" y="12"/>
                  <a:pt x="769" y="23"/>
                  <a:pt x="769" y="36"/>
                </a:cubicBezTo>
                <a:cubicBezTo>
                  <a:pt x="769" y="49"/>
                  <a:pt x="780" y="60"/>
                  <a:pt x="793" y="60"/>
                </a:cubicBezTo>
                <a:close/>
                <a:moveTo>
                  <a:pt x="889" y="60"/>
                </a:moveTo>
                <a:lnTo>
                  <a:pt x="889" y="60"/>
                </a:lnTo>
                <a:lnTo>
                  <a:pt x="889" y="60"/>
                </a:lnTo>
                <a:cubicBezTo>
                  <a:pt x="902" y="59"/>
                  <a:pt x="913" y="49"/>
                  <a:pt x="913" y="35"/>
                </a:cubicBezTo>
                <a:cubicBezTo>
                  <a:pt x="913" y="22"/>
                  <a:pt x="902" y="11"/>
                  <a:pt x="889" y="12"/>
                </a:cubicBezTo>
                <a:lnTo>
                  <a:pt x="889" y="12"/>
                </a:lnTo>
                <a:cubicBezTo>
                  <a:pt x="875" y="12"/>
                  <a:pt x="865" y="22"/>
                  <a:pt x="865" y="36"/>
                </a:cubicBezTo>
                <a:cubicBezTo>
                  <a:pt x="865" y="49"/>
                  <a:pt x="876" y="60"/>
                  <a:pt x="889" y="60"/>
                </a:cubicBezTo>
                <a:close/>
                <a:moveTo>
                  <a:pt x="985" y="59"/>
                </a:moveTo>
                <a:lnTo>
                  <a:pt x="985" y="59"/>
                </a:lnTo>
                <a:lnTo>
                  <a:pt x="985" y="59"/>
                </a:lnTo>
                <a:cubicBezTo>
                  <a:pt x="998" y="59"/>
                  <a:pt x="1009" y="48"/>
                  <a:pt x="1009" y="35"/>
                </a:cubicBezTo>
                <a:cubicBezTo>
                  <a:pt x="1009" y="22"/>
                  <a:pt x="998" y="11"/>
                  <a:pt x="985" y="11"/>
                </a:cubicBezTo>
                <a:lnTo>
                  <a:pt x="985" y="11"/>
                </a:lnTo>
                <a:lnTo>
                  <a:pt x="985" y="11"/>
                </a:lnTo>
                <a:cubicBezTo>
                  <a:pt x="972" y="11"/>
                  <a:pt x="961" y="22"/>
                  <a:pt x="961" y="35"/>
                </a:cubicBezTo>
                <a:cubicBezTo>
                  <a:pt x="961" y="48"/>
                  <a:pt x="972" y="59"/>
                  <a:pt x="985" y="59"/>
                </a:cubicBezTo>
                <a:close/>
                <a:moveTo>
                  <a:pt x="1081" y="58"/>
                </a:moveTo>
                <a:lnTo>
                  <a:pt x="1081" y="58"/>
                </a:lnTo>
                <a:lnTo>
                  <a:pt x="1081" y="58"/>
                </a:lnTo>
                <a:cubicBezTo>
                  <a:pt x="1094" y="58"/>
                  <a:pt x="1105" y="48"/>
                  <a:pt x="1105" y="34"/>
                </a:cubicBezTo>
                <a:cubicBezTo>
                  <a:pt x="1105" y="21"/>
                  <a:pt x="1094" y="10"/>
                  <a:pt x="1081" y="10"/>
                </a:cubicBezTo>
                <a:lnTo>
                  <a:pt x="1081" y="10"/>
                </a:lnTo>
                <a:cubicBezTo>
                  <a:pt x="1068" y="11"/>
                  <a:pt x="1057" y="21"/>
                  <a:pt x="1057" y="35"/>
                </a:cubicBezTo>
                <a:cubicBezTo>
                  <a:pt x="1057" y="48"/>
                  <a:pt x="1068" y="59"/>
                  <a:pt x="1081" y="58"/>
                </a:cubicBezTo>
                <a:close/>
                <a:moveTo>
                  <a:pt x="1177" y="58"/>
                </a:moveTo>
                <a:lnTo>
                  <a:pt x="1177" y="58"/>
                </a:lnTo>
                <a:lnTo>
                  <a:pt x="1177" y="58"/>
                </a:lnTo>
                <a:cubicBezTo>
                  <a:pt x="1190" y="58"/>
                  <a:pt x="1201" y="47"/>
                  <a:pt x="1201" y="34"/>
                </a:cubicBezTo>
                <a:cubicBezTo>
                  <a:pt x="1201" y="20"/>
                  <a:pt x="1190" y="10"/>
                  <a:pt x="1177" y="10"/>
                </a:cubicBezTo>
                <a:lnTo>
                  <a:pt x="1177" y="10"/>
                </a:lnTo>
                <a:lnTo>
                  <a:pt x="1177" y="10"/>
                </a:lnTo>
                <a:cubicBezTo>
                  <a:pt x="1164" y="10"/>
                  <a:pt x="1153" y="21"/>
                  <a:pt x="1153" y="34"/>
                </a:cubicBezTo>
                <a:cubicBezTo>
                  <a:pt x="1153" y="47"/>
                  <a:pt x="1164" y="58"/>
                  <a:pt x="1177" y="58"/>
                </a:cubicBezTo>
                <a:close/>
                <a:moveTo>
                  <a:pt x="1273" y="57"/>
                </a:moveTo>
                <a:lnTo>
                  <a:pt x="1273" y="57"/>
                </a:lnTo>
                <a:lnTo>
                  <a:pt x="1273" y="57"/>
                </a:lnTo>
                <a:cubicBezTo>
                  <a:pt x="1287" y="57"/>
                  <a:pt x="1297" y="46"/>
                  <a:pt x="1297" y="33"/>
                </a:cubicBezTo>
                <a:cubicBezTo>
                  <a:pt x="1297" y="20"/>
                  <a:pt x="1286" y="9"/>
                  <a:pt x="1273" y="9"/>
                </a:cubicBezTo>
                <a:lnTo>
                  <a:pt x="1273" y="9"/>
                </a:lnTo>
                <a:cubicBezTo>
                  <a:pt x="1260" y="9"/>
                  <a:pt x="1249" y="20"/>
                  <a:pt x="1249" y="33"/>
                </a:cubicBezTo>
                <a:cubicBezTo>
                  <a:pt x="1249" y="47"/>
                  <a:pt x="1260" y="57"/>
                  <a:pt x="1273" y="57"/>
                </a:cubicBezTo>
                <a:close/>
                <a:moveTo>
                  <a:pt x="1369" y="57"/>
                </a:moveTo>
                <a:lnTo>
                  <a:pt x="1369" y="57"/>
                </a:lnTo>
                <a:lnTo>
                  <a:pt x="1369" y="57"/>
                </a:lnTo>
                <a:cubicBezTo>
                  <a:pt x="1383" y="57"/>
                  <a:pt x="1393" y="46"/>
                  <a:pt x="1393" y="33"/>
                </a:cubicBezTo>
                <a:cubicBezTo>
                  <a:pt x="1393" y="19"/>
                  <a:pt x="1382" y="9"/>
                  <a:pt x="1369" y="9"/>
                </a:cubicBezTo>
                <a:lnTo>
                  <a:pt x="1369" y="9"/>
                </a:lnTo>
                <a:lnTo>
                  <a:pt x="1369" y="9"/>
                </a:lnTo>
                <a:cubicBezTo>
                  <a:pt x="1356" y="9"/>
                  <a:pt x="1345" y="20"/>
                  <a:pt x="1345" y="33"/>
                </a:cubicBezTo>
                <a:cubicBezTo>
                  <a:pt x="1345" y="46"/>
                  <a:pt x="1356" y="57"/>
                  <a:pt x="1369" y="57"/>
                </a:cubicBezTo>
                <a:close/>
                <a:moveTo>
                  <a:pt x="1465" y="56"/>
                </a:moveTo>
                <a:lnTo>
                  <a:pt x="1465" y="56"/>
                </a:lnTo>
                <a:lnTo>
                  <a:pt x="1465" y="56"/>
                </a:lnTo>
                <a:cubicBezTo>
                  <a:pt x="1479" y="56"/>
                  <a:pt x="1489" y="45"/>
                  <a:pt x="1489" y="32"/>
                </a:cubicBezTo>
                <a:cubicBezTo>
                  <a:pt x="1489" y="19"/>
                  <a:pt x="1478" y="8"/>
                  <a:pt x="1465" y="8"/>
                </a:cubicBezTo>
                <a:lnTo>
                  <a:pt x="1465" y="8"/>
                </a:lnTo>
                <a:cubicBezTo>
                  <a:pt x="1452" y="8"/>
                  <a:pt x="1441" y="19"/>
                  <a:pt x="1441" y="32"/>
                </a:cubicBezTo>
                <a:cubicBezTo>
                  <a:pt x="1441" y="46"/>
                  <a:pt x="1452" y="56"/>
                  <a:pt x="1465" y="56"/>
                </a:cubicBezTo>
                <a:close/>
                <a:moveTo>
                  <a:pt x="1561" y="56"/>
                </a:moveTo>
                <a:lnTo>
                  <a:pt x="1561" y="56"/>
                </a:lnTo>
                <a:lnTo>
                  <a:pt x="1561" y="56"/>
                </a:lnTo>
                <a:cubicBezTo>
                  <a:pt x="1575" y="56"/>
                  <a:pt x="1585" y="45"/>
                  <a:pt x="1585" y="32"/>
                </a:cubicBezTo>
                <a:cubicBezTo>
                  <a:pt x="1585" y="18"/>
                  <a:pt x="1574" y="8"/>
                  <a:pt x="1561" y="8"/>
                </a:cubicBezTo>
                <a:lnTo>
                  <a:pt x="1561" y="8"/>
                </a:lnTo>
                <a:lnTo>
                  <a:pt x="1561" y="8"/>
                </a:lnTo>
                <a:cubicBezTo>
                  <a:pt x="1548" y="8"/>
                  <a:pt x="1537" y="19"/>
                  <a:pt x="1537" y="32"/>
                </a:cubicBezTo>
                <a:cubicBezTo>
                  <a:pt x="1537" y="45"/>
                  <a:pt x="1548" y="56"/>
                  <a:pt x="1561" y="56"/>
                </a:cubicBezTo>
                <a:close/>
                <a:moveTo>
                  <a:pt x="1657" y="55"/>
                </a:moveTo>
                <a:lnTo>
                  <a:pt x="1657" y="55"/>
                </a:lnTo>
                <a:lnTo>
                  <a:pt x="1657" y="55"/>
                </a:lnTo>
                <a:cubicBezTo>
                  <a:pt x="1671" y="55"/>
                  <a:pt x="1681" y="44"/>
                  <a:pt x="1681" y="31"/>
                </a:cubicBezTo>
                <a:cubicBezTo>
                  <a:pt x="1681" y="18"/>
                  <a:pt x="1670" y="7"/>
                  <a:pt x="1657" y="7"/>
                </a:cubicBezTo>
                <a:lnTo>
                  <a:pt x="1657" y="7"/>
                </a:lnTo>
                <a:cubicBezTo>
                  <a:pt x="1644" y="7"/>
                  <a:pt x="1633" y="18"/>
                  <a:pt x="1633" y="31"/>
                </a:cubicBezTo>
                <a:cubicBezTo>
                  <a:pt x="1633" y="45"/>
                  <a:pt x="1644" y="55"/>
                  <a:pt x="1657" y="55"/>
                </a:cubicBezTo>
                <a:close/>
                <a:moveTo>
                  <a:pt x="1753" y="55"/>
                </a:moveTo>
                <a:lnTo>
                  <a:pt x="1753" y="55"/>
                </a:lnTo>
                <a:lnTo>
                  <a:pt x="1753" y="55"/>
                </a:lnTo>
                <a:cubicBezTo>
                  <a:pt x="1767" y="55"/>
                  <a:pt x="1777" y="44"/>
                  <a:pt x="1777" y="30"/>
                </a:cubicBezTo>
                <a:cubicBezTo>
                  <a:pt x="1777" y="17"/>
                  <a:pt x="1766" y="7"/>
                  <a:pt x="1753" y="7"/>
                </a:cubicBezTo>
                <a:lnTo>
                  <a:pt x="1753" y="7"/>
                </a:lnTo>
                <a:lnTo>
                  <a:pt x="1753" y="7"/>
                </a:lnTo>
                <a:cubicBezTo>
                  <a:pt x="1740" y="7"/>
                  <a:pt x="1729" y="17"/>
                  <a:pt x="1729" y="31"/>
                </a:cubicBezTo>
                <a:cubicBezTo>
                  <a:pt x="1729" y="44"/>
                  <a:pt x="1740" y="55"/>
                  <a:pt x="1753" y="55"/>
                </a:cubicBezTo>
                <a:close/>
                <a:moveTo>
                  <a:pt x="1849" y="54"/>
                </a:moveTo>
                <a:lnTo>
                  <a:pt x="1850" y="54"/>
                </a:lnTo>
                <a:lnTo>
                  <a:pt x="1850" y="54"/>
                </a:lnTo>
                <a:cubicBezTo>
                  <a:pt x="1863" y="54"/>
                  <a:pt x="1873" y="43"/>
                  <a:pt x="1873" y="30"/>
                </a:cubicBezTo>
                <a:cubicBezTo>
                  <a:pt x="1873" y="17"/>
                  <a:pt x="1863" y="6"/>
                  <a:pt x="1849" y="6"/>
                </a:cubicBezTo>
                <a:lnTo>
                  <a:pt x="1849" y="6"/>
                </a:lnTo>
                <a:cubicBezTo>
                  <a:pt x="1836" y="6"/>
                  <a:pt x="1825" y="17"/>
                  <a:pt x="1825" y="30"/>
                </a:cubicBezTo>
                <a:cubicBezTo>
                  <a:pt x="1825" y="43"/>
                  <a:pt x="1836" y="54"/>
                  <a:pt x="1849" y="54"/>
                </a:cubicBezTo>
                <a:close/>
                <a:moveTo>
                  <a:pt x="1946" y="53"/>
                </a:moveTo>
                <a:lnTo>
                  <a:pt x="1946" y="53"/>
                </a:lnTo>
                <a:lnTo>
                  <a:pt x="1946" y="53"/>
                </a:lnTo>
                <a:cubicBezTo>
                  <a:pt x="1959" y="53"/>
                  <a:pt x="1970" y="43"/>
                  <a:pt x="1969" y="29"/>
                </a:cubicBezTo>
                <a:cubicBezTo>
                  <a:pt x="1969" y="16"/>
                  <a:pt x="1959" y="5"/>
                  <a:pt x="1945" y="5"/>
                </a:cubicBezTo>
                <a:lnTo>
                  <a:pt x="1945" y="5"/>
                </a:lnTo>
                <a:cubicBezTo>
                  <a:pt x="1932" y="6"/>
                  <a:pt x="1921" y="16"/>
                  <a:pt x="1921" y="30"/>
                </a:cubicBezTo>
                <a:cubicBezTo>
                  <a:pt x="1921" y="43"/>
                  <a:pt x="1932" y="54"/>
                  <a:pt x="1946" y="53"/>
                </a:cubicBezTo>
                <a:close/>
                <a:moveTo>
                  <a:pt x="2042" y="53"/>
                </a:moveTo>
                <a:lnTo>
                  <a:pt x="2042" y="53"/>
                </a:lnTo>
                <a:lnTo>
                  <a:pt x="2042" y="53"/>
                </a:lnTo>
                <a:cubicBezTo>
                  <a:pt x="2055" y="53"/>
                  <a:pt x="2066" y="42"/>
                  <a:pt x="2065" y="29"/>
                </a:cubicBezTo>
                <a:cubicBezTo>
                  <a:pt x="2065" y="16"/>
                  <a:pt x="2055" y="5"/>
                  <a:pt x="2041" y="5"/>
                </a:cubicBezTo>
                <a:lnTo>
                  <a:pt x="2041" y="5"/>
                </a:lnTo>
                <a:lnTo>
                  <a:pt x="2041" y="5"/>
                </a:lnTo>
                <a:cubicBezTo>
                  <a:pt x="2028" y="5"/>
                  <a:pt x="2017" y="16"/>
                  <a:pt x="2017" y="29"/>
                </a:cubicBezTo>
                <a:cubicBezTo>
                  <a:pt x="2018" y="42"/>
                  <a:pt x="2028" y="53"/>
                  <a:pt x="2042" y="53"/>
                </a:cubicBezTo>
                <a:close/>
                <a:moveTo>
                  <a:pt x="2138" y="52"/>
                </a:moveTo>
                <a:lnTo>
                  <a:pt x="2138" y="52"/>
                </a:lnTo>
                <a:lnTo>
                  <a:pt x="2138" y="52"/>
                </a:lnTo>
                <a:cubicBezTo>
                  <a:pt x="2151" y="52"/>
                  <a:pt x="2162" y="42"/>
                  <a:pt x="2162" y="28"/>
                </a:cubicBezTo>
                <a:cubicBezTo>
                  <a:pt x="2161" y="15"/>
                  <a:pt x="2151" y="4"/>
                  <a:pt x="2137" y="4"/>
                </a:cubicBezTo>
                <a:lnTo>
                  <a:pt x="2137" y="4"/>
                </a:lnTo>
                <a:lnTo>
                  <a:pt x="2137" y="4"/>
                </a:lnTo>
                <a:cubicBezTo>
                  <a:pt x="2124" y="4"/>
                  <a:pt x="2113" y="15"/>
                  <a:pt x="2113" y="29"/>
                </a:cubicBezTo>
                <a:cubicBezTo>
                  <a:pt x="2114" y="42"/>
                  <a:pt x="2124" y="52"/>
                  <a:pt x="2138" y="52"/>
                </a:cubicBezTo>
                <a:close/>
                <a:moveTo>
                  <a:pt x="2234" y="52"/>
                </a:moveTo>
                <a:lnTo>
                  <a:pt x="2234" y="52"/>
                </a:lnTo>
                <a:lnTo>
                  <a:pt x="2234" y="52"/>
                </a:lnTo>
                <a:cubicBezTo>
                  <a:pt x="2247" y="52"/>
                  <a:pt x="2258" y="41"/>
                  <a:pt x="2258" y="28"/>
                </a:cubicBezTo>
                <a:cubicBezTo>
                  <a:pt x="2258" y="14"/>
                  <a:pt x="2247" y="4"/>
                  <a:pt x="2233" y="4"/>
                </a:cubicBezTo>
                <a:lnTo>
                  <a:pt x="2233" y="4"/>
                </a:lnTo>
                <a:cubicBezTo>
                  <a:pt x="2220" y="4"/>
                  <a:pt x="2209" y="15"/>
                  <a:pt x="2210" y="28"/>
                </a:cubicBezTo>
                <a:cubicBezTo>
                  <a:pt x="2210" y="41"/>
                  <a:pt x="2220" y="52"/>
                  <a:pt x="2234" y="52"/>
                </a:cubicBezTo>
                <a:close/>
                <a:moveTo>
                  <a:pt x="2330" y="51"/>
                </a:moveTo>
                <a:lnTo>
                  <a:pt x="2330" y="51"/>
                </a:lnTo>
                <a:lnTo>
                  <a:pt x="2330" y="51"/>
                </a:lnTo>
                <a:cubicBezTo>
                  <a:pt x="2343" y="51"/>
                  <a:pt x="2354" y="40"/>
                  <a:pt x="2354" y="27"/>
                </a:cubicBezTo>
                <a:cubicBezTo>
                  <a:pt x="2354" y="14"/>
                  <a:pt x="2343" y="3"/>
                  <a:pt x="2329" y="3"/>
                </a:cubicBezTo>
                <a:lnTo>
                  <a:pt x="2329" y="3"/>
                </a:lnTo>
                <a:cubicBezTo>
                  <a:pt x="2316" y="3"/>
                  <a:pt x="2306" y="14"/>
                  <a:pt x="2306" y="27"/>
                </a:cubicBezTo>
                <a:cubicBezTo>
                  <a:pt x="2306" y="41"/>
                  <a:pt x="2316" y="51"/>
                  <a:pt x="2330" y="51"/>
                </a:cubicBezTo>
                <a:close/>
                <a:moveTo>
                  <a:pt x="2426" y="51"/>
                </a:moveTo>
                <a:lnTo>
                  <a:pt x="2426" y="51"/>
                </a:lnTo>
                <a:lnTo>
                  <a:pt x="2426" y="51"/>
                </a:lnTo>
                <a:cubicBezTo>
                  <a:pt x="2439" y="51"/>
                  <a:pt x="2450" y="40"/>
                  <a:pt x="2450" y="27"/>
                </a:cubicBezTo>
                <a:cubicBezTo>
                  <a:pt x="2450" y="13"/>
                  <a:pt x="2439" y="3"/>
                  <a:pt x="2426" y="3"/>
                </a:cubicBezTo>
                <a:lnTo>
                  <a:pt x="2425" y="3"/>
                </a:lnTo>
                <a:cubicBezTo>
                  <a:pt x="2412" y="3"/>
                  <a:pt x="2402" y="14"/>
                  <a:pt x="2402" y="27"/>
                </a:cubicBezTo>
                <a:cubicBezTo>
                  <a:pt x="2402" y="40"/>
                  <a:pt x="2413" y="51"/>
                  <a:pt x="2426" y="51"/>
                </a:cubicBezTo>
                <a:close/>
                <a:moveTo>
                  <a:pt x="2522" y="50"/>
                </a:moveTo>
                <a:lnTo>
                  <a:pt x="2522" y="50"/>
                </a:lnTo>
                <a:lnTo>
                  <a:pt x="2522" y="50"/>
                </a:lnTo>
                <a:cubicBezTo>
                  <a:pt x="2535" y="50"/>
                  <a:pt x="2546" y="39"/>
                  <a:pt x="2546" y="26"/>
                </a:cubicBezTo>
                <a:cubicBezTo>
                  <a:pt x="2546" y="13"/>
                  <a:pt x="2535" y="2"/>
                  <a:pt x="2522" y="2"/>
                </a:cubicBezTo>
                <a:lnTo>
                  <a:pt x="2522" y="2"/>
                </a:lnTo>
                <a:cubicBezTo>
                  <a:pt x="2508" y="2"/>
                  <a:pt x="2498" y="13"/>
                  <a:pt x="2498" y="26"/>
                </a:cubicBezTo>
                <a:cubicBezTo>
                  <a:pt x="2498" y="40"/>
                  <a:pt x="2509" y="50"/>
                  <a:pt x="2522" y="50"/>
                </a:cubicBezTo>
                <a:close/>
                <a:moveTo>
                  <a:pt x="2618" y="50"/>
                </a:moveTo>
                <a:lnTo>
                  <a:pt x="2618" y="50"/>
                </a:lnTo>
                <a:lnTo>
                  <a:pt x="2618" y="50"/>
                </a:lnTo>
                <a:cubicBezTo>
                  <a:pt x="2631" y="50"/>
                  <a:pt x="2642" y="39"/>
                  <a:pt x="2642" y="26"/>
                </a:cubicBezTo>
                <a:cubicBezTo>
                  <a:pt x="2642" y="12"/>
                  <a:pt x="2631" y="2"/>
                  <a:pt x="2618" y="2"/>
                </a:cubicBezTo>
                <a:lnTo>
                  <a:pt x="2618" y="2"/>
                </a:lnTo>
                <a:cubicBezTo>
                  <a:pt x="2604" y="2"/>
                  <a:pt x="2594" y="13"/>
                  <a:pt x="2594" y="26"/>
                </a:cubicBezTo>
                <a:cubicBezTo>
                  <a:pt x="2594" y="39"/>
                  <a:pt x="2605" y="50"/>
                  <a:pt x="2618" y="50"/>
                </a:cubicBezTo>
                <a:close/>
                <a:moveTo>
                  <a:pt x="2714" y="49"/>
                </a:moveTo>
                <a:lnTo>
                  <a:pt x="2714" y="49"/>
                </a:lnTo>
                <a:lnTo>
                  <a:pt x="2714" y="49"/>
                </a:lnTo>
                <a:cubicBezTo>
                  <a:pt x="2727" y="49"/>
                  <a:pt x="2738" y="38"/>
                  <a:pt x="2738" y="25"/>
                </a:cubicBezTo>
                <a:cubicBezTo>
                  <a:pt x="2738" y="12"/>
                  <a:pt x="2727" y="1"/>
                  <a:pt x="2714" y="1"/>
                </a:cubicBezTo>
                <a:lnTo>
                  <a:pt x="2714" y="1"/>
                </a:lnTo>
                <a:cubicBezTo>
                  <a:pt x="2700" y="1"/>
                  <a:pt x="2690" y="12"/>
                  <a:pt x="2690" y="25"/>
                </a:cubicBezTo>
                <a:cubicBezTo>
                  <a:pt x="2690" y="38"/>
                  <a:pt x="2701" y="49"/>
                  <a:pt x="2714" y="49"/>
                </a:cubicBezTo>
                <a:close/>
                <a:moveTo>
                  <a:pt x="2810" y="49"/>
                </a:moveTo>
                <a:lnTo>
                  <a:pt x="2810" y="49"/>
                </a:lnTo>
                <a:lnTo>
                  <a:pt x="2810" y="49"/>
                </a:lnTo>
                <a:cubicBezTo>
                  <a:pt x="2823" y="48"/>
                  <a:pt x="2834" y="38"/>
                  <a:pt x="2834" y="24"/>
                </a:cubicBezTo>
                <a:cubicBezTo>
                  <a:pt x="2834" y="11"/>
                  <a:pt x="2823" y="0"/>
                  <a:pt x="2810" y="1"/>
                </a:cubicBezTo>
                <a:lnTo>
                  <a:pt x="2810" y="1"/>
                </a:lnTo>
                <a:lnTo>
                  <a:pt x="2810" y="1"/>
                </a:lnTo>
                <a:cubicBezTo>
                  <a:pt x="2796" y="1"/>
                  <a:pt x="2786" y="11"/>
                  <a:pt x="2786" y="25"/>
                </a:cubicBezTo>
                <a:cubicBezTo>
                  <a:pt x="2786" y="38"/>
                  <a:pt x="2797" y="49"/>
                  <a:pt x="2810" y="49"/>
                </a:cubicBezTo>
                <a:close/>
              </a:path>
            </a:pathLst>
          </a:custGeom>
          <a:solidFill>
            <a:srgbClr val="000000"/>
          </a:solidFill>
          <a:ln w="0" cap="flat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grpSp>
        <p:nvGrpSpPr>
          <p:cNvPr id="42" name="Group 41"/>
          <p:cNvGrpSpPr/>
          <p:nvPr/>
        </p:nvGrpSpPr>
        <p:grpSpPr>
          <a:xfrm>
            <a:off x="2605088" y="4979988"/>
            <a:ext cx="2149476" cy="1106488"/>
            <a:chOff x="2605088" y="4979988"/>
            <a:chExt cx="2149476" cy="1106488"/>
          </a:xfrm>
        </p:grpSpPr>
        <p:grpSp>
          <p:nvGrpSpPr>
            <p:cNvPr id="39" name="Group 38"/>
            <p:cNvGrpSpPr/>
            <p:nvPr/>
          </p:nvGrpSpPr>
          <p:grpSpPr>
            <a:xfrm>
              <a:off x="2605088" y="4979988"/>
              <a:ext cx="2149476" cy="1106488"/>
              <a:chOff x="2605088" y="4979988"/>
              <a:chExt cx="2149476" cy="1106488"/>
            </a:xfrm>
          </p:grpSpPr>
          <p:sp>
            <p:nvSpPr>
              <p:cNvPr id="11" name="Freeform 11"/>
              <p:cNvSpPr>
                <a:spLocks noEditPoints="1"/>
              </p:cNvSpPr>
              <p:nvPr/>
            </p:nvSpPr>
            <p:spPr bwMode="auto">
              <a:xfrm>
                <a:off x="2946401" y="4979988"/>
                <a:ext cx="1468438" cy="28575"/>
              </a:xfrm>
              <a:custGeom>
                <a:avLst/>
                <a:gdLst>
                  <a:gd name="T0" fmla="*/ 0 w 925"/>
                  <a:gd name="T1" fmla="*/ 0 h 18"/>
                  <a:gd name="T2" fmla="*/ 70 w 925"/>
                  <a:gd name="T3" fmla="*/ 0 h 18"/>
                  <a:gd name="T4" fmla="*/ 70 w 925"/>
                  <a:gd name="T5" fmla="*/ 18 h 18"/>
                  <a:gd name="T6" fmla="*/ 0 w 925"/>
                  <a:gd name="T7" fmla="*/ 18 h 18"/>
                  <a:gd name="T8" fmla="*/ 0 w 925"/>
                  <a:gd name="T9" fmla="*/ 0 h 18"/>
                  <a:gd name="T10" fmla="*/ 122 w 925"/>
                  <a:gd name="T11" fmla="*/ 0 h 18"/>
                  <a:gd name="T12" fmla="*/ 192 w 925"/>
                  <a:gd name="T13" fmla="*/ 0 h 18"/>
                  <a:gd name="T14" fmla="*/ 192 w 925"/>
                  <a:gd name="T15" fmla="*/ 18 h 18"/>
                  <a:gd name="T16" fmla="*/ 122 w 925"/>
                  <a:gd name="T17" fmla="*/ 18 h 18"/>
                  <a:gd name="T18" fmla="*/ 122 w 925"/>
                  <a:gd name="T19" fmla="*/ 0 h 18"/>
                  <a:gd name="T20" fmla="*/ 244 w 925"/>
                  <a:gd name="T21" fmla="*/ 0 h 18"/>
                  <a:gd name="T22" fmla="*/ 314 w 925"/>
                  <a:gd name="T23" fmla="*/ 0 h 18"/>
                  <a:gd name="T24" fmla="*/ 314 w 925"/>
                  <a:gd name="T25" fmla="*/ 18 h 18"/>
                  <a:gd name="T26" fmla="*/ 244 w 925"/>
                  <a:gd name="T27" fmla="*/ 18 h 18"/>
                  <a:gd name="T28" fmla="*/ 244 w 925"/>
                  <a:gd name="T29" fmla="*/ 0 h 18"/>
                  <a:gd name="T30" fmla="*/ 367 w 925"/>
                  <a:gd name="T31" fmla="*/ 0 h 18"/>
                  <a:gd name="T32" fmla="*/ 436 w 925"/>
                  <a:gd name="T33" fmla="*/ 0 h 18"/>
                  <a:gd name="T34" fmla="*/ 436 w 925"/>
                  <a:gd name="T35" fmla="*/ 18 h 18"/>
                  <a:gd name="T36" fmla="*/ 367 w 925"/>
                  <a:gd name="T37" fmla="*/ 18 h 18"/>
                  <a:gd name="T38" fmla="*/ 367 w 925"/>
                  <a:gd name="T39" fmla="*/ 0 h 18"/>
                  <a:gd name="T40" fmla="*/ 489 w 925"/>
                  <a:gd name="T41" fmla="*/ 0 h 18"/>
                  <a:gd name="T42" fmla="*/ 558 w 925"/>
                  <a:gd name="T43" fmla="*/ 0 h 18"/>
                  <a:gd name="T44" fmla="*/ 558 w 925"/>
                  <a:gd name="T45" fmla="*/ 18 h 18"/>
                  <a:gd name="T46" fmla="*/ 489 w 925"/>
                  <a:gd name="T47" fmla="*/ 18 h 18"/>
                  <a:gd name="T48" fmla="*/ 489 w 925"/>
                  <a:gd name="T49" fmla="*/ 0 h 18"/>
                  <a:gd name="T50" fmla="*/ 611 w 925"/>
                  <a:gd name="T51" fmla="*/ 0 h 18"/>
                  <a:gd name="T52" fmla="*/ 680 w 925"/>
                  <a:gd name="T53" fmla="*/ 0 h 18"/>
                  <a:gd name="T54" fmla="*/ 680 w 925"/>
                  <a:gd name="T55" fmla="*/ 18 h 18"/>
                  <a:gd name="T56" fmla="*/ 611 w 925"/>
                  <a:gd name="T57" fmla="*/ 18 h 18"/>
                  <a:gd name="T58" fmla="*/ 611 w 925"/>
                  <a:gd name="T59" fmla="*/ 0 h 18"/>
                  <a:gd name="T60" fmla="*/ 733 w 925"/>
                  <a:gd name="T61" fmla="*/ 0 h 18"/>
                  <a:gd name="T62" fmla="*/ 803 w 925"/>
                  <a:gd name="T63" fmla="*/ 0 h 18"/>
                  <a:gd name="T64" fmla="*/ 803 w 925"/>
                  <a:gd name="T65" fmla="*/ 18 h 18"/>
                  <a:gd name="T66" fmla="*/ 733 w 925"/>
                  <a:gd name="T67" fmla="*/ 18 h 18"/>
                  <a:gd name="T68" fmla="*/ 733 w 925"/>
                  <a:gd name="T69" fmla="*/ 0 h 18"/>
                  <a:gd name="T70" fmla="*/ 855 w 925"/>
                  <a:gd name="T71" fmla="*/ 0 h 18"/>
                  <a:gd name="T72" fmla="*/ 925 w 925"/>
                  <a:gd name="T73" fmla="*/ 0 h 18"/>
                  <a:gd name="T74" fmla="*/ 925 w 925"/>
                  <a:gd name="T75" fmla="*/ 18 h 18"/>
                  <a:gd name="T76" fmla="*/ 855 w 925"/>
                  <a:gd name="T77" fmla="*/ 18 h 18"/>
                  <a:gd name="T78" fmla="*/ 855 w 925"/>
                  <a:gd name="T7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925" h="18">
                    <a:moveTo>
                      <a:pt x="0" y="0"/>
                    </a:moveTo>
                    <a:lnTo>
                      <a:pt x="70" y="0"/>
                    </a:lnTo>
                    <a:lnTo>
                      <a:pt x="70" y="18"/>
                    </a:lnTo>
                    <a:lnTo>
                      <a:pt x="0" y="18"/>
                    </a:lnTo>
                    <a:lnTo>
                      <a:pt x="0" y="0"/>
                    </a:lnTo>
                    <a:close/>
                    <a:moveTo>
                      <a:pt x="122" y="0"/>
                    </a:moveTo>
                    <a:lnTo>
                      <a:pt x="192" y="0"/>
                    </a:lnTo>
                    <a:lnTo>
                      <a:pt x="192" y="18"/>
                    </a:lnTo>
                    <a:lnTo>
                      <a:pt x="122" y="18"/>
                    </a:lnTo>
                    <a:lnTo>
                      <a:pt x="122" y="0"/>
                    </a:lnTo>
                    <a:close/>
                    <a:moveTo>
                      <a:pt x="244" y="0"/>
                    </a:moveTo>
                    <a:lnTo>
                      <a:pt x="314" y="0"/>
                    </a:lnTo>
                    <a:lnTo>
                      <a:pt x="314" y="18"/>
                    </a:lnTo>
                    <a:lnTo>
                      <a:pt x="244" y="18"/>
                    </a:lnTo>
                    <a:lnTo>
                      <a:pt x="244" y="0"/>
                    </a:lnTo>
                    <a:close/>
                    <a:moveTo>
                      <a:pt x="367" y="0"/>
                    </a:moveTo>
                    <a:lnTo>
                      <a:pt x="436" y="0"/>
                    </a:lnTo>
                    <a:lnTo>
                      <a:pt x="436" y="18"/>
                    </a:lnTo>
                    <a:lnTo>
                      <a:pt x="367" y="18"/>
                    </a:lnTo>
                    <a:lnTo>
                      <a:pt x="367" y="0"/>
                    </a:lnTo>
                    <a:close/>
                    <a:moveTo>
                      <a:pt x="489" y="0"/>
                    </a:moveTo>
                    <a:lnTo>
                      <a:pt x="558" y="0"/>
                    </a:lnTo>
                    <a:lnTo>
                      <a:pt x="558" y="18"/>
                    </a:lnTo>
                    <a:lnTo>
                      <a:pt x="489" y="18"/>
                    </a:lnTo>
                    <a:lnTo>
                      <a:pt x="489" y="0"/>
                    </a:lnTo>
                    <a:close/>
                    <a:moveTo>
                      <a:pt x="611" y="0"/>
                    </a:moveTo>
                    <a:lnTo>
                      <a:pt x="680" y="0"/>
                    </a:lnTo>
                    <a:lnTo>
                      <a:pt x="680" y="18"/>
                    </a:lnTo>
                    <a:lnTo>
                      <a:pt x="611" y="18"/>
                    </a:lnTo>
                    <a:lnTo>
                      <a:pt x="611" y="0"/>
                    </a:lnTo>
                    <a:close/>
                    <a:moveTo>
                      <a:pt x="733" y="0"/>
                    </a:moveTo>
                    <a:lnTo>
                      <a:pt x="803" y="0"/>
                    </a:lnTo>
                    <a:lnTo>
                      <a:pt x="803" y="18"/>
                    </a:lnTo>
                    <a:lnTo>
                      <a:pt x="733" y="18"/>
                    </a:lnTo>
                    <a:lnTo>
                      <a:pt x="733" y="0"/>
                    </a:lnTo>
                    <a:close/>
                    <a:moveTo>
                      <a:pt x="855" y="0"/>
                    </a:moveTo>
                    <a:lnTo>
                      <a:pt x="925" y="0"/>
                    </a:lnTo>
                    <a:lnTo>
                      <a:pt x="925" y="18"/>
                    </a:lnTo>
                    <a:lnTo>
                      <a:pt x="855" y="18"/>
                    </a:lnTo>
                    <a:lnTo>
                      <a:pt x="855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 cap="flat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" name="Rectangle 12"/>
              <p:cNvSpPr>
                <a:spLocks noChangeArrowheads="1"/>
              </p:cNvSpPr>
              <p:nvPr/>
            </p:nvSpPr>
            <p:spPr bwMode="auto">
              <a:xfrm>
                <a:off x="2863851" y="5492751"/>
                <a:ext cx="1890713" cy="352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omic Sans MS" panose="030F0702030302020204" pitchFamily="66" charset="0"/>
                  </a:rPr>
                  <a:t>25% of data values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3" name="Rectangle 13"/>
              <p:cNvSpPr>
                <a:spLocks noChangeArrowheads="1"/>
              </p:cNvSpPr>
              <p:nvPr/>
            </p:nvSpPr>
            <p:spPr bwMode="auto">
              <a:xfrm>
                <a:off x="2863851" y="5734051"/>
                <a:ext cx="1447800" cy="352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omic Sans MS" panose="030F0702030302020204" pitchFamily="66" charset="0"/>
                  </a:rPr>
                  <a:t>below this line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8" name="Freeform 18"/>
              <p:cNvSpPr>
                <a:spLocks/>
              </p:cNvSpPr>
              <p:nvPr/>
            </p:nvSpPr>
            <p:spPr bwMode="auto">
              <a:xfrm>
                <a:off x="2605088" y="5124451"/>
                <a:ext cx="268288" cy="658813"/>
              </a:xfrm>
              <a:custGeom>
                <a:avLst/>
                <a:gdLst>
                  <a:gd name="T0" fmla="*/ 141 w 169"/>
                  <a:gd name="T1" fmla="*/ 415 h 415"/>
                  <a:gd name="T2" fmla="*/ 5 w 169"/>
                  <a:gd name="T3" fmla="*/ 221 h 415"/>
                  <a:gd name="T4" fmla="*/ 169 w 169"/>
                  <a:gd name="T5" fmla="*/ 0 h 4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9" h="415">
                    <a:moveTo>
                      <a:pt x="141" y="415"/>
                    </a:moveTo>
                    <a:cubicBezTo>
                      <a:pt x="70" y="353"/>
                      <a:pt x="0" y="290"/>
                      <a:pt x="5" y="221"/>
                    </a:cubicBezTo>
                    <a:cubicBezTo>
                      <a:pt x="10" y="152"/>
                      <a:pt x="141" y="37"/>
                      <a:pt x="169" y="0"/>
                    </a:cubicBezTo>
                  </a:path>
                </a:pathLst>
              </a:custGeom>
              <a:noFill/>
              <a:ln w="26988" cap="flat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19" name="Freeform 19"/>
            <p:cNvSpPr>
              <a:spLocks noEditPoints="1"/>
            </p:cNvSpPr>
            <p:nvPr/>
          </p:nvSpPr>
          <p:spPr bwMode="auto">
            <a:xfrm>
              <a:off x="2833688" y="5040313"/>
              <a:ext cx="76200" cy="93663"/>
            </a:xfrm>
            <a:custGeom>
              <a:avLst/>
              <a:gdLst>
                <a:gd name="T0" fmla="*/ 27 w 48"/>
                <a:gd name="T1" fmla="*/ 57 h 59"/>
                <a:gd name="T2" fmla="*/ 35 w 48"/>
                <a:gd name="T3" fmla="*/ 43 h 59"/>
                <a:gd name="T4" fmla="*/ 19 w 48"/>
                <a:gd name="T5" fmla="*/ 35 h 59"/>
                <a:gd name="T6" fmla="*/ 11 w 48"/>
                <a:gd name="T7" fmla="*/ 49 h 59"/>
                <a:gd name="T8" fmla="*/ 27 w 48"/>
                <a:gd name="T9" fmla="*/ 57 h 59"/>
                <a:gd name="T10" fmla="*/ 46 w 48"/>
                <a:gd name="T11" fmla="*/ 59 h 59"/>
                <a:gd name="T12" fmla="*/ 48 w 48"/>
                <a:gd name="T13" fmla="*/ 0 h 59"/>
                <a:gd name="T14" fmla="*/ 0 w 48"/>
                <a:gd name="T15" fmla="*/ 33 h 59"/>
                <a:gd name="T16" fmla="*/ 46 w 48"/>
                <a:gd name="T17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59">
                  <a:moveTo>
                    <a:pt x="27" y="57"/>
                  </a:moveTo>
                  <a:lnTo>
                    <a:pt x="35" y="43"/>
                  </a:lnTo>
                  <a:lnTo>
                    <a:pt x="19" y="35"/>
                  </a:lnTo>
                  <a:lnTo>
                    <a:pt x="11" y="49"/>
                  </a:lnTo>
                  <a:lnTo>
                    <a:pt x="27" y="57"/>
                  </a:lnTo>
                  <a:close/>
                  <a:moveTo>
                    <a:pt x="46" y="59"/>
                  </a:moveTo>
                  <a:lnTo>
                    <a:pt x="48" y="0"/>
                  </a:lnTo>
                  <a:lnTo>
                    <a:pt x="0" y="33"/>
                  </a:lnTo>
                  <a:lnTo>
                    <a:pt x="46" y="59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2732088" y="4016376"/>
            <a:ext cx="1892300" cy="795337"/>
            <a:chOff x="2732088" y="4016376"/>
            <a:chExt cx="1892300" cy="795337"/>
          </a:xfrm>
        </p:grpSpPr>
        <p:sp>
          <p:nvSpPr>
            <p:cNvPr id="17" name="Freeform 17"/>
            <p:cNvSpPr>
              <a:spLocks noEditPoints="1"/>
            </p:cNvSpPr>
            <p:nvPr/>
          </p:nvSpPr>
          <p:spPr bwMode="auto">
            <a:xfrm>
              <a:off x="2946401" y="4016376"/>
              <a:ext cx="1468438" cy="26988"/>
            </a:xfrm>
            <a:custGeom>
              <a:avLst/>
              <a:gdLst>
                <a:gd name="T0" fmla="*/ 0 w 925"/>
                <a:gd name="T1" fmla="*/ 0 h 17"/>
                <a:gd name="T2" fmla="*/ 70 w 925"/>
                <a:gd name="T3" fmla="*/ 0 h 17"/>
                <a:gd name="T4" fmla="*/ 70 w 925"/>
                <a:gd name="T5" fmla="*/ 17 h 17"/>
                <a:gd name="T6" fmla="*/ 0 w 925"/>
                <a:gd name="T7" fmla="*/ 17 h 17"/>
                <a:gd name="T8" fmla="*/ 0 w 925"/>
                <a:gd name="T9" fmla="*/ 0 h 17"/>
                <a:gd name="T10" fmla="*/ 122 w 925"/>
                <a:gd name="T11" fmla="*/ 0 h 17"/>
                <a:gd name="T12" fmla="*/ 192 w 925"/>
                <a:gd name="T13" fmla="*/ 0 h 17"/>
                <a:gd name="T14" fmla="*/ 192 w 925"/>
                <a:gd name="T15" fmla="*/ 17 h 17"/>
                <a:gd name="T16" fmla="*/ 122 w 925"/>
                <a:gd name="T17" fmla="*/ 17 h 17"/>
                <a:gd name="T18" fmla="*/ 122 w 925"/>
                <a:gd name="T19" fmla="*/ 0 h 17"/>
                <a:gd name="T20" fmla="*/ 244 w 925"/>
                <a:gd name="T21" fmla="*/ 0 h 17"/>
                <a:gd name="T22" fmla="*/ 314 w 925"/>
                <a:gd name="T23" fmla="*/ 0 h 17"/>
                <a:gd name="T24" fmla="*/ 314 w 925"/>
                <a:gd name="T25" fmla="*/ 17 h 17"/>
                <a:gd name="T26" fmla="*/ 244 w 925"/>
                <a:gd name="T27" fmla="*/ 17 h 17"/>
                <a:gd name="T28" fmla="*/ 244 w 925"/>
                <a:gd name="T29" fmla="*/ 0 h 17"/>
                <a:gd name="T30" fmla="*/ 367 w 925"/>
                <a:gd name="T31" fmla="*/ 0 h 17"/>
                <a:gd name="T32" fmla="*/ 436 w 925"/>
                <a:gd name="T33" fmla="*/ 0 h 17"/>
                <a:gd name="T34" fmla="*/ 436 w 925"/>
                <a:gd name="T35" fmla="*/ 17 h 17"/>
                <a:gd name="T36" fmla="*/ 367 w 925"/>
                <a:gd name="T37" fmla="*/ 17 h 17"/>
                <a:gd name="T38" fmla="*/ 367 w 925"/>
                <a:gd name="T39" fmla="*/ 0 h 17"/>
                <a:gd name="T40" fmla="*/ 489 w 925"/>
                <a:gd name="T41" fmla="*/ 0 h 17"/>
                <a:gd name="T42" fmla="*/ 558 w 925"/>
                <a:gd name="T43" fmla="*/ 0 h 17"/>
                <a:gd name="T44" fmla="*/ 558 w 925"/>
                <a:gd name="T45" fmla="*/ 17 h 17"/>
                <a:gd name="T46" fmla="*/ 489 w 925"/>
                <a:gd name="T47" fmla="*/ 17 h 17"/>
                <a:gd name="T48" fmla="*/ 489 w 925"/>
                <a:gd name="T49" fmla="*/ 0 h 17"/>
                <a:gd name="T50" fmla="*/ 611 w 925"/>
                <a:gd name="T51" fmla="*/ 0 h 17"/>
                <a:gd name="T52" fmla="*/ 680 w 925"/>
                <a:gd name="T53" fmla="*/ 0 h 17"/>
                <a:gd name="T54" fmla="*/ 680 w 925"/>
                <a:gd name="T55" fmla="*/ 17 h 17"/>
                <a:gd name="T56" fmla="*/ 611 w 925"/>
                <a:gd name="T57" fmla="*/ 17 h 17"/>
                <a:gd name="T58" fmla="*/ 611 w 925"/>
                <a:gd name="T59" fmla="*/ 0 h 17"/>
                <a:gd name="T60" fmla="*/ 733 w 925"/>
                <a:gd name="T61" fmla="*/ 0 h 17"/>
                <a:gd name="T62" fmla="*/ 803 w 925"/>
                <a:gd name="T63" fmla="*/ 0 h 17"/>
                <a:gd name="T64" fmla="*/ 803 w 925"/>
                <a:gd name="T65" fmla="*/ 17 h 17"/>
                <a:gd name="T66" fmla="*/ 733 w 925"/>
                <a:gd name="T67" fmla="*/ 17 h 17"/>
                <a:gd name="T68" fmla="*/ 733 w 925"/>
                <a:gd name="T69" fmla="*/ 0 h 17"/>
                <a:gd name="T70" fmla="*/ 855 w 925"/>
                <a:gd name="T71" fmla="*/ 0 h 17"/>
                <a:gd name="T72" fmla="*/ 925 w 925"/>
                <a:gd name="T73" fmla="*/ 0 h 17"/>
                <a:gd name="T74" fmla="*/ 925 w 925"/>
                <a:gd name="T75" fmla="*/ 17 h 17"/>
                <a:gd name="T76" fmla="*/ 855 w 925"/>
                <a:gd name="T77" fmla="*/ 17 h 17"/>
                <a:gd name="T78" fmla="*/ 855 w 925"/>
                <a:gd name="T7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925" h="17">
                  <a:moveTo>
                    <a:pt x="0" y="0"/>
                  </a:moveTo>
                  <a:lnTo>
                    <a:pt x="70" y="0"/>
                  </a:lnTo>
                  <a:lnTo>
                    <a:pt x="70" y="17"/>
                  </a:lnTo>
                  <a:lnTo>
                    <a:pt x="0" y="17"/>
                  </a:lnTo>
                  <a:lnTo>
                    <a:pt x="0" y="0"/>
                  </a:lnTo>
                  <a:close/>
                  <a:moveTo>
                    <a:pt x="122" y="0"/>
                  </a:moveTo>
                  <a:lnTo>
                    <a:pt x="192" y="0"/>
                  </a:lnTo>
                  <a:lnTo>
                    <a:pt x="192" y="17"/>
                  </a:lnTo>
                  <a:lnTo>
                    <a:pt x="122" y="17"/>
                  </a:lnTo>
                  <a:lnTo>
                    <a:pt x="122" y="0"/>
                  </a:lnTo>
                  <a:close/>
                  <a:moveTo>
                    <a:pt x="244" y="0"/>
                  </a:moveTo>
                  <a:lnTo>
                    <a:pt x="314" y="0"/>
                  </a:lnTo>
                  <a:lnTo>
                    <a:pt x="314" y="17"/>
                  </a:lnTo>
                  <a:lnTo>
                    <a:pt x="244" y="17"/>
                  </a:lnTo>
                  <a:lnTo>
                    <a:pt x="244" y="0"/>
                  </a:lnTo>
                  <a:close/>
                  <a:moveTo>
                    <a:pt x="367" y="0"/>
                  </a:moveTo>
                  <a:lnTo>
                    <a:pt x="436" y="0"/>
                  </a:lnTo>
                  <a:lnTo>
                    <a:pt x="436" y="17"/>
                  </a:lnTo>
                  <a:lnTo>
                    <a:pt x="367" y="17"/>
                  </a:lnTo>
                  <a:lnTo>
                    <a:pt x="367" y="0"/>
                  </a:lnTo>
                  <a:close/>
                  <a:moveTo>
                    <a:pt x="489" y="0"/>
                  </a:moveTo>
                  <a:lnTo>
                    <a:pt x="558" y="0"/>
                  </a:lnTo>
                  <a:lnTo>
                    <a:pt x="558" y="17"/>
                  </a:lnTo>
                  <a:lnTo>
                    <a:pt x="489" y="17"/>
                  </a:lnTo>
                  <a:lnTo>
                    <a:pt x="489" y="0"/>
                  </a:lnTo>
                  <a:close/>
                  <a:moveTo>
                    <a:pt x="611" y="0"/>
                  </a:moveTo>
                  <a:lnTo>
                    <a:pt x="680" y="0"/>
                  </a:lnTo>
                  <a:lnTo>
                    <a:pt x="680" y="17"/>
                  </a:lnTo>
                  <a:lnTo>
                    <a:pt x="611" y="17"/>
                  </a:lnTo>
                  <a:lnTo>
                    <a:pt x="611" y="0"/>
                  </a:lnTo>
                  <a:close/>
                  <a:moveTo>
                    <a:pt x="733" y="0"/>
                  </a:moveTo>
                  <a:lnTo>
                    <a:pt x="803" y="0"/>
                  </a:lnTo>
                  <a:lnTo>
                    <a:pt x="803" y="17"/>
                  </a:lnTo>
                  <a:lnTo>
                    <a:pt x="733" y="17"/>
                  </a:lnTo>
                  <a:lnTo>
                    <a:pt x="733" y="0"/>
                  </a:lnTo>
                  <a:close/>
                  <a:moveTo>
                    <a:pt x="855" y="0"/>
                  </a:moveTo>
                  <a:lnTo>
                    <a:pt x="925" y="0"/>
                  </a:lnTo>
                  <a:lnTo>
                    <a:pt x="925" y="17"/>
                  </a:lnTo>
                  <a:lnTo>
                    <a:pt x="855" y="17"/>
                  </a:lnTo>
                  <a:lnTo>
                    <a:pt x="855" y="0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Rectangle 20"/>
            <p:cNvSpPr>
              <a:spLocks noChangeArrowheads="1"/>
            </p:cNvSpPr>
            <p:nvPr/>
          </p:nvSpPr>
          <p:spPr bwMode="auto">
            <a:xfrm>
              <a:off x="2732088" y="4217988"/>
              <a:ext cx="1892300" cy="352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mic Sans MS" panose="030F0702030302020204" pitchFamily="66" charset="0"/>
                </a:rPr>
                <a:t>50% of data values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" name="Rectangle 21"/>
            <p:cNvSpPr>
              <a:spLocks noChangeArrowheads="1"/>
            </p:cNvSpPr>
            <p:nvPr/>
          </p:nvSpPr>
          <p:spPr bwMode="auto">
            <a:xfrm>
              <a:off x="2732088" y="4459288"/>
              <a:ext cx="1449388" cy="352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mic Sans MS" panose="030F0702030302020204" pitchFamily="66" charset="0"/>
                </a:rPr>
                <a:t>below this line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Freeform 22"/>
            <p:cNvSpPr>
              <a:spLocks noEditPoints="1"/>
            </p:cNvSpPr>
            <p:nvPr/>
          </p:nvSpPr>
          <p:spPr bwMode="auto">
            <a:xfrm>
              <a:off x="2760663" y="4075113"/>
              <a:ext cx="149225" cy="185738"/>
            </a:xfrm>
            <a:custGeom>
              <a:avLst/>
              <a:gdLst>
                <a:gd name="T0" fmla="*/ 14 w 94"/>
                <a:gd name="T1" fmla="*/ 117 h 117"/>
                <a:gd name="T2" fmla="*/ 74 w 94"/>
                <a:gd name="T3" fmla="*/ 41 h 117"/>
                <a:gd name="T4" fmla="*/ 60 w 94"/>
                <a:gd name="T5" fmla="*/ 30 h 117"/>
                <a:gd name="T6" fmla="*/ 0 w 94"/>
                <a:gd name="T7" fmla="*/ 106 h 117"/>
                <a:gd name="T8" fmla="*/ 14 w 94"/>
                <a:gd name="T9" fmla="*/ 117 h 117"/>
                <a:gd name="T10" fmla="*/ 82 w 94"/>
                <a:gd name="T11" fmla="*/ 58 h 117"/>
                <a:gd name="T12" fmla="*/ 94 w 94"/>
                <a:gd name="T13" fmla="*/ 0 h 117"/>
                <a:gd name="T14" fmla="*/ 41 w 94"/>
                <a:gd name="T15" fmla="*/ 26 h 117"/>
                <a:gd name="T16" fmla="*/ 82 w 94"/>
                <a:gd name="T17" fmla="*/ 58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4" h="117">
                  <a:moveTo>
                    <a:pt x="14" y="117"/>
                  </a:moveTo>
                  <a:lnTo>
                    <a:pt x="74" y="41"/>
                  </a:lnTo>
                  <a:lnTo>
                    <a:pt x="60" y="30"/>
                  </a:lnTo>
                  <a:lnTo>
                    <a:pt x="0" y="106"/>
                  </a:lnTo>
                  <a:lnTo>
                    <a:pt x="14" y="117"/>
                  </a:lnTo>
                  <a:close/>
                  <a:moveTo>
                    <a:pt x="82" y="58"/>
                  </a:moveTo>
                  <a:lnTo>
                    <a:pt x="94" y="0"/>
                  </a:lnTo>
                  <a:lnTo>
                    <a:pt x="41" y="26"/>
                  </a:lnTo>
                  <a:lnTo>
                    <a:pt x="82" y="58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6265863" y="3868738"/>
            <a:ext cx="903288" cy="307976"/>
            <a:chOff x="6265863" y="3868738"/>
            <a:chExt cx="903288" cy="307976"/>
          </a:xfrm>
        </p:grpSpPr>
        <p:sp>
          <p:nvSpPr>
            <p:cNvPr id="23" name="Rectangle 23"/>
            <p:cNvSpPr>
              <a:spLocks noChangeArrowheads="1"/>
            </p:cNvSpPr>
            <p:nvPr/>
          </p:nvSpPr>
          <p:spPr bwMode="auto">
            <a:xfrm>
              <a:off x="6265863" y="3868738"/>
              <a:ext cx="876300" cy="306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mic Sans MS" panose="030F0702030302020204" pitchFamily="66" charset="0"/>
                </a:rPr>
                <a:t>Median Q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" name="Rectangle 24"/>
            <p:cNvSpPr>
              <a:spLocks noChangeArrowheads="1"/>
            </p:cNvSpPr>
            <p:nvPr/>
          </p:nvSpPr>
          <p:spPr bwMode="auto">
            <a:xfrm>
              <a:off x="7050088" y="3981451"/>
              <a:ext cx="119063" cy="195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mic Sans MS" panose="030F0702030302020204" pitchFamily="66" charset="0"/>
                </a:rPr>
                <a:t>2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2601913" y="3005138"/>
            <a:ext cx="1858963" cy="676920"/>
            <a:chOff x="2601913" y="3005138"/>
            <a:chExt cx="1858963" cy="676920"/>
          </a:xfrm>
        </p:grpSpPr>
        <p:sp>
          <p:nvSpPr>
            <p:cNvPr id="25" name="Freeform 25"/>
            <p:cNvSpPr>
              <a:spLocks noEditPoints="1"/>
            </p:cNvSpPr>
            <p:nvPr/>
          </p:nvSpPr>
          <p:spPr bwMode="auto">
            <a:xfrm>
              <a:off x="2992438" y="3005138"/>
              <a:ext cx="1468438" cy="26988"/>
            </a:xfrm>
            <a:custGeom>
              <a:avLst/>
              <a:gdLst>
                <a:gd name="T0" fmla="*/ 0 w 925"/>
                <a:gd name="T1" fmla="*/ 0 h 17"/>
                <a:gd name="T2" fmla="*/ 70 w 925"/>
                <a:gd name="T3" fmla="*/ 0 h 17"/>
                <a:gd name="T4" fmla="*/ 70 w 925"/>
                <a:gd name="T5" fmla="*/ 17 h 17"/>
                <a:gd name="T6" fmla="*/ 0 w 925"/>
                <a:gd name="T7" fmla="*/ 17 h 17"/>
                <a:gd name="T8" fmla="*/ 0 w 925"/>
                <a:gd name="T9" fmla="*/ 0 h 17"/>
                <a:gd name="T10" fmla="*/ 122 w 925"/>
                <a:gd name="T11" fmla="*/ 0 h 17"/>
                <a:gd name="T12" fmla="*/ 192 w 925"/>
                <a:gd name="T13" fmla="*/ 0 h 17"/>
                <a:gd name="T14" fmla="*/ 192 w 925"/>
                <a:gd name="T15" fmla="*/ 17 h 17"/>
                <a:gd name="T16" fmla="*/ 122 w 925"/>
                <a:gd name="T17" fmla="*/ 17 h 17"/>
                <a:gd name="T18" fmla="*/ 122 w 925"/>
                <a:gd name="T19" fmla="*/ 0 h 17"/>
                <a:gd name="T20" fmla="*/ 245 w 925"/>
                <a:gd name="T21" fmla="*/ 0 h 17"/>
                <a:gd name="T22" fmla="*/ 314 w 925"/>
                <a:gd name="T23" fmla="*/ 0 h 17"/>
                <a:gd name="T24" fmla="*/ 314 w 925"/>
                <a:gd name="T25" fmla="*/ 17 h 17"/>
                <a:gd name="T26" fmla="*/ 245 w 925"/>
                <a:gd name="T27" fmla="*/ 17 h 17"/>
                <a:gd name="T28" fmla="*/ 245 w 925"/>
                <a:gd name="T29" fmla="*/ 0 h 17"/>
                <a:gd name="T30" fmla="*/ 367 w 925"/>
                <a:gd name="T31" fmla="*/ 0 h 17"/>
                <a:gd name="T32" fmla="*/ 436 w 925"/>
                <a:gd name="T33" fmla="*/ 0 h 17"/>
                <a:gd name="T34" fmla="*/ 436 w 925"/>
                <a:gd name="T35" fmla="*/ 17 h 17"/>
                <a:gd name="T36" fmla="*/ 367 w 925"/>
                <a:gd name="T37" fmla="*/ 17 h 17"/>
                <a:gd name="T38" fmla="*/ 367 w 925"/>
                <a:gd name="T39" fmla="*/ 0 h 17"/>
                <a:gd name="T40" fmla="*/ 489 w 925"/>
                <a:gd name="T41" fmla="*/ 0 h 17"/>
                <a:gd name="T42" fmla="*/ 558 w 925"/>
                <a:gd name="T43" fmla="*/ 0 h 17"/>
                <a:gd name="T44" fmla="*/ 558 w 925"/>
                <a:gd name="T45" fmla="*/ 17 h 17"/>
                <a:gd name="T46" fmla="*/ 489 w 925"/>
                <a:gd name="T47" fmla="*/ 17 h 17"/>
                <a:gd name="T48" fmla="*/ 489 w 925"/>
                <a:gd name="T49" fmla="*/ 0 h 17"/>
                <a:gd name="T50" fmla="*/ 611 w 925"/>
                <a:gd name="T51" fmla="*/ 0 h 17"/>
                <a:gd name="T52" fmla="*/ 681 w 925"/>
                <a:gd name="T53" fmla="*/ 0 h 17"/>
                <a:gd name="T54" fmla="*/ 681 w 925"/>
                <a:gd name="T55" fmla="*/ 17 h 17"/>
                <a:gd name="T56" fmla="*/ 611 w 925"/>
                <a:gd name="T57" fmla="*/ 17 h 17"/>
                <a:gd name="T58" fmla="*/ 611 w 925"/>
                <a:gd name="T59" fmla="*/ 0 h 17"/>
                <a:gd name="T60" fmla="*/ 733 w 925"/>
                <a:gd name="T61" fmla="*/ 0 h 17"/>
                <a:gd name="T62" fmla="*/ 803 w 925"/>
                <a:gd name="T63" fmla="*/ 0 h 17"/>
                <a:gd name="T64" fmla="*/ 803 w 925"/>
                <a:gd name="T65" fmla="*/ 17 h 17"/>
                <a:gd name="T66" fmla="*/ 733 w 925"/>
                <a:gd name="T67" fmla="*/ 17 h 17"/>
                <a:gd name="T68" fmla="*/ 733 w 925"/>
                <a:gd name="T69" fmla="*/ 0 h 17"/>
                <a:gd name="T70" fmla="*/ 855 w 925"/>
                <a:gd name="T71" fmla="*/ 0 h 17"/>
                <a:gd name="T72" fmla="*/ 925 w 925"/>
                <a:gd name="T73" fmla="*/ 0 h 17"/>
                <a:gd name="T74" fmla="*/ 925 w 925"/>
                <a:gd name="T75" fmla="*/ 17 h 17"/>
                <a:gd name="T76" fmla="*/ 855 w 925"/>
                <a:gd name="T77" fmla="*/ 17 h 17"/>
                <a:gd name="T78" fmla="*/ 855 w 925"/>
                <a:gd name="T7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925" h="17">
                  <a:moveTo>
                    <a:pt x="0" y="0"/>
                  </a:moveTo>
                  <a:lnTo>
                    <a:pt x="70" y="0"/>
                  </a:lnTo>
                  <a:lnTo>
                    <a:pt x="70" y="17"/>
                  </a:lnTo>
                  <a:lnTo>
                    <a:pt x="0" y="17"/>
                  </a:lnTo>
                  <a:lnTo>
                    <a:pt x="0" y="0"/>
                  </a:lnTo>
                  <a:close/>
                  <a:moveTo>
                    <a:pt x="122" y="0"/>
                  </a:moveTo>
                  <a:lnTo>
                    <a:pt x="192" y="0"/>
                  </a:lnTo>
                  <a:lnTo>
                    <a:pt x="192" y="17"/>
                  </a:lnTo>
                  <a:lnTo>
                    <a:pt x="122" y="17"/>
                  </a:lnTo>
                  <a:lnTo>
                    <a:pt x="122" y="0"/>
                  </a:lnTo>
                  <a:close/>
                  <a:moveTo>
                    <a:pt x="245" y="0"/>
                  </a:moveTo>
                  <a:lnTo>
                    <a:pt x="314" y="0"/>
                  </a:lnTo>
                  <a:lnTo>
                    <a:pt x="314" y="17"/>
                  </a:lnTo>
                  <a:lnTo>
                    <a:pt x="245" y="17"/>
                  </a:lnTo>
                  <a:lnTo>
                    <a:pt x="245" y="0"/>
                  </a:lnTo>
                  <a:close/>
                  <a:moveTo>
                    <a:pt x="367" y="0"/>
                  </a:moveTo>
                  <a:lnTo>
                    <a:pt x="436" y="0"/>
                  </a:lnTo>
                  <a:lnTo>
                    <a:pt x="436" y="17"/>
                  </a:lnTo>
                  <a:lnTo>
                    <a:pt x="367" y="17"/>
                  </a:lnTo>
                  <a:lnTo>
                    <a:pt x="367" y="0"/>
                  </a:lnTo>
                  <a:close/>
                  <a:moveTo>
                    <a:pt x="489" y="0"/>
                  </a:moveTo>
                  <a:lnTo>
                    <a:pt x="558" y="0"/>
                  </a:lnTo>
                  <a:lnTo>
                    <a:pt x="558" y="17"/>
                  </a:lnTo>
                  <a:lnTo>
                    <a:pt x="489" y="17"/>
                  </a:lnTo>
                  <a:lnTo>
                    <a:pt x="489" y="0"/>
                  </a:lnTo>
                  <a:close/>
                  <a:moveTo>
                    <a:pt x="611" y="0"/>
                  </a:moveTo>
                  <a:lnTo>
                    <a:pt x="681" y="0"/>
                  </a:lnTo>
                  <a:lnTo>
                    <a:pt x="681" y="17"/>
                  </a:lnTo>
                  <a:lnTo>
                    <a:pt x="611" y="17"/>
                  </a:lnTo>
                  <a:lnTo>
                    <a:pt x="611" y="0"/>
                  </a:lnTo>
                  <a:close/>
                  <a:moveTo>
                    <a:pt x="733" y="0"/>
                  </a:moveTo>
                  <a:lnTo>
                    <a:pt x="803" y="0"/>
                  </a:lnTo>
                  <a:lnTo>
                    <a:pt x="803" y="17"/>
                  </a:lnTo>
                  <a:lnTo>
                    <a:pt x="733" y="17"/>
                  </a:lnTo>
                  <a:lnTo>
                    <a:pt x="733" y="0"/>
                  </a:lnTo>
                  <a:close/>
                  <a:moveTo>
                    <a:pt x="855" y="0"/>
                  </a:moveTo>
                  <a:lnTo>
                    <a:pt x="925" y="0"/>
                  </a:lnTo>
                  <a:lnTo>
                    <a:pt x="925" y="17"/>
                  </a:lnTo>
                  <a:lnTo>
                    <a:pt x="855" y="17"/>
                  </a:lnTo>
                  <a:lnTo>
                    <a:pt x="855" y="0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6" name="Rectangle 26"/>
            <p:cNvSpPr>
              <a:spLocks noChangeArrowheads="1"/>
            </p:cNvSpPr>
            <p:nvPr/>
          </p:nvSpPr>
          <p:spPr bwMode="auto">
            <a:xfrm>
              <a:off x="2601913" y="3209926"/>
              <a:ext cx="1703993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mic Sans MS" panose="030F0702030302020204" pitchFamily="66" charset="0"/>
                </a:rPr>
                <a:t>25% of data values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Rectangle 27"/>
            <p:cNvSpPr>
              <a:spLocks noChangeArrowheads="1"/>
            </p:cNvSpPr>
            <p:nvPr/>
          </p:nvSpPr>
          <p:spPr bwMode="auto">
            <a:xfrm>
              <a:off x="2601913" y="3451226"/>
              <a:ext cx="1290418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mic Sans MS" panose="030F0702030302020204" pitchFamily="66" charset="0"/>
                </a:rPr>
                <a:t>above this line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" name="Freeform 28"/>
            <p:cNvSpPr>
              <a:spLocks noEditPoints="1"/>
            </p:cNvSpPr>
            <p:nvPr/>
          </p:nvSpPr>
          <p:spPr bwMode="auto">
            <a:xfrm>
              <a:off x="2852738" y="3065463"/>
              <a:ext cx="139700" cy="184150"/>
            </a:xfrm>
            <a:custGeom>
              <a:avLst/>
              <a:gdLst>
                <a:gd name="T0" fmla="*/ 14 w 88"/>
                <a:gd name="T1" fmla="*/ 116 h 116"/>
                <a:gd name="T2" fmla="*/ 70 w 88"/>
                <a:gd name="T3" fmla="*/ 40 h 116"/>
                <a:gd name="T4" fmla="*/ 56 w 88"/>
                <a:gd name="T5" fmla="*/ 30 h 116"/>
                <a:gd name="T6" fmla="*/ 0 w 88"/>
                <a:gd name="T7" fmla="*/ 105 h 116"/>
                <a:gd name="T8" fmla="*/ 14 w 88"/>
                <a:gd name="T9" fmla="*/ 116 h 116"/>
                <a:gd name="T10" fmla="*/ 79 w 88"/>
                <a:gd name="T11" fmla="*/ 58 h 116"/>
                <a:gd name="T12" fmla="*/ 88 w 88"/>
                <a:gd name="T13" fmla="*/ 0 h 116"/>
                <a:gd name="T14" fmla="*/ 36 w 88"/>
                <a:gd name="T15" fmla="*/ 27 h 116"/>
                <a:gd name="T16" fmla="*/ 79 w 88"/>
                <a:gd name="T17" fmla="*/ 5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16">
                  <a:moveTo>
                    <a:pt x="14" y="116"/>
                  </a:moveTo>
                  <a:lnTo>
                    <a:pt x="70" y="40"/>
                  </a:lnTo>
                  <a:lnTo>
                    <a:pt x="56" y="30"/>
                  </a:lnTo>
                  <a:lnTo>
                    <a:pt x="0" y="105"/>
                  </a:lnTo>
                  <a:lnTo>
                    <a:pt x="14" y="116"/>
                  </a:lnTo>
                  <a:close/>
                  <a:moveTo>
                    <a:pt x="79" y="58"/>
                  </a:moveTo>
                  <a:lnTo>
                    <a:pt x="88" y="0"/>
                  </a:lnTo>
                  <a:lnTo>
                    <a:pt x="36" y="27"/>
                  </a:lnTo>
                  <a:lnTo>
                    <a:pt x="79" y="58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893113" y="1666895"/>
            <a:ext cx="2028940" cy="4646613"/>
            <a:chOff x="893113" y="1666895"/>
            <a:chExt cx="2028940" cy="4646613"/>
          </a:xfrm>
        </p:grpSpPr>
        <p:sp>
          <p:nvSpPr>
            <p:cNvPr id="31" name="Freeform 31"/>
            <p:cNvSpPr>
              <a:spLocks noEditPoints="1"/>
            </p:cNvSpPr>
            <p:nvPr/>
          </p:nvSpPr>
          <p:spPr bwMode="auto">
            <a:xfrm>
              <a:off x="2277982" y="1666895"/>
              <a:ext cx="52852" cy="4646613"/>
            </a:xfrm>
            <a:custGeom>
              <a:avLst/>
              <a:gdLst>
                <a:gd name="T0" fmla="*/ 35 w 52"/>
                <a:gd name="T1" fmla="*/ 2927 h 2927"/>
                <a:gd name="T2" fmla="*/ 35 w 52"/>
                <a:gd name="T3" fmla="*/ 43 h 2927"/>
                <a:gd name="T4" fmla="*/ 17 w 52"/>
                <a:gd name="T5" fmla="*/ 43 h 2927"/>
                <a:gd name="T6" fmla="*/ 17 w 52"/>
                <a:gd name="T7" fmla="*/ 2927 h 2927"/>
                <a:gd name="T8" fmla="*/ 35 w 52"/>
                <a:gd name="T9" fmla="*/ 2927 h 2927"/>
                <a:gd name="T10" fmla="*/ 52 w 52"/>
                <a:gd name="T11" fmla="*/ 52 h 2927"/>
                <a:gd name="T12" fmla="*/ 26 w 52"/>
                <a:gd name="T13" fmla="*/ 0 h 2927"/>
                <a:gd name="T14" fmla="*/ 0 w 52"/>
                <a:gd name="T15" fmla="*/ 52 h 2927"/>
                <a:gd name="T16" fmla="*/ 52 w 52"/>
                <a:gd name="T17" fmla="*/ 52 h 2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2927">
                  <a:moveTo>
                    <a:pt x="35" y="2927"/>
                  </a:moveTo>
                  <a:lnTo>
                    <a:pt x="35" y="43"/>
                  </a:lnTo>
                  <a:lnTo>
                    <a:pt x="17" y="43"/>
                  </a:lnTo>
                  <a:lnTo>
                    <a:pt x="17" y="2927"/>
                  </a:lnTo>
                  <a:lnTo>
                    <a:pt x="35" y="2927"/>
                  </a:lnTo>
                  <a:close/>
                  <a:moveTo>
                    <a:pt x="52" y="52"/>
                  </a:moveTo>
                  <a:lnTo>
                    <a:pt x="26" y="0"/>
                  </a:lnTo>
                  <a:lnTo>
                    <a:pt x="0" y="52"/>
                  </a:lnTo>
                  <a:lnTo>
                    <a:pt x="52" y="52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2" name="Rectangle 32"/>
            <p:cNvSpPr>
              <a:spLocks noChangeArrowheads="1"/>
            </p:cNvSpPr>
            <p:nvPr/>
          </p:nvSpPr>
          <p:spPr bwMode="auto">
            <a:xfrm>
              <a:off x="2449432" y="1678007"/>
              <a:ext cx="472621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mic Sans MS" panose="030F0702030302020204" pitchFamily="66" charset="0"/>
                </a:rPr>
                <a:t>y axis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3" name="Rectangle 33"/>
            <p:cNvSpPr>
              <a:spLocks noChangeArrowheads="1"/>
            </p:cNvSpPr>
            <p:nvPr/>
          </p:nvSpPr>
          <p:spPr bwMode="auto">
            <a:xfrm>
              <a:off x="893113" y="3663990"/>
              <a:ext cx="1200719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mic Sans MS" panose="030F0702030302020204" pitchFamily="66" charset="0"/>
                </a:rPr>
                <a:t>values of variable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4543426" y="2906713"/>
            <a:ext cx="3204292" cy="2234407"/>
            <a:chOff x="4543426" y="2906713"/>
            <a:chExt cx="3204292" cy="2234407"/>
          </a:xfrm>
        </p:grpSpPr>
        <p:grpSp>
          <p:nvGrpSpPr>
            <p:cNvPr id="46" name="Group 45"/>
            <p:cNvGrpSpPr/>
            <p:nvPr/>
          </p:nvGrpSpPr>
          <p:grpSpPr>
            <a:xfrm>
              <a:off x="4562476" y="2906713"/>
              <a:ext cx="3185242" cy="2234407"/>
              <a:chOff x="4562476" y="2906713"/>
              <a:chExt cx="3185242" cy="2234407"/>
            </a:xfrm>
          </p:grpSpPr>
          <p:sp>
            <p:nvSpPr>
              <p:cNvPr id="5" name="Rectangle 5"/>
              <p:cNvSpPr>
                <a:spLocks noChangeArrowheads="1"/>
              </p:cNvSpPr>
              <p:nvPr/>
            </p:nvSpPr>
            <p:spPr bwMode="auto">
              <a:xfrm>
                <a:off x="4562476" y="3017838"/>
                <a:ext cx="1614488" cy="1966913"/>
              </a:xfrm>
              <a:prstGeom prst="rect">
                <a:avLst/>
              </a:prstGeom>
              <a:solidFill>
                <a:srgbClr val="BBE0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" name="Rectangle 6"/>
              <p:cNvSpPr>
                <a:spLocks noChangeArrowheads="1"/>
              </p:cNvSpPr>
              <p:nvPr/>
            </p:nvSpPr>
            <p:spPr bwMode="auto">
              <a:xfrm>
                <a:off x="4562476" y="3017838"/>
                <a:ext cx="1614488" cy="1966913"/>
              </a:xfrm>
              <a:prstGeom prst="rect">
                <a:avLst/>
              </a:prstGeom>
              <a:noFill/>
              <a:ln w="26988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grpSp>
            <p:nvGrpSpPr>
              <p:cNvPr id="44" name="Group 43"/>
              <p:cNvGrpSpPr/>
              <p:nvPr/>
            </p:nvGrpSpPr>
            <p:grpSpPr>
              <a:xfrm>
                <a:off x="6226894" y="4834732"/>
                <a:ext cx="1520824" cy="306388"/>
                <a:chOff x="6226894" y="4834732"/>
                <a:chExt cx="1520824" cy="306388"/>
              </a:xfrm>
            </p:grpSpPr>
            <p:sp>
              <p:nvSpPr>
                <p:cNvPr id="16" name="Rectangle 16"/>
                <p:cNvSpPr>
                  <a:spLocks noChangeArrowheads="1"/>
                </p:cNvSpPr>
                <p:nvPr/>
              </p:nvSpPr>
              <p:spPr bwMode="auto">
                <a:xfrm>
                  <a:off x="7636593" y="4934926"/>
                  <a:ext cx="111125" cy="1936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900" b="0" i="0" u="none" strike="noStrike" cap="none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Comic Sans MS" panose="030F0702030302020204" pitchFamily="66" charset="0"/>
                    </a:rPr>
                    <a:t>1</a:t>
                  </a:r>
                  <a:endPara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5" name="Rectangle 15"/>
                <p:cNvSpPr>
                  <a:spLocks noChangeArrowheads="1"/>
                </p:cNvSpPr>
                <p:nvPr/>
              </p:nvSpPr>
              <p:spPr bwMode="auto">
                <a:xfrm>
                  <a:off x="6226894" y="4834732"/>
                  <a:ext cx="1466850" cy="3063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400" b="0" i="0" u="none" strike="noStrike" cap="none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Comic Sans MS" panose="030F0702030302020204" pitchFamily="66" charset="0"/>
                    </a:rPr>
                    <a:t>Lower quartile Q</a:t>
                  </a:r>
                  <a:endPara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3" name="Group 42"/>
              <p:cNvGrpSpPr/>
              <p:nvPr/>
            </p:nvGrpSpPr>
            <p:grpSpPr>
              <a:xfrm>
                <a:off x="6219826" y="2906713"/>
                <a:ext cx="1485900" cy="306388"/>
                <a:chOff x="6219826" y="2906713"/>
                <a:chExt cx="1485900" cy="306388"/>
              </a:xfrm>
            </p:grpSpPr>
            <p:sp>
              <p:nvSpPr>
                <p:cNvPr id="30" name="Rectangle 30"/>
                <p:cNvSpPr>
                  <a:spLocks noChangeArrowheads="1"/>
                </p:cNvSpPr>
                <p:nvPr/>
              </p:nvSpPr>
              <p:spPr bwMode="auto">
                <a:xfrm>
                  <a:off x="7586663" y="3016251"/>
                  <a:ext cx="119063" cy="195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9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Comic Sans MS" panose="030F0702030302020204" pitchFamily="66" charset="0"/>
                    </a:rPr>
                    <a:t>3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" name="Rectangle 29"/>
                <p:cNvSpPr>
                  <a:spLocks noChangeArrowheads="1"/>
                </p:cNvSpPr>
                <p:nvPr/>
              </p:nvSpPr>
              <p:spPr bwMode="auto">
                <a:xfrm>
                  <a:off x="6219826" y="2906713"/>
                  <a:ext cx="1476375" cy="3063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400" b="0" i="0" u="none" strike="noStrike" cap="none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Comic Sans MS" panose="030F0702030302020204" pitchFamily="66" charset="0"/>
                    </a:rPr>
                    <a:t>Upper quartile Q</a:t>
                  </a:r>
                  <a:endPara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38" name="Freeform 14"/>
            <p:cNvSpPr>
              <a:spLocks noEditPoints="1"/>
            </p:cNvSpPr>
            <p:nvPr/>
          </p:nvSpPr>
          <p:spPr bwMode="auto">
            <a:xfrm>
              <a:off x="4543426" y="4016376"/>
              <a:ext cx="1633538" cy="36513"/>
            </a:xfrm>
            <a:custGeom>
              <a:avLst/>
              <a:gdLst>
                <a:gd name="T0" fmla="*/ 24 w 2834"/>
                <a:gd name="T1" fmla="*/ 16 h 65"/>
                <a:gd name="T2" fmla="*/ 121 w 2834"/>
                <a:gd name="T3" fmla="*/ 64 h 65"/>
                <a:gd name="T4" fmla="*/ 120 w 2834"/>
                <a:gd name="T5" fmla="*/ 16 h 65"/>
                <a:gd name="T6" fmla="*/ 217 w 2834"/>
                <a:gd name="T7" fmla="*/ 63 h 65"/>
                <a:gd name="T8" fmla="*/ 216 w 2834"/>
                <a:gd name="T9" fmla="*/ 15 h 65"/>
                <a:gd name="T10" fmla="*/ 313 w 2834"/>
                <a:gd name="T11" fmla="*/ 63 h 65"/>
                <a:gd name="T12" fmla="*/ 289 w 2834"/>
                <a:gd name="T13" fmla="*/ 39 h 65"/>
                <a:gd name="T14" fmla="*/ 433 w 2834"/>
                <a:gd name="T15" fmla="*/ 38 h 65"/>
                <a:gd name="T16" fmla="*/ 409 w 2834"/>
                <a:gd name="T17" fmla="*/ 62 h 65"/>
                <a:gd name="T18" fmla="*/ 505 w 2834"/>
                <a:gd name="T19" fmla="*/ 14 h 65"/>
                <a:gd name="T20" fmla="*/ 601 w 2834"/>
                <a:gd name="T21" fmla="*/ 61 h 65"/>
                <a:gd name="T22" fmla="*/ 601 w 2834"/>
                <a:gd name="T23" fmla="*/ 13 h 65"/>
                <a:gd name="T24" fmla="*/ 697 w 2834"/>
                <a:gd name="T25" fmla="*/ 61 h 65"/>
                <a:gd name="T26" fmla="*/ 673 w 2834"/>
                <a:gd name="T27" fmla="*/ 37 h 65"/>
                <a:gd name="T28" fmla="*/ 817 w 2834"/>
                <a:gd name="T29" fmla="*/ 36 h 65"/>
                <a:gd name="T30" fmla="*/ 793 w 2834"/>
                <a:gd name="T31" fmla="*/ 60 h 65"/>
                <a:gd name="T32" fmla="*/ 889 w 2834"/>
                <a:gd name="T33" fmla="*/ 12 h 65"/>
                <a:gd name="T34" fmla="*/ 985 w 2834"/>
                <a:gd name="T35" fmla="*/ 59 h 65"/>
                <a:gd name="T36" fmla="*/ 985 w 2834"/>
                <a:gd name="T37" fmla="*/ 11 h 65"/>
                <a:gd name="T38" fmla="*/ 1081 w 2834"/>
                <a:gd name="T39" fmla="*/ 58 h 65"/>
                <a:gd name="T40" fmla="*/ 1081 w 2834"/>
                <a:gd name="T41" fmla="*/ 58 h 65"/>
                <a:gd name="T42" fmla="*/ 1177 w 2834"/>
                <a:gd name="T43" fmla="*/ 10 h 65"/>
                <a:gd name="T44" fmla="*/ 1273 w 2834"/>
                <a:gd name="T45" fmla="*/ 57 h 65"/>
                <a:gd name="T46" fmla="*/ 1273 w 2834"/>
                <a:gd name="T47" fmla="*/ 9 h 65"/>
                <a:gd name="T48" fmla="*/ 1369 w 2834"/>
                <a:gd name="T49" fmla="*/ 57 h 65"/>
                <a:gd name="T50" fmla="*/ 1345 w 2834"/>
                <a:gd name="T51" fmla="*/ 33 h 65"/>
                <a:gd name="T52" fmla="*/ 1489 w 2834"/>
                <a:gd name="T53" fmla="*/ 32 h 65"/>
                <a:gd name="T54" fmla="*/ 1561 w 2834"/>
                <a:gd name="T55" fmla="*/ 56 h 65"/>
                <a:gd name="T56" fmla="*/ 1561 w 2834"/>
                <a:gd name="T57" fmla="*/ 8 h 65"/>
                <a:gd name="T58" fmla="*/ 1657 w 2834"/>
                <a:gd name="T59" fmla="*/ 55 h 65"/>
                <a:gd name="T60" fmla="*/ 1633 w 2834"/>
                <a:gd name="T61" fmla="*/ 31 h 65"/>
                <a:gd name="T62" fmla="*/ 1777 w 2834"/>
                <a:gd name="T63" fmla="*/ 30 h 65"/>
                <a:gd name="T64" fmla="*/ 1753 w 2834"/>
                <a:gd name="T65" fmla="*/ 55 h 65"/>
                <a:gd name="T66" fmla="*/ 1849 w 2834"/>
                <a:gd name="T67" fmla="*/ 6 h 65"/>
                <a:gd name="T68" fmla="*/ 1946 w 2834"/>
                <a:gd name="T69" fmla="*/ 53 h 65"/>
                <a:gd name="T70" fmla="*/ 1921 w 2834"/>
                <a:gd name="T71" fmla="*/ 30 h 65"/>
                <a:gd name="T72" fmla="*/ 2065 w 2834"/>
                <a:gd name="T73" fmla="*/ 29 h 65"/>
                <a:gd name="T74" fmla="*/ 2042 w 2834"/>
                <a:gd name="T75" fmla="*/ 53 h 65"/>
                <a:gd name="T76" fmla="*/ 2137 w 2834"/>
                <a:gd name="T77" fmla="*/ 4 h 65"/>
                <a:gd name="T78" fmla="*/ 2234 w 2834"/>
                <a:gd name="T79" fmla="*/ 52 h 65"/>
                <a:gd name="T80" fmla="*/ 2233 w 2834"/>
                <a:gd name="T81" fmla="*/ 4 h 65"/>
                <a:gd name="T82" fmla="*/ 2330 w 2834"/>
                <a:gd name="T83" fmla="*/ 51 h 65"/>
                <a:gd name="T84" fmla="*/ 2330 w 2834"/>
                <a:gd name="T85" fmla="*/ 51 h 65"/>
                <a:gd name="T86" fmla="*/ 2426 w 2834"/>
                <a:gd name="T87" fmla="*/ 3 h 65"/>
                <a:gd name="T88" fmla="*/ 2522 w 2834"/>
                <a:gd name="T89" fmla="*/ 50 h 65"/>
                <a:gd name="T90" fmla="*/ 2498 w 2834"/>
                <a:gd name="T91" fmla="*/ 26 h 65"/>
                <a:gd name="T92" fmla="*/ 2642 w 2834"/>
                <a:gd name="T93" fmla="*/ 26 h 65"/>
                <a:gd name="T94" fmla="*/ 2714 w 2834"/>
                <a:gd name="T95" fmla="*/ 49 h 65"/>
                <a:gd name="T96" fmla="*/ 2714 w 2834"/>
                <a:gd name="T97" fmla="*/ 1 h 65"/>
                <a:gd name="T98" fmla="*/ 2810 w 2834"/>
                <a:gd name="T99" fmla="*/ 49 h 65"/>
                <a:gd name="T100" fmla="*/ 2786 w 2834"/>
                <a:gd name="T101" fmla="*/ 2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34" h="65">
                  <a:moveTo>
                    <a:pt x="25" y="64"/>
                  </a:moveTo>
                  <a:lnTo>
                    <a:pt x="25" y="64"/>
                  </a:lnTo>
                  <a:lnTo>
                    <a:pt x="25" y="64"/>
                  </a:lnTo>
                  <a:cubicBezTo>
                    <a:pt x="38" y="64"/>
                    <a:pt x="49" y="54"/>
                    <a:pt x="49" y="40"/>
                  </a:cubicBezTo>
                  <a:cubicBezTo>
                    <a:pt x="48" y="27"/>
                    <a:pt x="38" y="16"/>
                    <a:pt x="24" y="16"/>
                  </a:cubicBezTo>
                  <a:lnTo>
                    <a:pt x="24" y="16"/>
                  </a:lnTo>
                  <a:lnTo>
                    <a:pt x="24" y="16"/>
                  </a:lnTo>
                  <a:cubicBezTo>
                    <a:pt x="11" y="17"/>
                    <a:pt x="0" y="27"/>
                    <a:pt x="0" y="41"/>
                  </a:cubicBezTo>
                  <a:cubicBezTo>
                    <a:pt x="1" y="54"/>
                    <a:pt x="11" y="65"/>
                    <a:pt x="25" y="64"/>
                  </a:cubicBezTo>
                  <a:close/>
                  <a:moveTo>
                    <a:pt x="121" y="64"/>
                  </a:moveTo>
                  <a:lnTo>
                    <a:pt x="121" y="64"/>
                  </a:lnTo>
                  <a:lnTo>
                    <a:pt x="121" y="64"/>
                  </a:lnTo>
                  <a:cubicBezTo>
                    <a:pt x="134" y="64"/>
                    <a:pt x="145" y="53"/>
                    <a:pt x="145" y="40"/>
                  </a:cubicBezTo>
                  <a:cubicBezTo>
                    <a:pt x="144" y="27"/>
                    <a:pt x="134" y="16"/>
                    <a:pt x="120" y="16"/>
                  </a:cubicBezTo>
                  <a:lnTo>
                    <a:pt x="120" y="16"/>
                  </a:lnTo>
                  <a:lnTo>
                    <a:pt x="120" y="16"/>
                  </a:lnTo>
                  <a:cubicBezTo>
                    <a:pt x="107" y="16"/>
                    <a:pt x="96" y="27"/>
                    <a:pt x="97" y="40"/>
                  </a:cubicBezTo>
                  <a:cubicBezTo>
                    <a:pt x="97" y="53"/>
                    <a:pt x="107" y="64"/>
                    <a:pt x="121" y="64"/>
                  </a:cubicBezTo>
                  <a:close/>
                  <a:moveTo>
                    <a:pt x="217" y="63"/>
                  </a:moveTo>
                  <a:lnTo>
                    <a:pt x="217" y="63"/>
                  </a:lnTo>
                  <a:lnTo>
                    <a:pt x="217" y="63"/>
                  </a:lnTo>
                  <a:cubicBezTo>
                    <a:pt x="230" y="63"/>
                    <a:pt x="241" y="52"/>
                    <a:pt x="241" y="39"/>
                  </a:cubicBezTo>
                  <a:cubicBezTo>
                    <a:pt x="241" y="26"/>
                    <a:pt x="230" y="15"/>
                    <a:pt x="216" y="15"/>
                  </a:cubicBezTo>
                  <a:lnTo>
                    <a:pt x="216" y="15"/>
                  </a:lnTo>
                  <a:lnTo>
                    <a:pt x="216" y="15"/>
                  </a:lnTo>
                  <a:cubicBezTo>
                    <a:pt x="203" y="15"/>
                    <a:pt x="192" y="26"/>
                    <a:pt x="193" y="40"/>
                  </a:cubicBezTo>
                  <a:cubicBezTo>
                    <a:pt x="193" y="53"/>
                    <a:pt x="203" y="63"/>
                    <a:pt x="217" y="63"/>
                  </a:cubicBezTo>
                  <a:close/>
                  <a:moveTo>
                    <a:pt x="313" y="63"/>
                  </a:moveTo>
                  <a:lnTo>
                    <a:pt x="313" y="63"/>
                  </a:lnTo>
                  <a:lnTo>
                    <a:pt x="313" y="63"/>
                  </a:lnTo>
                  <a:cubicBezTo>
                    <a:pt x="326" y="63"/>
                    <a:pt x="337" y="52"/>
                    <a:pt x="337" y="39"/>
                  </a:cubicBezTo>
                  <a:cubicBezTo>
                    <a:pt x="337" y="25"/>
                    <a:pt x="326" y="15"/>
                    <a:pt x="313" y="15"/>
                  </a:cubicBezTo>
                  <a:lnTo>
                    <a:pt x="312" y="15"/>
                  </a:lnTo>
                  <a:lnTo>
                    <a:pt x="312" y="15"/>
                  </a:lnTo>
                  <a:cubicBezTo>
                    <a:pt x="299" y="15"/>
                    <a:pt x="289" y="26"/>
                    <a:pt x="289" y="39"/>
                  </a:cubicBezTo>
                  <a:cubicBezTo>
                    <a:pt x="289" y="52"/>
                    <a:pt x="299" y="63"/>
                    <a:pt x="313" y="63"/>
                  </a:cubicBezTo>
                  <a:close/>
                  <a:moveTo>
                    <a:pt x="409" y="62"/>
                  </a:moveTo>
                  <a:lnTo>
                    <a:pt x="409" y="62"/>
                  </a:lnTo>
                  <a:lnTo>
                    <a:pt x="409" y="62"/>
                  </a:lnTo>
                  <a:cubicBezTo>
                    <a:pt x="422" y="62"/>
                    <a:pt x="433" y="51"/>
                    <a:pt x="433" y="38"/>
                  </a:cubicBezTo>
                  <a:cubicBezTo>
                    <a:pt x="433" y="25"/>
                    <a:pt x="422" y="14"/>
                    <a:pt x="409" y="14"/>
                  </a:cubicBezTo>
                  <a:lnTo>
                    <a:pt x="409" y="14"/>
                  </a:lnTo>
                  <a:lnTo>
                    <a:pt x="409" y="14"/>
                  </a:lnTo>
                  <a:cubicBezTo>
                    <a:pt x="395" y="14"/>
                    <a:pt x="385" y="25"/>
                    <a:pt x="385" y="38"/>
                  </a:cubicBezTo>
                  <a:cubicBezTo>
                    <a:pt x="385" y="52"/>
                    <a:pt x="396" y="62"/>
                    <a:pt x="409" y="62"/>
                  </a:cubicBezTo>
                  <a:close/>
                  <a:moveTo>
                    <a:pt x="505" y="62"/>
                  </a:moveTo>
                  <a:lnTo>
                    <a:pt x="505" y="62"/>
                  </a:lnTo>
                  <a:lnTo>
                    <a:pt x="505" y="62"/>
                  </a:lnTo>
                  <a:cubicBezTo>
                    <a:pt x="518" y="62"/>
                    <a:pt x="529" y="51"/>
                    <a:pt x="529" y="38"/>
                  </a:cubicBezTo>
                  <a:cubicBezTo>
                    <a:pt x="529" y="24"/>
                    <a:pt x="518" y="14"/>
                    <a:pt x="505" y="14"/>
                  </a:cubicBezTo>
                  <a:lnTo>
                    <a:pt x="505" y="14"/>
                  </a:lnTo>
                  <a:lnTo>
                    <a:pt x="505" y="14"/>
                  </a:lnTo>
                  <a:cubicBezTo>
                    <a:pt x="491" y="14"/>
                    <a:pt x="481" y="25"/>
                    <a:pt x="481" y="38"/>
                  </a:cubicBezTo>
                  <a:cubicBezTo>
                    <a:pt x="481" y="51"/>
                    <a:pt x="492" y="62"/>
                    <a:pt x="505" y="62"/>
                  </a:cubicBezTo>
                  <a:close/>
                  <a:moveTo>
                    <a:pt x="601" y="61"/>
                  </a:moveTo>
                  <a:lnTo>
                    <a:pt x="601" y="61"/>
                  </a:lnTo>
                  <a:lnTo>
                    <a:pt x="601" y="61"/>
                  </a:lnTo>
                  <a:cubicBezTo>
                    <a:pt x="614" y="61"/>
                    <a:pt x="625" y="50"/>
                    <a:pt x="625" y="37"/>
                  </a:cubicBezTo>
                  <a:cubicBezTo>
                    <a:pt x="625" y="24"/>
                    <a:pt x="614" y="13"/>
                    <a:pt x="601" y="13"/>
                  </a:cubicBezTo>
                  <a:lnTo>
                    <a:pt x="601" y="13"/>
                  </a:lnTo>
                  <a:lnTo>
                    <a:pt x="601" y="13"/>
                  </a:lnTo>
                  <a:cubicBezTo>
                    <a:pt x="587" y="13"/>
                    <a:pt x="577" y="24"/>
                    <a:pt x="577" y="37"/>
                  </a:cubicBezTo>
                  <a:cubicBezTo>
                    <a:pt x="577" y="51"/>
                    <a:pt x="588" y="61"/>
                    <a:pt x="601" y="61"/>
                  </a:cubicBezTo>
                  <a:close/>
                  <a:moveTo>
                    <a:pt x="697" y="61"/>
                  </a:moveTo>
                  <a:lnTo>
                    <a:pt x="697" y="61"/>
                  </a:lnTo>
                  <a:lnTo>
                    <a:pt x="697" y="61"/>
                  </a:lnTo>
                  <a:cubicBezTo>
                    <a:pt x="710" y="61"/>
                    <a:pt x="721" y="50"/>
                    <a:pt x="721" y="36"/>
                  </a:cubicBezTo>
                  <a:cubicBezTo>
                    <a:pt x="721" y="23"/>
                    <a:pt x="710" y="13"/>
                    <a:pt x="697" y="13"/>
                  </a:cubicBezTo>
                  <a:lnTo>
                    <a:pt x="697" y="13"/>
                  </a:lnTo>
                  <a:cubicBezTo>
                    <a:pt x="683" y="13"/>
                    <a:pt x="673" y="24"/>
                    <a:pt x="673" y="37"/>
                  </a:cubicBezTo>
                  <a:cubicBezTo>
                    <a:pt x="673" y="50"/>
                    <a:pt x="684" y="61"/>
                    <a:pt x="697" y="61"/>
                  </a:cubicBezTo>
                  <a:close/>
                  <a:moveTo>
                    <a:pt x="793" y="60"/>
                  </a:moveTo>
                  <a:lnTo>
                    <a:pt x="793" y="60"/>
                  </a:lnTo>
                  <a:lnTo>
                    <a:pt x="793" y="60"/>
                  </a:lnTo>
                  <a:cubicBezTo>
                    <a:pt x="806" y="60"/>
                    <a:pt x="817" y="49"/>
                    <a:pt x="817" y="36"/>
                  </a:cubicBezTo>
                  <a:cubicBezTo>
                    <a:pt x="817" y="23"/>
                    <a:pt x="806" y="12"/>
                    <a:pt x="793" y="12"/>
                  </a:cubicBezTo>
                  <a:lnTo>
                    <a:pt x="793" y="12"/>
                  </a:lnTo>
                  <a:lnTo>
                    <a:pt x="793" y="12"/>
                  </a:lnTo>
                  <a:cubicBezTo>
                    <a:pt x="779" y="12"/>
                    <a:pt x="769" y="23"/>
                    <a:pt x="769" y="36"/>
                  </a:cubicBezTo>
                  <a:cubicBezTo>
                    <a:pt x="769" y="49"/>
                    <a:pt x="780" y="60"/>
                    <a:pt x="793" y="60"/>
                  </a:cubicBezTo>
                  <a:close/>
                  <a:moveTo>
                    <a:pt x="889" y="60"/>
                  </a:moveTo>
                  <a:lnTo>
                    <a:pt x="889" y="60"/>
                  </a:lnTo>
                  <a:lnTo>
                    <a:pt x="889" y="60"/>
                  </a:lnTo>
                  <a:cubicBezTo>
                    <a:pt x="902" y="59"/>
                    <a:pt x="913" y="49"/>
                    <a:pt x="913" y="35"/>
                  </a:cubicBezTo>
                  <a:cubicBezTo>
                    <a:pt x="913" y="22"/>
                    <a:pt x="902" y="11"/>
                    <a:pt x="889" y="12"/>
                  </a:cubicBezTo>
                  <a:lnTo>
                    <a:pt x="889" y="12"/>
                  </a:lnTo>
                  <a:cubicBezTo>
                    <a:pt x="875" y="12"/>
                    <a:pt x="865" y="22"/>
                    <a:pt x="865" y="36"/>
                  </a:cubicBezTo>
                  <a:cubicBezTo>
                    <a:pt x="865" y="49"/>
                    <a:pt x="876" y="60"/>
                    <a:pt x="889" y="60"/>
                  </a:cubicBezTo>
                  <a:close/>
                  <a:moveTo>
                    <a:pt x="985" y="59"/>
                  </a:moveTo>
                  <a:lnTo>
                    <a:pt x="985" y="59"/>
                  </a:lnTo>
                  <a:lnTo>
                    <a:pt x="985" y="59"/>
                  </a:lnTo>
                  <a:cubicBezTo>
                    <a:pt x="998" y="59"/>
                    <a:pt x="1009" y="48"/>
                    <a:pt x="1009" y="35"/>
                  </a:cubicBezTo>
                  <a:cubicBezTo>
                    <a:pt x="1009" y="22"/>
                    <a:pt x="998" y="11"/>
                    <a:pt x="985" y="11"/>
                  </a:cubicBezTo>
                  <a:lnTo>
                    <a:pt x="985" y="11"/>
                  </a:lnTo>
                  <a:lnTo>
                    <a:pt x="985" y="11"/>
                  </a:lnTo>
                  <a:cubicBezTo>
                    <a:pt x="972" y="11"/>
                    <a:pt x="961" y="22"/>
                    <a:pt x="961" y="35"/>
                  </a:cubicBezTo>
                  <a:cubicBezTo>
                    <a:pt x="961" y="48"/>
                    <a:pt x="972" y="59"/>
                    <a:pt x="985" y="59"/>
                  </a:cubicBezTo>
                  <a:close/>
                  <a:moveTo>
                    <a:pt x="1081" y="58"/>
                  </a:moveTo>
                  <a:lnTo>
                    <a:pt x="1081" y="58"/>
                  </a:lnTo>
                  <a:lnTo>
                    <a:pt x="1081" y="58"/>
                  </a:lnTo>
                  <a:cubicBezTo>
                    <a:pt x="1094" y="58"/>
                    <a:pt x="1105" y="48"/>
                    <a:pt x="1105" y="34"/>
                  </a:cubicBezTo>
                  <a:cubicBezTo>
                    <a:pt x="1105" y="21"/>
                    <a:pt x="1094" y="10"/>
                    <a:pt x="1081" y="10"/>
                  </a:cubicBezTo>
                  <a:lnTo>
                    <a:pt x="1081" y="10"/>
                  </a:lnTo>
                  <a:cubicBezTo>
                    <a:pt x="1068" y="11"/>
                    <a:pt x="1057" y="21"/>
                    <a:pt x="1057" y="35"/>
                  </a:cubicBezTo>
                  <a:cubicBezTo>
                    <a:pt x="1057" y="48"/>
                    <a:pt x="1068" y="59"/>
                    <a:pt x="1081" y="58"/>
                  </a:cubicBezTo>
                  <a:close/>
                  <a:moveTo>
                    <a:pt x="1177" y="58"/>
                  </a:moveTo>
                  <a:lnTo>
                    <a:pt x="1177" y="58"/>
                  </a:lnTo>
                  <a:lnTo>
                    <a:pt x="1177" y="58"/>
                  </a:lnTo>
                  <a:cubicBezTo>
                    <a:pt x="1190" y="58"/>
                    <a:pt x="1201" y="47"/>
                    <a:pt x="1201" y="34"/>
                  </a:cubicBezTo>
                  <a:cubicBezTo>
                    <a:pt x="1201" y="20"/>
                    <a:pt x="1190" y="10"/>
                    <a:pt x="1177" y="10"/>
                  </a:cubicBezTo>
                  <a:lnTo>
                    <a:pt x="1177" y="10"/>
                  </a:lnTo>
                  <a:lnTo>
                    <a:pt x="1177" y="10"/>
                  </a:lnTo>
                  <a:cubicBezTo>
                    <a:pt x="1164" y="10"/>
                    <a:pt x="1153" y="21"/>
                    <a:pt x="1153" y="34"/>
                  </a:cubicBezTo>
                  <a:cubicBezTo>
                    <a:pt x="1153" y="47"/>
                    <a:pt x="1164" y="58"/>
                    <a:pt x="1177" y="58"/>
                  </a:cubicBezTo>
                  <a:close/>
                  <a:moveTo>
                    <a:pt x="1273" y="57"/>
                  </a:moveTo>
                  <a:lnTo>
                    <a:pt x="1273" y="57"/>
                  </a:lnTo>
                  <a:lnTo>
                    <a:pt x="1273" y="57"/>
                  </a:lnTo>
                  <a:cubicBezTo>
                    <a:pt x="1287" y="57"/>
                    <a:pt x="1297" y="46"/>
                    <a:pt x="1297" y="33"/>
                  </a:cubicBezTo>
                  <a:cubicBezTo>
                    <a:pt x="1297" y="20"/>
                    <a:pt x="1286" y="9"/>
                    <a:pt x="1273" y="9"/>
                  </a:cubicBezTo>
                  <a:lnTo>
                    <a:pt x="1273" y="9"/>
                  </a:lnTo>
                  <a:cubicBezTo>
                    <a:pt x="1260" y="9"/>
                    <a:pt x="1249" y="20"/>
                    <a:pt x="1249" y="33"/>
                  </a:cubicBezTo>
                  <a:cubicBezTo>
                    <a:pt x="1249" y="47"/>
                    <a:pt x="1260" y="57"/>
                    <a:pt x="1273" y="57"/>
                  </a:cubicBezTo>
                  <a:close/>
                  <a:moveTo>
                    <a:pt x="1369" y="57"/>
                  </a:moveTo>
                  <a:lnTo>
                    <a:pt x="1369" y="57"/>
                  </a:lnTo>
                  <a:lnTo>
                    <a:pt x="1369" y="57"/>
                  </a:lnTo>
                  <a:cubicBezTo>
                    <a:pt x="1383" y="57"/>
                    <a:pt x="1393" y="46"/>
                    <a:pt x="1393" y="33"/>
                  </a:cubicBezTo>
                  <a:cubicBezTo>
                    <a:pt x="1393" y="19"/>
                    <a:pt x="1382" y="9"/>
                    <a:pt x="1369" y="9"/>
                  </a:cubicBezTo>
                  <a:lnTo>
                    <a:pt x="1369" y="9"/>
                  </a:lnTo>
                  <a:lnTo>
                    <a:pt x="1369" y="9"/>
                  </a:lnTo>
                  <a:cubicBezTo>
                    <a:pt x="1356" y="9"/>
                    <a:pt x="1345" y="20"/>
                    <a:pt x="1345" y="33"/>
                  </a:cubicBezTo>
                  <a:cubicBezTo>
                    <a:pt x="1345" y="46"/>
                    <a:pt x="1356" y="57"/>
                    <a:pt x="1369" y="57"/>
                  </a:cubicBezTo>
                  <a:close/>
                  <a:moveTo>
                    <a:pt x="1465" y="56"/>
                  </a:moveTo>
                  <a:lnTo>
                    <a:pt x="1465" y="56"/>
                  </a:lnTo>
                  <a:lnTo>
                    <a:pt x="1465" y="56"/>
                  </a:lnTo>
                  <a:cubicBezTo>
                    <a:pt x="1479" y="56"/>
                    <a:pt x="1489" y="45"/>
                    <a:pt x="1489" y="32"/>
                  </a:cubicBezTo>
                  <a:cubicBezTo>
                    <a:pt x="1489" y="19"/>
                    <a:pt x="1478" y="8"/>
                    <a:pt x="1465" y="8"/>
                  </a:cubicBezTo>
                  <a:lnTo>
                    <a:pt x="1465" y="8"/>
                  </a:lnTo>
                  <a:cubicBezTo>
                    <a:pt x="1452" y="8"/>
                    <a:pt x="1441" y="19"/>
                    <a:pt x="1441" y="32"/>
                  </a:cubicBezTo>
                  <a:cubicBezTo>
                    <a:pt x="1441" y="46"/>
                    <a:pt x="1452" y="56"/>
                    <a:pt x="1465" y="56"/>
                  </a:cubicBezTo>
                  <a:close/>
                  <a:moveTo>
                    <a:pt x="1561" y="56"/>
                  </a:moveTo>
                  <a:lnTo>
                    <a:pt x="1561" y="56"/>
                  </a:lnTo>
                  <a:lnTo>
                    <a:pt x="1561" y="56"/>
                  </a:lnTo>
                  <a:cubicBezTo>
                    <a:pt x="1575" y="56"/>
                    <a:pt x="1585" y="45"/>
                    <a:pt x="1585" y="32"/>
                  </a:cubicBezTo>
                  <a:cubicBezTo>
                    <a:pt x="1585" y="18"/>
                    <a:pt x="1574" y="8"/>
                    <a:pt x="1561" y="8"/>
                  </a:cubicBezTo>
                  <a:lnTo>
                    <a:pt x="1561" y="8"/>
                  </a:lnTo>
                  <a:lnTo>
                    <a:pt x="1561" y="8"/>
                  </a:lnTo>
                  <a:cubicBezTo>
                    <a:pt x="1548" y="8"/>
                    <a:pt x="1537" y="19"/>
                    <a:pt x="1537" y="32"/>
                  </a:cubicBezTo>
                  <a:cubicBezTo>
                    <a:pt x="1537" y="45"/>
                    <a:pt x="1548" y="56"/>
                    <a:pt x="1561" y="56"/>
                  </a:cubicBezTo>
                  <a:close/>
                  <a:moveTo>
                    <a:pt x="1657" y="55"/>
                  </a:moveTo>
                  <a:lnTo>
                    <a:pt x="1657" y="55"/>
                  </a:lnTo>
                  <a:lnTo>
                    <a:pt x="1657" y="55"/>
                  </a:lnTo>
                  <a:cubicBezTo>
                    <a:pt x="1671" y="55"/>
                    <a:pt x="1681" y="44"/>
                    <a:pt x="1681" y="31"/>
                  </a:cubicBezTo>
                  <a:cubicBezTo>
                    <a:pt x="1681" y="18"/>
                    <a:pt x="1670" y="7"/>
                    <a:pt x="1657" y="7"/>
                  </a:cubicBezTo>
                  <a:lnTo>
                    <a:pt x="1657" y="7"/>
                  </a:lnTo>
                  <a:cubicBezTo>
                    <a:pt x="1644" y="7"/>
                    <a:pt x="1633" y="18"/>
                    <a:pt x="1633" y="31"/>
                  </a:cubicBezTo>
                  <a:cubicBezTo>
                    <a:pt x="1633" y="45"/>
                    <a:pt x="1644" y="55"/>
                    <a:pt x="1657" y="55"/>
                  </a:cubicBezTo>
                  <a:close/>
                  <a:moveTo>
                    <a:pt x="1753" y="55"/>
                  </a:moveTo>
                  <a:lnTo>
                    <a:pt x="1753" y="55"/>
                  </a:lnTo>
                  <a:lnTo>
                    <a:pt x="1753" y="55"/>
                  </a:lnTo>
                  <a:cubicBezTo>
                    <a:pt x="1767" y="55"/>
                    <a:pt x="1777" y="44"/>
                    <a:pt x="1777" y="30"/>
                  </a:cubicBezTo>
                  <a:cubicBezTo>
                    <a:pt x="1777" y="17"/>
                    <a:pt x="1766" y="7"/>
                    <a:pt x="1753" y="7"/>
                  </a:cubicBezTo>
                  <a:lnTo>
                    <a:pt x="1753" y="7"/>
                  </a:lnTo>
                  <a:lnTo>
                    <a:pt x="1753" y="7"/>
                  </a:lnTo>
                  <a:cubicBezTo>
                    <a:pt x="1740" y="7"/>
                    <a:pt x="1729" y="17"/>
                    <a:pt x="1729" y="31"/>
                  </a:cubicBezTo>
                  <a:cubicBezTo>
                    <a:pt x="1729" y="44"/>
                    <a:pt x="1740" y="55"/>
                    <a:pt x="1753" y="55"/>
                  </a:cubicBezTo>
                  <a:close/>
                  <a:moveTo>
                    <a:pt x="1849" y="54"/>
                  </a:moveTo>
                  <a:lnTo>
                    <a:pt x="1850" y="54"/>
                  </a:lnTo>
                  <a:lnTo>
                    <a:pt x="1850" y="54"/>
                  </a:lnTo>
                  <a:cubicBezTo>
                    <a:pt x="1863" y="54"/>
                    <a:pt x="1873" y="43"/>
                    <a:pt x="1873" y="30"/>
                  </a:cubicBezTo>
                  <a:cubicBezTo>
                    <a:pt x="1873" y="17"/>
                    <a:pt x="1863" y="6"/>
                    <a:pt x="1849" y="6"/>
                  </a:cubicBezTo>
                  <a:lnTo>
                    <a:pt x="1849" y="6"/>
                  </a:lnTo>
                  <a:cubicBezTo>
                    <a:pt x="1836" y="6"/>
                    <a:pt x="1825" y="17"/>
                    <a:pt x="1825" y="30"/>
                  </a:cubicBezTo>
                  <a:cubicBezTo>
                    <a:pt x="1825" y="43"/>
                    <a:pt x="1836" y="54"/>
                    <a:pt x="1849" y="54"/>
                  </a:cubicBezTo>
                  <a:close/>
                  <a:moveTo>
                    <a:pt x="1946" y="53"/>
                  </a:moveTo>
                  <a:lnTo>
                    <a:pt x="1946" y="53"/>
                  </a:lnTo>
                  <a:lnTo>
                    <a:pt x="1946" y="53"/>
                  </a:lnTo>
                  <a:cubicBezTo>
                    <a:pt x="1959" y="53"/>
                    <a:pt x="1970" y="43"/>
                    <a:pt x="1969" y="29"/>
                  </a:cubicBezTo>
                  <a:cubicBezTo>
                    <a:pt x="1969" y="16"/>
                    <a:pt x="1959" y="5"/>
                    <a:pt x="1945" y="5"/>
                  </a:cubicBezTo>
                  <a:lnTo>
                    <a:pt x="1945" y="5"/>
                  </a:lnTo>
                  <a:cubicBezTo>
                    <a:pt x="1932" y="6"/>
                    <a:pt x="1921" y="16"/>
                    <a:pt x="1921" y="30"/>
                  </a:cubicBezTo>
                  <a:cubicBezTo>
                    <a:pt x="1921" y="43"/>
                    <a:pt x="1932" y="54"/>
                    <a:pt x="1946" y="53"/>
                  </a:cubicBezTo>
                  <a:close/>
                  <a:moveTo>
                    <a:pt x="2042" y="53"/>
                  </a:moveTo>
                  <a:lnTo>
                    <a:pt x="2042" y="53"/>
                  </a:lnTo>
                  <a:lnTo>
                    <a:pt x="2042" y="53"/>
                  </a:lnTo>
                  <a:cubicBezTo>
                    <a:pt x="2055" y="53"/>
                    <a:pt x="2066" y="42"/>
                    <a:pt x="2065" y="29"/>
                  </a:cubicBezTo>
                  <a:cubicBezTo>
                    <a:pt x="2065" y="16"/>
                    <a:pt x="2055" y="5"/>
                    <a:pt x="2041" y="5"/>
                  </a:cubicBezTo>
                  <a:lnTo>
                    <a:pt x="2041" y="5"/>
                  </a:lnTo>
                  <a:lnTo>
                    <a:pt x="2041" y="5"/>
                  </a:lnTo>
                  <a:cubicBezTo>
                    <a:pt x="2028" y="5"/>
                    <a:pt x="2017" y="16"/>
                    <a:pt x="2017" y="29"/>
                  </a:cubicBezTo>
                  <a:cubicBezTo>
                    <a:pt x="2018" y="42"/>
                    <a:pt x="2028" y="53"/>
                    <a:pt x="2042" y="53"/>
                  </a:cubicBezTo>
                  <a:close/>
                  <a:moveTo>
                    <a:pt x="2138" y="52"/>
                  </a:moveTo>
                  <a:lnTo>
                    <a:pt x="2138" y="52"/>
                  </a:lnTo>
                  <a:lnTo>
                    <a:pt x="2138" y="52"/>
                  </a:lnTo>
                  <a:cubicBezTo>
                    <a:pt x="2151" y="52"/>
                    <a:pt x="2162" y="42"/>
                    <a:pt x="2162" y="28"/>
                  </a:cubicBezTo>
                  <a:cubicBezTo>
                    <a:pt x="2161" y="15"/>
                    <a:pt x="2151" y="4"/>
                    <a:pt x="2137" y="4"/>
                  </a:cubicBezTo>
                  <a:lnTo>
                    <a:pt x="2137" y="4"/>
                  </a:lnTo>
                  <a:lnTo>
                    <a:pt x="2137" y="4"/>
                  </a:lnTo>
                  <a:cubicBezTo>
                    <a:pt x="2124" y="4"/>
                    <a:pt x="2113" y="15"/>
                    <a:pt x="2113" y="29"/>
                  </a:cubicBezTo>
                  <a:cubicBezTo>
                    <a:pt x="2114" y="42"/>
                    <a:pt x="2124" y="52"/>
                    <a:pt x="2138" y="52"/>
                  </a:cubicBezTo>
                  <a:close/>
                  <a:moveTo>
                    <a:pt x="2234" y="52"/>
                  </a:moveTo>
                  <a:lnTo>
                    <a:pt x="2234" y="52"/>
                  </a:lnTo>
                  <a:lnTo>
                    <a:pt x="2234" y="52"/>
                  </a:lnTo>
                  <a:cubicBezTo>
                    <a:pt x="2247" y="52"/>
                    <a:pt x="2258" y="41"/>
                    <a:pt x="2258" y="28"/>
                  </a:cubicBezTo>
                  <a:cubicBezTo>
                    <a:pt x="2258" y="14"/>
                    <a:pt x="2247" y="4"/>
                    <a:pt x="2233" y="4"/>
                  </a:cubicBezTo>
                  <a:lnTo>
                    <a:pt x="2233" y="4"/>
                  </a:lnTo>
                  <a:cubicBezTo>
                    <a:pt x="2220" y="4"/>
                    <a:pt x="2209" y="15"/>
                    <a:pt x="2210" y="28"/>
                  </a:cubicBezTo>
                  <a:cubicBezTo>
                    <a:pt x="2210" y="41"/>
                    <a:pt x="2220" y="52"/>
                    <a:pt x="2234" y="52"/>
                  </a:cubicBezTo>
                  <a:close/>
                  <a:moveTo>
                    <a:pt x="2330" y="51"/>
                  </a:moveTo>
                  <a:lnTo>
                    <a:pt x="2330" y="51"/>
                  </a:lnTo>
                  <a:lnTo>
                    <a:pt x="2330" y="51"/>
                  </a:lnTo>
                  <a:cubicBezTo>
                    <a:pt x="2343" y="51"/>
                    <a:pt x="2354" y="40"/>
                    <a:pt x="2354" y="27"/>
                  </a:cubicBezTo>
                  <a:cubicBezTo>
                    <a:pt x="2354" y="14"/>
                    <a:pt x="2343" y="3"/>
                    <a:pt x="2329" y="3"/>
                  </a:cubicBezTo>
                  <a:lnTo>
                    <a:pt x="2329" y="3"/>
                  </a:lnTo>
                  <a:cubicBezTo>
                    <a:pt x="2316" y="3"/>
                    <a:pt x="2306" y="14"/>
                    <a:pt x="2306" y="27"/>
                  </a:cubicBezTo>
                  <a:cubicBezTo>
                    <a:pt x="2306" y="41"/>
                    <a:pt x="2316" y="51"/>
                    <a:pt x="2330" y="51"/>
                  </a:cubicBezTo>
                  <a:close/>
                  <a:moveTo>
                    <a:pt x="2426" y="51"/>
                  </a:moveTo>
                  <a:lnTo>
                    <a:pt x="2426" y="51"/>
                  </a:lnTo>
                  <a:lnTo>
                    <a:pt x="2426" y="51"/>
                  </a:lnTo>
                  <a:cubicBezTo>
                    <a:pt x="2439" y="51"/>
                    <a:pt x="2450" y="40"/>
                    <a:pt x="2450" y="27"/>
                  </a:cubicBezTo>
                  <a:cubicBezTo>
                    <a:pt x="2450" y="13"/>
                    <a:pt x="2439" y="3"/>
                    <a:pt x="2426" y="3"/>
                  </a:cubicBezTo>
                  <a:lnTo>
                    <a:pt x="2425" y="3"/>
                  </a:lnTo>
                  <a:cubicBezTo>
                    <a:pt x="2412" y="3"/>
                    <a:pt x="2402" y="14"/>
                    <a:pt x="2402" y="27"/>
                  </a:cubicBezTo>
                  <a:cubicBezTo>
                    <a:pt x="2402" y="40"/>
                    <a:pt x="2413" y="51"/>
                    <a:pt x="2426" y="51"/>
                  </a:cubicBezTo>
                  <a:close/>
                  <a:moveTo>
                    <a:pt x="2522" y="50"/>
                  </a:moveTo>
                  <a:lnTo>
                    <a:pt x="2522" y="50"/>
                  </a:lnTo>
                  <a:lnTo>
                    <a:pt x="2522" y="50"/>
                  </a:lnTo>
                  <a:cubicBezTo>
                    <a:pt x="2535" y="50"/>
                    <a:pt x="2546" y="39"/>
                    <a:pt x="2546" y="26"/>
                  </a:cubicBezTo>
                  <a:cubicBezTo>
                    <a:pt x="2546" y="13"/>
                    <a:pt x="2535" y="2"/>
                    <a:pt x="2522" y="2"/>
                  </a:cubicBezTo>
                  <a:lnTo>
                    <a:pt x="2522" y="2"/>
                  </a:lnTo>
                  <a:cubicBezTo>
                    <a:pt x="2508" y="2"/>
                    <a:pt x="2498" y="13"/>
                    <a:pt x="2498" y="26"/>
                  </a:cubicBezTo>
                  <a:cubicBezTo>
                    <a:pt x="2498" y="40"/>
                    <a:pt x="2509" y="50"/>
                    <a:pt x="2522" y="50"/>
                  </a:cubicBezTo>
                  <a:close/>
                  <a:moveTo>
                    <a:pt x="2618" y="50"/>
                  </a:moveTo>
                  <a:lnTo>
                    <a:pt x="2618" y="50"/>
                  </a:lnTo>
                  <a:lnTo>
                    <a:pt x="2618" y="50"/>
                  </a:lnTo>
                  <a:cubicBezTo>
                    <a:pt x="2631" y="50"/>
                    <a:pt x="2642" y="39"/>
                    <a:pt x="2642" y="26"/>
                  </a:cubicBezTo>
                  <a:cubicBezTo>
                    <a:pt x="2642" y="12"/>
                    <a:pt x="2631" y="2"/>
                    <a:pt x="2618" y="2"/>
                  </a:cubicBezTo>
                  <a:lnTo>
                    <a:pt x="2618" y="2"/>
                  </a:lnTo>
                  <a:cubicBezTo>
                    <a:pt x="2604" y="2"/>
                    <a:pt x="2594" y="13"/>
                    <a:pt x="2594" y="26"/>
                  </a:cubicBezTo>
                  <a:cubicBezTo>
                    <a:pt x="2594" y="39"/>
                    <a:pt x="2605" y="50"/>
                    <a:pt x="2618" y="50"/>
                  </a:cubicBezTo>
                  <a:close/>
                  <a:moveTo>
                    <a:pt x="2714" y="49"/>
                  </a:moveTo>
                  <a:lnTo>
                    <a:pt x="2714" y="49"/>
                  </a:lnTo>
                  <a:lnTo>
                    <a:pt x="2714" y="49"/>
                  </a:lnTo>
                  <a:cubicBezTo>
                    <a:pt x="2727" y="49"/>
                    <a:pt x="2738" y="38"/>
                    <a:pt x="2738" y="25"/>
                  </a:cubicBezTo>
                  <a:cubicBezTo>
                    <a:pt x="2738" y="12"/>
                    <a:pt x="2727" y="1"/>
                    <a:pt x="2714" y="1"/>
                  </a:cubicBezTo>
                  <a:lnTo>
                    <a:pt x="2714" y="1"/>
                  </a:lnTo>
                  <a:cubicBezTo>
                    <a:pt x="2700" y="1"/>
                    <a:pt x="2690" y="12"/>
                    <a:pt x="2690" y="25"/>
                  </a:cubicBezTo>
                  <a:cubicBezTo>
                    <a:pt x="2690" y="38"/>
                    <a:pt x="2701" y="49"/>
                    <a:pt x="2714" y="49"/>
                  </a:cubicBezTo>
                  <a:close/>
                  <a:moveTo>
                    <a:pt x="2810" y="49"/>
                  </a:moveTo>
                  <a:lnTo>
                    <a:pt x="2810" y="49"/>
                  </a:lnTo>
                  <a:lnTo>
                    <a:pt x="2810" y="49"/>
                  </a:lnTo>
                  <a:cubicBezTo>
                    <a:pt x="2823" y="48"/>
                    <a:pt x="2834" y="38"/>
                    <a:pt x="2834" y="24"/>
                  </a:cubicBezTo>
                  <a:cubicBezTo>
                    <a:pt x="2834" y="11"/>
                    <a:pt x="2823" y="0"/>
                    <a:pt x="2810" y="1"/>
                  </a:cubicBezTo>
                  <a:lnTo>
                    <a:pt x="2810" y="1"/>
                  </a:lnTo>
                  <a:lnTo>
                    <a:pt x="2810" y="1"/>
                  </a:lnTo>
                  <a:cubicBezTo>
                    <a:pt x="2796" y="1"/>
                    <a:pt x="2786" y="11"/>
                    <a:pt x="2786" y="25"/>
                  </a:cubicBezTo>
                  <a:cubicBezTo>
                    <a:pt x="2786" y="38"/>
                    <a:pt x="2797" y="49"/>
                    <a:pt x="2810" y="49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2" name="Rectangle 9">
            <a:extLst>
              <a:ext uri="{FF2B5EF4-FFF2-40B4-BE49-F238E27FC236}">
                <a16:creationId xmlns:a16="http://schemas.microsoft.com/office/drawing/2014/main" id="{969524FF-4420-B43A-280C-C0D3B6E3C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7826" y="1947784"/>
            <a:ext cx="2328861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Sometimes the tail length is up to 1.5 times the IQR. Data points greater than this are shown as ‘outliers’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86456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4" grpId="0" animBg="1"/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7"/>
          <p:cNvSpPr>
            <a:spLocks noChangeArrowheads="1"/>
          </p:cNvSpPr>
          <p:nvPr/>
        </p:nvSpPr>
        <p:spPr bwMode="auto">
          <a:xfrm>
            <a:off x="3328147" y="4347322"/>
            <a:ext cx="1371600" cy="527050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8" name="Line 48"/>
          <p:cNvSpPr>
            <a:spLocks noChangeShapeType="1"/>
          </p:cNvSpPr>
          <p:nvPr/>
        </p:nvSpPr>
        <p:spPr bwMode="auto">
          <a:xfrm>
            <a:off x="3328147" y="4741022"/>
            <a:ext cx="1371600" cy="0"/>
          </a:xfrm>
          <a:prstGeom prst="line">
            <a:avLst/>
          </a:prstGeom>
          <a:noFill/>
          <a:ln w="1905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9" name="Line 49"/>
          <p:cNvSpPr>
            <a:spLocks noChangeShapeType="1"/>
          </p:cNvSpPr>
          <p:nvPr/>
        </p:nvSpPr>
        <p:spPr bwMode="auto">
          <a:xfrm>
            <a:off x="4013947" y="4877547"/>
            <a:ext cx="0" cy="314325"/>
          </a:xfrm>
          <a:prstGeom prst="line">
            <a:avLst/>
          </a:prstGeom>
          <a:noFill/>
          <a:ln w="1905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0" name="Line 50"/>
          <p:cNvSpPr>
            <a:spLocks noChangeShapeType="1"/>
          </p:cNvSpPr>
          <p:nvPr/>
        </p:nvSpPr>
        <p:spPr bwMode="auto">
          <a:xfrm flipV="1">
            <a:off x="4013947" y="3771060"/>
            <a:ext cx="0" cy="576263"/>
          </a:xfrm>
          <a:prstGeom prst="line">
            <a:avLst/>
          </a:prstGeom>
          <a:noFill/>
          <a:ln w="1905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1" name="Line 51"/>
          <p:cNvSpPr>
            <a:spLocks noChangeShapeType="1"/>
          </p:cNvSpPr>
          <p:nvPr/>
        </p:nvSpPr>
        <p:spPr bwMode="auto">
          <a:xfrm>
            <a:off x="3556747" y="5191872"/>
            <a:ext cx="917575" cy="0"/>
          </a:xfrm>
          <a:prstGeom prst="line">
            <a:avLst/>
          </a:prstGeom>
          <a:noFill/>
          <a:ln w="1905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2" name="Line 52"/>
          <p:cNvSpPr>
            <a:spLocks noChangeShapeType="1"/>
          </p:cNvSpPr>
          <p:nvPr/>
        </p:nvSpPr>
        <p:spPr bwMode="auto">
          <a:xfrm>
            <a:off x="3556747" y="3771060"/>
            <a:ext cx="917575" cy="0"/>
          </a:xfrm>
          <a:prstGeom prst="line">
            <a:avLst/>
          </a:prstGeom>
          <a:noFill/>
          <a:ln w="1905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3" name="Oval 53"/>
          <p:cNvSpPr>
            <a:spLocks noChangeArrowheads="1"/>
          </p:cNvSpPr>
          <p:nvPr/>
        </p:nvSpPr>
        <p:spPr bwMode="auto">
          <a:xfrm>
            <a:off x="3990134" y="3353547"/>
            <a:ext cx="72000" cy="72000"/>
          </a:xfrm>
          <a:prstGeom prst="ellipse">
            <a:avLst/>
          </a:pr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4" name="Oval 54"/>
          <p:cNvSpPr>
            <a:spLocks noChangeArrowheads="1"/>
          </p:cNvSpPr>
          <p:nvPr/>
        </p:nvSpPr>
        <p:spPr bwMode="auto">
          <a:xfrm>
            <a:off x="3990134" y="2870947"/>
            <a:ext cx="72000" cy="72000"/>
          </a:xfrm>
          <a:prstGeom prst="ellipse">
            <a:avLst/>
          </a:pr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2" name="Line 62"/>
          <p:cNvSpPr>
            <a:spLocks noChangeShapeType="1"/>
          </p:cNvSpPr>
          <p:nvPr/>
        </p:nvSpPr>
        <p:spPr bwMode="auto">
          <a:xfrm flipV="1">
            <a:off x="2947147" y="2320085"/>
            <a:ext cx="0" cy="3279775"/>
          </a:xfrm>
          <a:prstGeom prst="line">
            <a:avLst/>
          </a:prstGeom>
          <a:noFill/>
          <a:ln w="635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3" name="Line 63"/>
          <p:cNvSpPr>
            <a:spLocks noChangeShapeType="1"/>
          </p:cNvSpPr>
          <p:nvPr/>
        </p:nvSpPr>
        <p:spPr bwMode="auto">
          <a:xfrm flipH="1">
            <a:off x="2904285" y="5490322"/>
            <a:ext cx="42863" cy="0"/>
          </a:xfrm>
          <a:prstGeom prst="line">
            <a:avLst/>
          </a:prstGeom>
          <a:noFill/>
          <a:ln w="635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4" name="Rectangle 64"/>
          <p:cNvSpPr>
            <a:spLocks noChangeArrowheads="1"/>
          </p:cNvSpPr>
          <p:nvPr/>
        </p:nvSpPr>
        <p:spPr bwMode="auto">
          <a:xfrm>
            <a:off x="2723496" y="5385547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5" name="Line 65"/>
          <p:cNvSpPr>
            <a:spLocks noChangeShapeType="1"/>
          </p:cNvSpPr>
          <p:nvPr/>
        </p:nvSpPr>
        <p:spPr bwMode="auto">
          <a:xfrm flipH="1">
            <a:off x="2904285" y="4926760"/>
            <a:ext cx="42863" cy="0"/>
          </a:xfrm>
          <a:prstGeom prst="line">
            <a:avLst/>
          </a:prstGeom>
          <a:noFill/>
          <a:ln w="635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6" name="Rectangle 66"/>
          <p:cNvSpPr>
            <a:spLocks noChangeArrowheads="1"/>
          </p:cNvSpPr>
          <p:nvPr/>
        </p:nvSpPr>
        <p:spPr bwMode="auto">
          <a:xfrm>
            <a:off x="2723496" y="4818810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7" name="Line 67"/>
          <p:cNvSpPr>
            <a:spLocks noChangeShapeType="1"/>
          </p:cNvSpPr>
          <p:nvPr/>
        </p:nvSpPr>
        <p:spPr bwMode="auto">
          <a:xfrm flipH="1">
            <a:off x="2904285" y="4363197"/>
            <a:ext cx="42863" cy="0"/>
          </a:xfrm>
          <a:prstGeom prst="line">
            <a:avLst/>
          </a:prstGeom>
          <a:noFill/>
          <a:ln w="635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8" name="Rectangle 68"/>
          <p:cNvSpPr>
            <a:spLocks noChangeArrowheads="1"/>
          </p:cNvSpPr>
          <p:nvPr/>
        </p:nvSpPr>
        <p:spPr bwMode="auto">
          <a:xfrm>
            <a:off x="2723496" y="4256835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4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9" name="Line 69"/>
          <p:cNvSpPr>
            <a:spLocks noChangeShapeType="1"/>
          </p:cNvSpPr>
          <p:nvPr/>
        </p:nvSpPr>
        <p:spPr bwMode="auto">
          <a:xfrm flipH="1">
            <a:off x="2904285" y="3798047"/>
            <a:ext cx="42863" cy="0"/>
          </a:xfrm>
          <a:prstGeom prst="line">
            <a:avLst/>
          </a:prstGeom>
          <a:noFill/>
          <a:ln w="635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0" name="Rectangle 70"/>
          <p:cNvSpPr>
            <a:spLocks noChangeArrowheads="1"/>
          </p:cNvSpPr>
          <p:nvPr/>
        </p:nvSpPr>
        <p:spPr bwMode="auto">
          <a:xfrm>
            <a:off x="2723496" y="3691685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6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1" name="Line 71"/>
          <p:cNvSpPr>
            <a:spLocks noChangeShapeType="1"/>
          </p:cNvSpPr>
          <p:nvPr/>
        </p:nvSpPr>
        <p:spPr bwMode="auto">
          <a:xfrm flipH="1">
            <a:off x="2904285" y="3234485"/>
            <a:ext cx="42863" cy="0"/>
          </a:xfrm>
          <a:prstGeom prst="line">
            <a:avLst/>
          </a:prstGeom>
          <a:noFill/>
          <a:ln w="635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2" name="Rectangle 72"/>
          <p:cNvSpPr>
            <a:spLocks noChangeArrowheads="1"/>
          </p:cNvSpPr>
          <p:nvPr/>
        </p:nvSpPr>
        <p:spPr bwMode="auto">
          <a:xfrm>
            <a:off x="2723496" y="3126535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8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3" name="Line 73"/>
          <p:cNvSpPr>
            <a:spLocks noChangeShapeType="1"/>
          </p:cNvSpPr>
          <p:nvPr/>
        </p:nvSpPr>
        <p:spPr bwMode="auto">
          <a:xfrm flipH="1">
            <a:off x="2904285" y="2669335"/>
            <a:ext cx="42863" cy="0"/>
          </a:xfrm>
          <a:prstGeom prst="line">
            <a:avLst/>
          </a:prstGeom>
          <a:noFill/>
          <a:ln w="635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4" name="Rectangle 74"/>
          <p:cNvSpPr>
            <a:spLocks noChangeArrowheads="1"/>
          </p:cNvSpPr>
          <p:nvPr/>
        </p:nvSpPr>
        <p:spPr bwMode="auto">
          <a:xfrm>
            <a:off x="2691746" y="2561385"/>
            <a:ext cx="16991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5" name="Line 75"/>
          <p:cNvSpPr>
            <a:spLocks noChangeShapeType="1"/>
          </p:cNvSpPr>
          <p:nvPr/>
        </p:nvSpPr>
        <p:spPr bwMode="auto">
          <a:xfrm>
            <a:off x="2947147" y="5599860"/>
            <a:ext cx="2136775" cy="0"/>
          </a:xfrm>
          <a:prstGeom prst="line">
            <a:avLst/>
          </a:prstGeom>
          <a:noFill/>
          <a:ln w="6350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7" name="Rectangle 77"/>
          <p:cNvSpPr>
            <a:spLocks noChangeArrowheads="1"/>
          </p:cNvSpPr>
          <p:nvPr/>
        </p:nvSpPr>
        <p:spPr bwMode="auto">
          <a:xfrm>
            <a:off x="1575717" y="3692498"/>
            <a:ext cx="775853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Neutrophil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lymphocyte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ratio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8" name="Rectangle 77"/>
          <p:cNvSpPr>
            <a:spLocks noChangeArrowheads="1"/>
          </p:cNvSpPr>
          <p:nvPr/>
        </p:nvSpPr>
        <p:spPr bwMode="auto">
          <a:xfrm>
            <a:off x="3710829" y="2103509"/>
            <a:ext cx="52623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Women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82" name="Group 81"/>
          <p:cNvGrpSpPr/>
          <p:nvPr/>
        </p:nvGrpSpPr>
        <p:grpSpPr>
          <a:xfrm>
            <a:off x="5172822" y="2099422"/>
            <a:ext cx="2138363" cy="3500438"/>
            <a:chOff x="5172822" y="2099422"/>
            <a:chExt cx="2138363" cy="3500438"/>
          </a:xfrm>
        </p:grpSpPr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5172822" y="2320085"/>
              <a:ext cx="2138363" cy="3279775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" name="Rectangle 55"/>
            <p:cNvSpPr>
              <a:spLocks noChangeArrowheads="1"/>
            </p:cNvSpPr>
            <p:nvPr/>
          </p:nvSpPr>
          <p:spPr bwMode="auto">
            <a:xfrm>
              <a:off x="5553822" y="3969497"/>
              <a:ext cx="1373188" cy="877888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6" name="Line 56"/>
            <p:cNvSpPr>
              <a:spLocks noChangeShapeType="1"/>
            </p:cNvSpPr>
            <p:nvPr/>
          </p:nvSpPr>
          <p:spPr bwMode="auto">
            <a:xfrm>
              <a:off x="5553822" y="4520360"/>
              <a:ext cx="1373188" cy="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7" name="Line 57"/>
            <p:cNvSpPr>
              <a:spLocks noChangeShapeType="1"/>
            </p:cNvSpPr>
            <p:nvPr/>
          </p:nvSpPr>
          <p:spPr bwMode="auto">
            <a:xfrm>
              <a:off x="6239622" y="4850560"/>
              <a:ext cx="0" cy="325438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" name="Line 58"/>
            <p:cNvSpPr>
              <a:spLocks noChangeShapeType="1"/>
            </p:cNvSpPr>
            <p:nvPr/>
          </p:nvSpPr>
          <p:spPr bwMode="auto">
            <a:xfrm flipV="1">
              <a:off x="6239622" y="2867772"/>
              <a:ext cx="0" cy="110172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" name="Line 59"/>
            <p:cNvSpPr>
              <a:spLocks noChangeShapeType="1"/>
            </p:cNvSpPr>
            <p:nvPr/>
          </p:nvSpPr>
          <p:spPr bwMode="auto">
            <a:xfrm>
              <a:off x="5779247" y="5175997"/>
              <a:ext cx="920750" cy="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" name="Line 60"/>
            <p:cNvSpPr>
              <a:spLocks noChangeShapeType="1"/>
            </p:cNvSpPr>
            <p:nvPr/>
          </p:nvSpPr>
          <p:spPr bwMode="auto">
            <a:xfrm>
              <a:off x="5779247" y="2867772"/>
              <a:ext cx="920750" cy="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1" name="Oval 61"/>
            <p:cNvSpPr>
              <a:spLocks noChangeArrowheads="1"/>
            </p:cNvSpPr>
            <p:nvPr/>
          </p:nvSpPr>
          <p:spPr bwMode="auto">
            <a:xfrm>
              <a:off x="6215809" y="2404222"/>
              <a:ext cx="72000" cy="7200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6" name="Line 76"/>
            <p:cNvSpPr>
              <a:spLocks noChangeShapeType="1"/>
            </p:cNvSpPr>
            <p:nvPr/>
          </p:nvSpPr>
          <p:spPr bwMode="auto">
            <a:xfrm>
              <a:off x="5172822" y="5599860"/>
              <a:ext cx="2138363" cy="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9" name="Rectangle 78"/>
            <p:cNvSpPr>
              <a:spLocks noChangeArrowheads="1"/>
            </p:cNvSpPr>
            <p:nvPr/>
          </p:nvSpPr>
          <p:spPr bwMode="auto">
            <a:xfrm>
              <a:off x="6066729" y="2099422"/>
              <a:ext cx="298159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Men</a:t>
              </a:r>
              <a:endPara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80" name="Rectangle 79"/>
          <p:cNvSpPr/>
          <p:nvPr/>
        </p:nvSpPr>
        <p:spPr>
          <a:xfrm>
            <a:off x="573799" y="998940"/>
            <a:ext cx="15620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340">
              <a:spcAft>
                <a:spcPts val="1400"/>
              </a:spcAft>
            </a:pPr>
            <a:r>
              <a:rPr lang="en-US" sz="2800" dirty="0">
                <a:solidFill>
                  <a:srgbClr val="40404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Box plot</a:t>
            </a:r>
            <a:endParaRPr lang="en-GB" sz="2800" dirty="0">
              <a:solidFill>
                <a:srgbClr val="404040"/>
              </a:solidFill>
              <a:effectLst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401341" y="6290911"/>
            <a:ext cx="37045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102 patients with NSCLC prior to treatment with SABR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1619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Oval 189"/>
          <p:cNvSpPr>
            <a:spLocks noChangeArrowheads="1"/>
          </p:cNvSpPr>
          <p:nvPr/>
        </p:nvSpPr>
        <p:spPr bwMode="auto">
          <a:xfrm>
            <a:off x="5754133" y="2833250"/>
            <a:ext cx="49823" cy="46892"/>
          </a:xfrm>
          <a:prstGeom prst="ellipse">
            <a:avLst/>
          </a:prstGeom>
          <a:noFill/>
          <a:ln w="635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/>
          <a:p>
            <a:endParaRPr lang="en-GB" sz="1662"/>
          </a:p>
        </p:txBody>
      </p:sp>
      <p:sp>
        <p:nvSpPr>
          <p:cNvPr id="225" name="Oval 223"/>
          <p:cNvSpPr>
            <a:spLocks noChangeArrowheads="1"/>
          </p:cNvSpPr>
          <p:nvPr/>
        </p:nvSpPr>
        <p:spPr bwMode="auto">
          <a:xfrm>
            <a:off x="3198502" y="4594642"/>
            <a:ext cx="48358" cy="49823"/>
          </a:xfrm>
          <a:prstGeom prst="ellipse">
            <a:avLst/>
          </a:prstGeom>
          <a:noFill/>
          <a:ln w="635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4406" tIns="42203" rIns="84406" bIns="42203" numCol="1" anchor="t" anchorCtr="0" compatLnSpc="1">
            <a:prstTxWarp prst="textNoShape">
              <a:avLst/>
            </a:prstTxWarp>
          </a:bodyPr>
          <a:lstStyle/>
          <a:p>
            <a:endParaRPr lang="en-GB" sz="1662"/>
          </a:p>
        </p:txBody>
      </p:sp>
      <p:grpSp>
        <p:nvGrpSpPr>
          <p:cNvPr id="2" name="Group 1"/>
          <p:cNvGrpSpPr/>
          <p:nvPr/>
        </p:nvGrpSpPr>
        <p:grpSpPr>
          <a:xfrm>
            <a:off x="3717248" y="3184942"/>
            <a:ext cx="2914651" cy="1269023"/>
            <a:chOff x="3717248" y="3184942"/>
            <a:chExt cx="2914651" cy="1269023"/>
          </a:xfrm>
        </p:grpSpPr>
        <p:sp>
          <p:nvSpPr>
            <p:cNvPr id="144" name="Oval 142"/>
            <p:cNvSpPr>
              <a:spLocks noChangeArrowheads="1"/>
            </p:cNvSpPr>
            <p:nvPr/>
          </p:nvSpPr>
          <p:spPr bwMode="auto">
            <a:xfrm>
              <a:off x="4510021" y="3822384"/>
              <a:ext cx="51289" cy="48358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45" name="Oval 143"/>
            <p:cNvSpPr>
              <a:spLocks noChangeArrowheads="1"/>
            </p:cNvSpPr>
            <p:nvPr/>
          </p:nvSpPr>
          <p:spPr bwMode="auto">
            <a:xfrm>
              <a:off x="4457267" y="3955735"/>
              <a:ext cx="46892" cy="4982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46" name="Oval 144"/>
            <p:cNvSpPr>
              <a:spLocks noChangeArrowheads="1"/>
            </p:cNvSpPr>
            <p:nvPr/>
          </p:nvSpPr>
          <p:spPr bwMode="auto">
            <a:xfrm>
              <a:off x="5090313" y="4172612"/>
              <a:ext cx="49823" cy="4982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47" name="Oval 145"/>
            <p:cNvSpPr>
              <a:spLocks noChangeArrowheads="1"/>
            </p:cNvSpPr>
            <p:nvPr/>
          </p:nvSpPr>
          <p:spPr bwMode="auto">
            <a:xfrm>
              <a:off x="4495367" y="3955735"/>
              <a:ext cx="48358" cy="4982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48" name="Oval 146"/>
            <p:cNvSpPr>
              <a:spLocks noChangeArrowheads="1"/>
            </p:cNvSpPr>
            <p:nvPr/>
          </p:nvSpPr>
          <p:spPr bwMode="auto">
            <a:xfrm>
              <a:off x="4828010" y="4267861"/>
              <a:ext cx="51289" cy="46892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49" name="Oval 147"/>
            <p:cNvSpPr>
              <a:spLocks noChangeArrowheads="1"/>
            </p:cNvSpPr>
            <p:nvPr/>
          </p:nvSpPr>
          <p:spPr bwMode="auto">
            <a:xfrm>
              <a:off x="5469848" y="4014350"/>
              <a:ext cx="49823" cy="48358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50" name="Oval 148"/>
            <p:cNvSpPr>
              <a:spLocks noChangeArrowheads="1"/>
            </p:cNvSpPr>
            <p:nvPr/>
          </p:nvSpPr>
          <p:spPr bwMode="auto">
            <a:xfrm>
              <a:off x="4133418" y="4149165"/>
              <a:ext cx="46892" cy="51289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51" name="Oval 149"/>
            <p:cNvSpPr>
              <a:spLocks noChangeArrowheads="1"/>
            </p:cNvSpPr>
            <p:nvPr/>
          </p:nvSpPr>
          <p:spPr bwMode="auto">
            <a:xfrm>
              <a:off x="5359944" y="3870742"/>
              <a:ext cx="48358" cy="48358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52" name="Oval 150"/>
            <p:cNvSpPr>
              <a:spLocks noChangeArrowheads="1"/>
            </p:cNvSpPr>
            <p:nvPr/>
          </p:nvSpPr>
          <p:spPr bwMode="auto">
            <a:xfrm>
              <a:off x="5607594" y="4029004"/>
              <a:ext cx="48358" cy="46892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53" name="Oval 151"/>
            <p:cNvSpPr>
              <a:spLocks noChangeArrowheads="1"/>
            </p:cNvSpPr>
            <p:nvPr/>
          </p:nvSpPr>
          <p:spPr bwMode="auto">
            <a:xfrm>
              <a:off x="5421490" y="3570338"/>
              <a:ext cx="51289" cy="4982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54" name="Oval 152"/>
            <p:cNvSpPr>
              <a:spLocks noChangeArrowheads="1"/>
            </p:cNvSpPr>
            <p:nvPr/>
          </p:nvSpPr>
          <p:spPr bwMode="auto">
            <a:xfrm>
              <a:off x="5938771" y="3436988"/>
              <a:ext cx="48358" cy="48358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55" name="Oval 153"/>
            <p:cNvSpPr>
              <a:spLocks noChangeArrowheads="1"/>
            </p:cNvSpPr>
            <p:nvPr/>
          </p:nvSpPr>
          <p:spPr bwMode="auto">
            <a:xfrm>
              <a:off x="5198752" y="3690499"/>
              <a:ext cx="51289" cy="51289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56" name="Oval 154"/>
            <p:cNvSpPr>
              <a:spLocks noChangeArrowheads="1"/>
            </p:cNvSpPr>
            <p:nvPr/>
          </p:nvSpPr>
          <p:spPr bwMode="auto">
            <a:xfrm>
              <a:off x="6325633" y="3643607"/>
              <a:ext cx="49823" cy="46892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57" name="Oval 155"/>
            <p:cNvSpPr>
              <a:spLocks noChangeArrowheads="1"/>
            </p:cNvSpPr>
            <p:nvPr/>
          </p:nvSpPr>
          <p:spPr bwMode="auto">
            <a:xfrm>
              <a:off x="4987736" y="3919100"/>
              <a:ext cx="48358" cy="4982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58" name="Oval 156"/>
            <p:cNvSpPr>
              <a:spLocks noChangeArrowheads="1"/>
            </p:cNvSpPr>
            <p:nvPr/>
          </p:nvSpPr>
          <p:spPr bwMode="auto">
            <a:xfrm>
              <a:off x="5058075" y="3485346"/>
              <a:ext cx="48358" cy="51289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59" name="Oval 157"/>
            <p:cNvSpPr>
              <a:spLocks noChangeArrowheads="1"/>
            </p:cNvSpPr>
            <p:nvPr/>
          </p:nvSpPr>
          <p:spPr bwMode="auto">
            <a:xfrm>
              <a:off x="5947564" y="3845830"/>
              <a:ext cx="48358" cy="46892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60" name="Oval 158"/>
            <p:cNvSpPr>
              <a:spLocks noChangeArrowheads="1"/>
            </p:cNvSpPr>
            <p:nvPr/>
          </p:nvSpPr>
          <p:spPr bwMode="auto">
            <a:xfrm>
              <a:off x="4008859" y="4039261"/>
              <a:ext cx="51289" cy="48358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61" name="Oval 159"/>
            <p:cNvSpPr>
              <a:spLocks noChangeArrowheads="1"/>
            </p:cNvSpPr>
            <p:nvPr/>
          </p:nvSpPr>
          <p:spPr bwMode="auto">
            <a:xfrm>
              <a:off x="5491829" y="3738858"/>
              <a:ext cx="51289" cy="4982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62" name="Oval 160"/>
            <p:cNvSpPr>
              <a:spLocks noChangeArrowheads="1"/>
            </p:cNvSpPr>
            <p:nvPr/>
          </p:nvSpPr>
          <p:spPr bwMode="auto">
            <a:xfrm>
              <a:off x="4788444" y="3895653"/>
              <a:ext cx="48358" cy="51289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63" name="Oval 161"/>
            <p:cNvSpPr>
              <a:spLocks noChangeArrowheads="1"/>
            </p:cNvSpPr>
            <p:nvPr/>
          </p:nvSpPr>
          <p:spPr bwMode="auto">
            <a:xfrm>
              <a:off x="4532002" y="3738858"/>
              <a:ext cx="51289" cy="4982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64" name="Oval 162"/>
            <p:cNvSpPr>
              <a:spLocks noChangeArrowheads="1"/>
            </p:cNvSpPr>
            <p:nvPr/>
          </p:nvSpPr>
          <p:spPr bwMode="auto">
            <a:xfrm>
              <a:off x="5198752" y="3507327"/>
              <a:ext cx="51289" cy="51289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65" name="Oval 163"/>
            <p:cNvSpPr>
              <a:spLocks noChangeArrowheads="1"/>
            </p:cNvSpPr>
            <p:nvPr/>
          </p:nvSpPr>
          <p:spPr bwMode="auto">
            <a:xfrm>
              <a:off x="4625787" y="4135976"/>
              <a:ext cx="49823" cy="4982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66" name="Oval 164"/>
            <p:cNvSpPr>
              <a:spLocks noChangeArrowheads="1"/>
            </p:cNvSpPr>
            <p:nvPr/>
          </p:nvSpPr>
          <p:spPr bwMode="auto">
            <a:xfrm>
              <a:off x="4580359" y="3592319"/>
              <a:ext cx="51289" cy="48358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67" name="Oval 165"/>
            <p:cNvSpPr>
              <a:spLocks noChangeArrowheads="1"/>
            </p:cNvSpPr>
            <p:nvPr/>
          </p:nvSpPr>
          <p:spPr bwMode="auto">
            <a:xfrm>
              <a:off x="4836802" y="4182869"/>
              <a:ext cx="49823" cy="51289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68" name="Oval 166"/>
            <p:cNvSpPr>
              <a:spLocks noChangeArrowheads="1"/>
            </p:cNvSpPr>
            <p:nvPr/>
          </p:nvSpPr>
          <p:spPr bwMode="auto">
            <a:xfrm>
              <a:off x="4293144" y="4002627"/>
              <a:ext cx="51289" cy="48358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69" name="Oval 167"/>
            <p:cNvSpPr>
              <a:spLocks noChangeArrowheads="1"/>
            </p:cNvSpPr>
            <p:nvPr/>
          </p:nvSpPr>
          <p:spPr bwMode="auto">
            <a:xfrm>
              <a:off x="5081521" y="3895653"/>
              <a:ext cx="49823" cy="51289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70" name="Oval 168"/>
            <p:cNvSpPr>
              <a:spLocks noChangeArrowheads="1"/>
            </p:cNvSpPr>
            <p:nvPr/>
          </p:nvSpPr>
          <p:spPr bwMode="auto">
            <a:xfrm>
              <a:off x="4231598" y="4002627"/>
              <a:ext cx="51289" cy="48358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71" name="Oval 169"/>
            <p:cNvSpPr>
              <a:spLocks noChangeArrowheads="1"/>
            </p:cNvSpPr>
            <p:nvPr/>
          </p:nvSpPr>
          <p:spPr bwMode="auto">
            <a:xfrm>
              <a:off x="4650698" y="3845830"/>
              <a:ext cx="48358" cy="46892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72" name="Oval 170"/>
            <p:cNvSpPr>
              <a:spLocks noChangeArrowheads="1"/>
            </p:cNvSpPr>
            <p:nvPr/>
          </p:nvSpPr>
          <p:spPr bwMode="auto">
            <a:xfrm>
              <a:off x="5075659" y="3882465"/>
              <a:ext cx="48358" cy="46892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73" name="Oval 171"/>
            <p:cNvSpPr>
              <a:spLocks noChangeArrowheads="1"/>
            </p:cNvSpPr>
            <p:nvPr/>
          </p:nvSpPr>
          <p:spPr bwMode="auto">
            <a:xfrm>
              <a:off x="4381067" y="3812127"/>
              <a:ext cx="46892" cy="46892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74" name="Oval 172"/>
            <p:cNvSpPr>
              <a:spLocks noChangeArrowheads="1"/>
            </p:cNvSpPr>
            <p:nvPr/>
          </p:nvSpPr>
          <p:spPr bwMode="auto">
            <a:xfrm>
              <a:off x="4532002" y="4029004"/>
              <a:ext cx="51289" cy="46892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75" name="Oval 173"/>
            <p:cNvSpPr>
              <a:spLocks noChangeArrowheads="1"/>
            </p:cNvSpPr>
            <p:nvPr/>
          </p:nvSpPr>
          <p:spPr bwMode="auto">
            <a:xfrm>
              <a:off x="4943775" y="3929358"/>
              <a:ext cx="46892" cy="51289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76" name="Oval 174"/>
            <p:cNvSpPr>
              <a:spLocks noChangeArrowheads="1"/>
            </p:cNvSpPr>
            <p:nvPr/>
          </p:nvSpPr>
          <p:spPr bwMode="auto">
            <a:xfrm>
              <a:off x="4882229" y="3870742"/>
              <a:ext cx="49823" cy="48358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77" name="Oval 175"/>
            <p:cNvSpPr>
              <a:spLocks noChangeArrowheads="1"/>
            </p:cNvSpPr>
            <p:nvPr/>
          </p:nvSpPr>
          <p:spPr bwMode="auto">
            <a:xfrm>
              <a:off x="5204613" y="3895653"/>
              <a:ext cx="51289" cy="51289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78" name="Oval 176"/>
            <p:cNvSpPr>
              <a:spLocks noChangeArrowheads="1"/>
            </p:cNvSpPr>
            <p:nvPr/>
          </p:nvSpPr>
          <p:spPr bwMode="auto">
            <a:xfrm>
              <a:off x="4001533" y="4292773"/>
              <a:ext cx="49823" cy="48358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79" name="Oval 177"/>
            <p:cNvSpPr>
              <a:spLocks noChangeArrowheads="1"/>
            </p:cNvSpPr>
            <p:nvPr/>
          </p:nvSpPr>
          <p:spPr bwMode="auto">
            <a:xfrm>
              <a:off x="6501479" y="3992369"/>
              <a:ext cx="48358" cy="4982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80" name="Oval 178"/>
            <p:cNvSpPr>
              <a:spLocks noChangeArrowheads="1"/>
            </p:cNvSpPr>
            <p:nvPr/>
          </p:nvSpPr>
          <p:spPr bwMode="auto">
            <a:xfrm>
              <a:off x="4797236" y="4135976"/>
              <a:ext cx="49823" cy="4982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81" name="Oval 179"/>
            <p:cNvSpPr>
              <a:spLocks noChangeArrowheads="1"/>
            </p:cNvSpPr>
            <p:nvPr/>
          </p:nvSpPr>
          <p:spPr bwMode="auto">
            <a:xfrm>
              <a:off x="5298398" y="3316827"/>
              <a:ext cx="46892" cy="4982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82" name="Oval 180"/>
            <p:cNvSpPr>
              <a:spLocks noChangeArrowheads="1"/>
            </p:cNvSpPr>
            <p:nvPr/>
          </p:nvSpPr>
          <p:spPr bwMode="auto">
            <a:xfrm>
              <a:off x="4115833" y="3775492"/>
              <a:ext cx="48358" cy="4982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83" name="Oval 181"/>
            <p:cNvSpPr>
              <a:spLocks noChangeArrowheads="1"/>
            </p:cNvSpPr>
            <p:nvPr/>
          </p:nvSpPr>
          <p:spPr bwMode="auto">
            <a:xfrm>
              <a:off x="4518813" y="3992369"/>
              <a:ext cx="49823" cy="4982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84" name="Oval 182"/>
            <p:cNvSpPr>
              <a:spLocks noChangeArrowheads="1"/>
            </p:cNvSpPr>
            <p:nvPr/>
          </p:nvSpPr>
          <p:spPr bwMode="auto">
            <a:xfrm>
              <a:off x="5770252" y="3702223"/>
              <a:ext cx="51289" cy="4982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85" name="Oval 183"/>
            <p:cNvSpPr>
              <a:spLocks noChangeArrowheads="1"/>
            </p:cNvSpPr>
            <p:nvPr/>
          </p:nvSpPr>
          <p:spPr bwMode="auto">
            <a:xfrm>
              <a:off x="3978087" y="4366042"/>
              <a:ext cx="51289" cy="51289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86" name="Oval 184"/>
            <p:cNvSpPr>
              <a:spLocks noChangeArrowheads="1"/>
            </p:cNvSpPr>
            <p:nvPr/>
          </p:nvSpPr>
          <p:spPr bwMode="auto">
            <a:xfrm>
              <a:off x="4913002" y="3375442"/>
              <a:ext cx="49823" cy="48358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87" name="Oval 185"/>
            <p:cNvSpPr>
              <a:spLocks noChangeArrowheads="1"/>
            </p:cNvSpPr>
            <p:nvPr/>
          </p:nvSpPr>
          <p:spPr bwMode="auto">
            <a:xfrm>
              <a:off x="6580610" y="3845830"/>
              <a:ext cx="51289" cy="46892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88" name="Oval 186"/>
            <p:cNvSpPr>
              <a:spLocks noChangeArrowheads="1"/>
            </p:cNvSpPr>
            <p:nvPr/>
          </p:nvSpPr>
          <p:spPr bwMode="auto">
            <a:xfrm>
              <a:off x="4372275" y="3677311"/>
              <a:ext cx="48358" cy="46892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89" name="Oval 187"/>
            <p:cNvSpPr>
              <a:spLocks noChangeArrowheads="1"/>
            </p:cNvSpPr>
            <p:nvPr/>
          </p:nvSpPr>
          <p:spPr bwMode="auto">
            <a:xfrm>
              <a:off x="6332959" y="3570338"/>
              <a:ext cx="51289" cy="4982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90" name="Oval 188"/>
            <p:cNvSpPr>
              <a:spLocks noChangeArrowheads="1"/>
            </p:cNvSpPr>
            <p:nvPr/>
          </p:nvSpPr>
          <p:spPr bwMode="auto">
            <a:xfrm>
              <a:off x="4934982" y="3845830"/>
              <a:ext cx="48358" cy="46892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92" name="Oval 190"/>
            <p:cNvSpPr>
              <a:spLocks noChangeArrowheads="1"/>
            </p:cNvSpPr>
            <p:nvPr/>
          </p:nvSpPr>
          <p:spPr bwMode="auto">
            <a:xfrm>
              <a:off x="5182633" y="3665588"/>
              <a:ext cx="51289" cy="48358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93" name="Oval 191"/>
            <p:cNvSpPr>
              <a:spLocks noChangeArrowheads="1"/>
            </p:cNvSpPr>
            <p:nvPr/>
          </p:nvSpPr>
          <p:spPr bwMode="auto">
            <a:xfrm>
              <a:off x="5947564" y="3929358"/>
              <a:ext cx="48358" cy="51289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94" name="Oval 192"/>
            <p:cNvSpPr>
              <a:spLocks noChangeArrowheads="1"/>
            </p:cNvSpPr>
            <p:nvPr/>
          </p:nvSpPr>
          <p:spPr bwMode="auto">
            <a:xfrm>
              <a:off x="4952567" y="4244415"/>
              <a:ext cx="46892" cy="48358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95" name="Oval 193"/>
            <p:cNvSpPr>
              <a:spLocks noChangeArrowheads="1"/>
            </p:cNvSpPr>
            <p:nvPr/>
          </p:nvSpPr>
          <p:spPr bwMode="auto">
            <a:xfrm>
              <a:off x="4225736" y="4197523"/>
              <a:ext cx="51289" cy="4982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96" name="Oval 194"/>
            <p:cNvSpPr>
              <a:spLocks noChangeArrowheads="1"/>
            </p:cNvSpPr>
            <p:nvPr/>
          </p:nvSpPr>
          <p:spPr bwMode="auto">
            <a:xfrm>
              <a:off x="3717248" y="4267861"/>
              <a:ext cx="49823" cy="46892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97" name="Oval 195"/>
            <p:cNvSpPr>
              <a:spLocks noChangeArrowheads="1"/>
            </p:cNvSpPr>
            <p:nvPr/>
          </p:nvSpPr>
          <p:spPr bwMode="auto">
            <a:xfrm>
              <a:off x="5623713" y="4182869"/>
              <a:ext cx="48358" cy="51289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98" name="Oval 196"/>
            <p:cNvSpPr>
              <a:spLocks noChangeArrowheads="1"/>
            </p:cNvSpPr>
            <p:nvPr/>
          </p:nvSpPr>
          <p:spPr bwMode="auto">
            <a:xfrm>
              <a:off x="4810425" y="3845830"/>
              <a:ext cx="51289" cy="46892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199" name="Oval 197"/>
            <p:cNvSpPr>
              <a:spLocks noChangeArrowheads="1"/>
            </p:cNvSpPr>
            <p:nvPr/>
          </p:nvSpPr>
          <p:spPr bwMode="auto">
            <a:xfrm>
              <a:off x="5638367" y="3617230"/>
              <a:ext cx="48358" cy="48358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00" name="Oval 198"/>
            <p:cNvSpPr>
              <a:spLocks noChangeArrowheads="1"/>
            </p:cNvSpPr>
            <p:nvPr/>
          </p:nvSpPr>
          <p:spPr bwMode="auto">
            <a:xfrm>
              <a:off x="4354690" y="4292773"/>
              <a:ext cx="48358" cy="48358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01" name="Oval 199"/>
            <p:cNvSpPr>
              <a:spLocks noChangeArrowheads="1"/>
            </p:cNvSpPr>
            <p:nvPr/>
          </p:nvSpPr>
          <p:spPr bwMode="auto">
            <a:xfrm>
              <a:off x="4974548" y="4182869"/>
              <a:ext cx="48358" cy="51289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02" name="Oval 200"/>
            <p:cNvSpPr>
              <a:spLocks noChangeArrowheads="1"/>
            </p:cNvSpPr>
            <p:nvPr/>
          </p:nvSpPr>
          <p:spPr bwMode="auto">
            <a:xfrm>
              <a:off x="6293394" y="4112530"/>
              <a:ext cx="51289" cy="51289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03" name="Oval 201"/>
            <p:cNvSpPr>
              <a:spLocks noChangeArrowheads="1"/>
            </p:cNvSpPr>
            <p:nvPr/>
          </p:nvSpPr>
          <p:spPr bwMode="auto">
            <a:xfrm>
              <a:off x="4318056" y="4160888"/>
              <a:ext cx="51289" cy="4982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04" name="Oval 202"/>
            <p:cNvSpPr>
              <a:spLocks noChangeArrowheads="1"/>
            </p:cNvSpPr>
            <p:nvPr/>
          </p:nvSpPr>
          <p:spPr bwMode="auto">
            <a:xfrm>
              <a:off x="5439075" y="3702223"/>
              <a:ext cx="49823" cy="4982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05" name="Oval 203"/>
            <p:cNvSpPr>
              <a:spLocks noChangeArrowheads="1"/>
            </p:cNvSpPr>
            <p:nvPr/>
          </p:nvSpPr>
          <p:spPr bwMode="auto">
            <a:xfrm>
              <a:off x="4558379" y="3944012"/>
              <a:ext cx="49823" cy="51289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06" name="Oval 204"/>
            <p:cNvSpPr>
              <a:spLocks noChangeArrowheads="1"/>
            </p:cNvSpPr>
            <p:nvPr/>
          </p:nvSpPr>
          <p:spPr bwMode="auto">
            <a:xfrm>
              <a:off x="4564241" y="3713946"/>
              <a:ext cx="49823" cy="4982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07" name="Oval 205"/>
            <p:cNvSpPr>
              <a:spLocks noChangeArrowheads="1"/>
            </p:cNvSpPr>
            <p:nvPr/>
          </p:nvSpPr>
          <p:spPr bwMode="auto">
            <a:xfrm>
              <a:off x="4595013" y="3785750"/>
              <a:ext cx="49823" cy="48358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08" name="Oval 206"/>
            <p:cNvSpPr>
              <a:spLocks noChangeArrowheads="1"/>
            </p:cNvSpPr>
            <p:nvPr/>
          </p:nvSpPr>
          <p:spPr bwMode="auto">
            <a:xfrm>
              <a:off x="4394256" y="3724204"/>
              <a:ext cx="48358" cy="51289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09" name="Oval 207"/>
            <p:cNvSpPr>
              <a:spLocks noChangeArrowheads="1"/>
            </p:cNvSpPr>
            <p:nvPr/>
          </p:nvSpPr>
          <p:spPr bwMode="auto">
            <a:xfrm>
              <a:off x="4828010" y="3895653"/>
              <a:ext cx="51289" cy="51289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10" name="Oval 208"/>
            <p:cNvSpPr>
              <a:spLocks noChangeArrowheads="1"/>
            </p:cNvSpPr>
            <p:nvPr/>
          </p:nvSpPr>
          <p:spPr bwMode="auto">
            <a:xfrm>
              <a:off x="4247718" y="4160888"/>
              <a:ext cx="51289" cy="4982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11" name="Oval 209"/>
            <p:cNvSpPr>
              <a:spLocks noChangeArrowheads="1"/>
            </p:cNvSpPr>
            <p:nvPr/>
          </p:nvSpPr>
          <p:spPr bwMode="auto">
            <a:xfrm>
              <a:off x="4836802" y="3724204"/>
              <a:ext cx="49823" cy="51289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12" name="Oval 210"/>
            <p:cNvSpPr>
              <a:spLocks noChangeArrowheads="1"/>
            </p:cNvSpPr>
            <p:nvPr/>
          </p:nvSpPr>
          <p:spPr bwMode="auto">
            <a:xfrm>
              <a:off x="6356406" y="3606973"/>
              <a:ext cx="49823" cy="46892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13" name="Oval 211"/>
            <p:cNvSpPr>
              <a:spLocks noChangeArrowheads="1"/>
            </p:cNvSpPr>
            <p:nvPr/>
          </p:nvSpPr>
          <p:spPr bwMode="auto">
            <a:xfrm>
              <a:off x="4240390" y="4402676"/>
              <a:ext cx="49823" cy="51289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14" name="Oval 212"/>
            <p:cNvSpPr>
              <a:spLocks noChangeArrowheads="1"/>
            </p:cNvSpPr>
            <p:nvPr/>
          </p:nvSpPr>
          <p:spPr bwMode="auto">
            <a:xfrm>
              <a:off x="5925582" y="3665588"/>
              <a:ext cx="48358" cy="48358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15" name="Oval 213"/>
            <p:cNvSpPr>
              <a:spLocks noChangeArrowheads="1"/>
            </p:cNvSpPr>
            <p:nvPr/>
          </p:nvSpPr>
          <p:spPr bwMode="auto">
            <a:xfrm>
              <a:off x="4527606" y="3992369"/>
              <a:ext cx="49823" cy="4982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16" name="Oval 214"/>
            <p:cNvSpPr>
              <a:spLocks noChangeArrowheads="1"/>
            </p:cNvSpPr>
            <p:nvPr/>
          </p:nvSpPr>
          <p:spPr bwMode="auto">
            <a:xfrm>
              <a:off x="5106433" y="4234158"/>
              <a:ext cx="51289" cy="46892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17" name="Oval 215"/>
            <p:cNvSpPr>
              <a:spLocks noChangeArrowheads="1"/>
            </p:cNvSpPr>
            <p:nvPr/>
          </p:nvSpPr>
          <p:spPr bwMode="auto">
            <a:xfrm>
              <a:off x="4054287" y="3653865"/>
              <a:ext cx="51289" cy="48358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18" name="Oval 216"/>
            <p:cNvSpPr>
              <a:spLocks noChangeArrowheads="1"/>
            </p:cNvSpPr>
            <p:nvPr/>
          </p:nvSpPr>
          <p:spPr bwMode="auto">
            <a:xfrm>
              <a:off x="5475710" y="3643607"/>
              <a:ext cx="49823" cy="46892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19" name="Oval 217"/>
            <p:cNvSpPr>
              <a:spLocks noChangeArrowheads="1"/>
            </p:cNvSpPr>
            <p:nvPr/>
          </p:nvSpPr>
          <p:spPr bwMode="auto">
            <a:xfrm>
              <a:off x="4687333" y="3507327"/>
              <a:ext cx="48358" cy="51289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20" name="Oval 218"/>
            <p:cNvSpPr>
              <a:spLocks noChangeArrowheads="1"/>
            </p:cNvSpPr>
            <p:nvPr/>
          </p:nvSpPr>
          <p:spPr bwMode="auto">
            <a:xfrm>
              <a:off x="4527606" y="4160888"/>
              <a:ext cx="49823" cy="4982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21" name="Oval 219"/>
            <p:cNvSpPr>
              <a:spLocks noChangeArrowheads="1"/>
            </p:cNvSpPr>
            <p:nvPr/>
          </p:nvSpPr>
          <p:spPr bwMode="auto">
            <a:xfrm>
              <a:off x="4394256" y="3992369"/>
              <a:ext cx="48358" cy="4982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22" name="Oval 220"/>
            <p:cNvSpPr>
              <a:spLocks noChangeArrowheads="1"/>
            </p:cNvSpPr>
            <p:nvPr/>
          </p:nvSpPr>
          <p:spPr bwMode="auto">
            <a:xfrm>
              <a:off x="5151859" y="3775492"/>
              <a:ext cx="49823" cy="4982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23" name="Oval 221"/>
            <p:cNvSpPr>
              <a:spLocks noChangeArrowheads="1"/>
            </p:cNvSpPr>
            <p:nvPr/>
          </p:nvSpPr>
          <p:spPr bwMode="auto">
            <a:xfrm>
              <a:off x="6001782" y="3302173"/>
              <a:ext cx="49823" cy="51289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24" name="Oval 222"/>
            <p:cNvSpPr>
              <a:spLocks noChangeArrowheads="1"/>
            </p:cNvSpPr>
            <p:nvPr/>
          </p:nvSpPr>
          <p:spPr bwMode="auto">
            <a:xfrm>
              <a:off x="4665352" y="3724204"/>
              <a:ext cx="46892" cy="51289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26" name="Oval 224"/>
            <p:cNvSpPr>
              <a:spLocks noChangeArrowheads="1"/>
            </p:cNvSpPr>
            <p:nvPr/>
          </p:nvSpPr>
          <p:spPr bwMode="auto">
            <a:xfrm>
              <a:off x="4225736" y="3507327"/>
              <a:ext cx="51289" cy="51289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27" name="Oval 225"/>
            <p:cNvSpPr>
              <a:spLocks noChangeArrowheads="1"/>
            </p:cNvSpPr>
            <p:nvPr/>
          </p:nvSpPr>
          <p:spPr bwMode="auto">
            <a:xfrm>
              <a:off x="4882229" y="3570338"/>
              <a:ext cx="49823" cy="4982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28" name="Oval 226"/>
            <p:cNvSpPr>
              <a:spLocks noChangeArrowheads="1"/>
            </p:cNvSpPr>
            <p:nvPr/>
          </p:nvSpPr>
          <p:spPr bwMode="auto">
            <a:xfrm>
              <a:off x="4858782" y="3992369"/>
              <a:ext cx="51289" cy="4982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29" name="Oval 227"/>
            <p:cNvSpPr>
              <a:spLocks noChangeArrowheads="1"/>
            </p:cNvSpPr>
            <p:nvPr/>
          </p:nvSpPr>
          <p:spPr bwMode="auto">
            <a:xfrm>
              <a:off x="4417702" y="4377765"/>
              <a:ext cx="46892" cy="4982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30" name="Oval 228"/>
            <p:cNvSpPr>
              <a:spLocks noChangeArrowheads="1"/>
            </p:cNvSpPr>
            <p:nvPr/>
          </p:nvSpPr>
          <p:spPr bwMode="auto">
            <a:xfrm>
              <a:off x="4287282" y="4065638"/>
              <a:ext cx="51289" cy="46892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31" name="Oval 229"/>
            <p:cNvSpPr>
              <a:spLocks noChangeArrowheads="1"/>
            </p:cNvSpPr>
            <p:nvPr/>
          </p:nvSpPr>
          <p:spPr bwMode="auto">
            <a:xfrm>
              <a:off x="4806029" y="3907376"/>
              <a:ext cx="49823" cy="51289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32" name="Oval 230"/>
            <p:cNvSpPr>
              <a:spLocks noChangeArrowheads="1"/>
            </p:cNvSpPr>
            <p:nvPr/>
          </p:nvSpPr>
          <p:spPr bwMode="auto">
            <a:xfrm>
              <a:off x="4464594" y="3980646"/>
              <a:ext cx="48358" cy="51289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33" name="Oval 231"/>
            <p:cNvSpPr>
              <a:spLocks noChangeArrowheads="1"/>
            </p:cNvSpPr>
            <p:nvPr/>
          </p:nvSpPr>
          <p:spPr bwMode="auto">
            <a:xfrm>
              <a:off x="4558379" y="4029004"/>
              <a:ext cx="49823" cy="46892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34" name="Oval 232"/>
            <p:cNvSpPr>
              <a:spLocks noChangeArrowheads="1"/>
            </p:cNvSpPr>
            <p:nvPr/>
          </p:nvSpPr>
          <p:spPr bwMode="auto">
            <a:xfrm>
              <a:off x="4580359" y="3785750"/>
              <a:ext cx="51289" cy="48358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35" name="Oval 233"/>
            <p:cNvSpPr>
              <a:spLocks noChangeArrowheads="1"/>
            </p:cNvSpPr>
            <p:nvPr/>
          </p:nvSpPr>
          <p:spPr bwMode="auto">
            <a:xfrm>
              <a:off x="5160652" y="3533704"/>
              <a:ext cx="49823" cy="4982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36" name="Oval 234"/>
            <p:cNvSpPr>
              <a:spLocks noChangeArrowheads="1"/>
            </p:cNvSpPr>
            <p:nvPr/>
          </p:nvSpPr>
          <p:spPr bwMode="auto">
            <a:xfrm>
              <a:off x="5368736" y="3797473"/>
              <a:ext cx="46892" cy="48358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37" name="Oval 235"/>
            <p:cNvSpPr>
              <a:spLocks noChangeArrowheads="1"/>
            </p:cNvSpPr>
            <p:nvPr/>
          </p:nvSpPr>
          <p:spPr bwMode="auto">
            <a:xfrm>
              <a:off x="4580359" y="3497069"/>
              <a:ext cx="51289" cy="4982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38" name="Oval 236"/>
            <p:cNvSpPr>
              <a:spLocks noChangeArrowheads="1"/>
            </p:cNvSpPr>
            <p:nvPr/>
          </p:nvSpPr>
          <p:spPr bwMode="auto">
            <a:xfrm>
              <a:off x="4913002" y="3834107"/>
              <a:ext cx="49823" cy="48358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39" name="Oval 237"/>
            <p:cNvSpPr>
              <a:spLocks noChangeArrowheads="1"/>
            </p:cNvSpPr>
            <p:nvPr/>
          </p:nvSpPr>
          <p:spPr bwMode="auto">
            <a:xfrm>
              <a:off x="5408302" y="3822384"/>
              <a:ext cx="49823" cy="48358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40" name="Oval 238"/>
            <p:cNvSpPr>
              <a:spLocks noChangeArrowheads="1"/>
            </p:cNvSpPr>
            <p:nvPr/>
          </p:nvSpPr>
          <p:spPr bwMode="auto">
            <a:xfrm>
              <a:off x="4564241" y="4002627"/>
              <a:ext cx="49823" cy="48358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41" name="Oval 239"/>
            <p:cNvSpPr>
              <a:spLocks noChangeArrowheads="1"/>
            </p:cNvSpPr>
            <p:nvPr/>
          </p:nvSpPr>
          <p:spPr bwMode="auto">
            <a:xfrm>
              <a:off x="4656559" y="3822384"/>
              <a:ext cx="48358" cy="48358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42" name="Oval 240"/>
            <p:cNvSpPr>
              <a:spLocks noChangeArrowheads="1"/>
            </p:cNvSpPr>
            <p:nvPr/>
          </p:nvSpPr>
          <p:spPr bwMode="auto">
            <a:xfrm>
              <a:off x="5522602" y="3713946"/>
              <a:ext cx="48358" cy="4982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43" name="Oval 241"/>
            <p:cNvSpPr>
              <a:spLocks noChangeArrowheads="1"/>
            </p:cNvSpPr>
            <p:nvPr/>
          </p:nvSpPr>
          <p:spPr bwMode="auto">
            <a:xfrm>
              <a:off x="4186171" y="3845830"/>
              <a:ext cx="48358" cy="46892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44" name="Oval 242"/>
            <p:cNvSpPr>
              <a:spLocks noChangeArrowheads="1"/>
            </p:cNvSpPr>
            <p:nvPr/>
          </p:nvSpPr>
          <p:spPr bwMode="auto">
            <a:xfrm>
              <a:off x="4279956" y="3882465"/>
              <a:ext cx="49823" cy="46892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45" name="Oval 243"/>
            <p:cNvSpPr>
              <a:spLocks noChangeArrowheads="1"/>
            </p:cNvSpPr>
            <p:nvPr/>
          </p:nvSpPr>
          <p:spPr bwMode="auto">
            <a:xfrm>
              <a:off x="4619925" y="3184942"/>
              <a:ext cx="49823" cy="46892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1856186" y="2374584"/>
            <a:ext cx="883650" cy="2640656"/>
            <a:chOff x="1856186" y="2374584"/>
            <a:chExt cx="883650" cy="2640656"/>
          </a:xfrm>
        </p:grpSpPr>
        <p:sp>
          <p:nvSpPr>
            <p:cNvPr id="248" name="Rectangle 246"/>
            <p:cNvSpPr>
              <a:spLocks noChangeArrowheads="1"/>
            </p:cNvSpPr>
            <p:nvPr/>
          </p:nvSpPr>
          <p:spPr bwMode="auto">
            <a:xfrm>
              <a:off x="2489110" y="4799796"/>
              <a:ext cx="9938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844083"/>
              <a:r>
                <a:rPr lang="en-US" altLang="en-US" sz="1400" dirty="0">
                  <a:solidFill>
                    <a:srgbClr val="000000"/>
                  </a:solidFill>
                </a:rPr>
                <a:t>0</a:t>
              </a:r>
              <a:endParaRPr lang="en-US" altLang="en-US" sz="1400" dirty="0"/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1856186" y="2374584"/>
              <a:ext cx="883650" cy="2560028"/>
              <a:chOff x="1856186" y="2374584"/>
              <a:chExt cx="883650" cy="2560028"/>
            </a:xfrm>
          </p:grpSpPr>
          <p:sp>
            <p:nvSpPr>
              <p:cNvPr id="246" name="Line 244"/>
              <p:cNvSpPr>
                <a:spLocks noChangeShapeType="1"/>
              </p:cNvSpPr>
              <p:nvPr/>
            </p:nvSpPr>
            <p:spPr bwMode="auto">
              <a:xfrm flipV="1">
                <a:off x="2739836" y="2374584"/>
                <a:ext cx="0" cy="2560028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84406" tIns="42203" rIns="84406" bIns="42203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662"/>
              </a:p>
            </p:txBody>
          </p:sp>
          <p:sp>
            <p:nvSpPr>
              <p:cNvPr id="250" name="Rectangle 248"/>
              <p:cNvSpPr>
                <a:spLocks noChangeArrowheads="1"/>
              </p:cNvSpPr>
              <p:nvPr/>
            </p:nvSpPr>
            <p:spPr bwMode="auto">
              <a:xfrm>
                <a:off x="2489110" y="4197523"/>
                <a:ext cx="99386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844083"/>
                <a:r>
                  <a:rPr lang="en-US" altLang="en-US" sz="1400" dirty="0">
                    <a:solidFill>
                      <a:srgbClr val="000000"/>
                    </a:solidFill>
                  </a:rPr>
                  <a:t>5</a:t>
                </a:r>
                <a:endParaRPr lang="en-US" altLang="en-US" sz="1400" dirty="0"/>
              </a:p>
            </p:txBody>
          </p:sp>
          <p:sp>
            <p:nvSpPr>
              <p:cNvPr id="252" name="Rectangle 250"/>
              <p:cNvSpPr>
                <a:spLocks noChangeArrowheads="1"/>
              </p:cNvSpPr>
              <p:nvPr/>
            </p:nvSpPr>
            <p:spPr bwMode="auto">
              <a:xfrm>
                <a:off x="2424633" y="3595250"/>
                <a:ext cx="198772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844083"/>
                <a:r>
                  <a:rPr lang="en-US" altLang="en-US" sz="1400">
                    <a:solidFill>
                      <a:srgbClr val="000000"/>
                    </a:solidFill>
                  </a:rPr>
                  <a:t>10</a:t>
                </a:r>
                <a:endParaRPr lang="en-US" altLang="en-US" sz="1400"/>
              </a:p>
            </p:txBody>
          </p:sp>
          <p:sp>
            <p:nvSpPr>
              <p:cNvPr id="254" name="Rectangle 252"/>
              <p:cNvSpPr>
                <a:spLocks noChangeArrowheads="1"/>
              </p:cNvSpPr>
              <p:nvPr/>
            </p:nvSpPr>
            <p:spPr bwMode="auto">
              <a:xfrm>
                <a:off x="2424633" y="2990045"/>
                <a:ext cx="198772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844083"/>
                <a:r>
                  <a:rPr lang="en-US" altLang="en-US" sz="1400">
                    <a:solidFill>
                      <a:srgbClr val="000000"/>
                    </a:solidFill>
                  </a:rPr>
                  <a:t>15</a:t>
                </a:r>
                <a:endParaRPr lang="en-US" altLang="en-US" sz="1400"/>
              </a:p>
            </p:txBody>
          </p:sp>
          <p:sp>
            <p:nvSpPr>
              <p:cNvPr id="256" name="Rectangle 254"/>
              <p:cNvSpPr>
                <a:spLocks noChangeArrowheads="1"/>
              </p:cNvSpPr>
              <p:nvPr/>
            </p:nvSpPr>
            <p:spPr bwMode="auto">
              <a:xfrm>
                <a:off x="2424633" y="2387773"/>
                <a:ext cx="198772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844083"/>
                <a:r>
                  <a:rPr lang="en-US" altLang="en-US" sz="1400">
                    <a:solidFill>
                      <a:srgbClr val="000000"/>
                    </a:solidFill>
                  </a:rPr>
                  <a:t>20</a:t>
                </a:r>
                <a:endParaRPr lang="en-US" altLang="en-US" sz="1400"/>
              </a:p>
            </p:txBody>
          </p:sp>
          <p:sp>
            <p:nvSpPr>
              <p:cNvPr id="257" name="Rectangle 255"/>
              <p:cNvSpPr>
                <a:spLocks noChangeArrowheads="1"/>
              </p:cNvSpPr>
              <p:nvPr/>
            </p:nvSpPr>
            <p:spPr bwMode="auto">
              <a:xfrm rot="16200000">
                <a:off x="1068310" y="3438430"/>
                <a:ext cx="1883529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844083"/>
                <a:r>
                  <a:rPr lang="en-US" altLang="en-US" sz="2000" dirty="0">
                    <a:solidFill>
                      <a:srgbClr val="000000"/>
                    </a:solidFill>
                  </a:rPr>
                  <a:t>white blood cells</a:t>
                </a:r>
                <a:endParaRPr lang="en-US" altLang="en-US" sz="2000" dirty="0"/>
              </a:p>
            </p:txBody>
          </p:sp>
        </p:grpSp>
      </p:grpSp>
      <p:grpSp>
        <p:nvGrpSpPr>
          <p:cNvPr id="3" name="Group 2"/>
          <p:cNvGrpSpPr/>
          <p:nvPr/>
        </p:nvGrpSpPr>
        <p:grpSpPr>
          <a:xfrm>
            <a:off x="2739836" y="4934612"/>
            <a:ext cx="4138933" cy="711464"/>
            <a:chOff x="2739836" y="4934612"/>
            <a:chExt cx="4138933" cy="711464"/>
          </a:xfrm>
        </p:grpSpPr>
        <p:sp>
          <p:nvSpPr>
            <p:cNvPr id="258" name="Line 256"/>
            <p:cNvSpPr>
              <a:spLocks noChangeShapeType="1"/>
            </p:cNvSpPr>
            <p:nvPr/>
          </p:nvSpPr>
          <p:spPr bwMode="auto">
            <a:xfrm>
              <a:off x="2739836" y="4934612"/>
              <a:ext cx="4009292" cy="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84406" tIns="42203" rIns="84406" bIns="42203" numCol="1" anchor="t" anchorCtr="0" compatLnSpc="1">
              <a:prstTxWarp prst="textNoShape">
                <a:avLst/>
              </a:prstTxWarp>
            </a:bodyPr>
            <a:lstStyle/>
            <a:p>
              <a:endParaRPr lang="en-GB" sz="1662"/>
            </a:p>
          </p:txBody>
        </p:sp>
        <p:sp>
          <p:nvSpPr>
            <p:cNvPr id="260" name="Rectangle 258"/>
            <p:cNvSpPr>
              <a:spLocks noChangeArrowheads="1"/>
            </p:cNvSpPr>
            <p:nvPr/>
          </p:nvSpPr>
          <p:spPr bwMode="auto">
            <a:xfrm>
              <a:off x="2782333" y="5004950"/>
              <a:ext cx="9938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844083"/>
              <a:r>
                <a:rPr lang="en-US" altLang="en-US" sz="1400" dirty="0">
                  <a:solidFill>
                    <a:srgbClr val="000000"/>
                  </a:solidFill>
                </a:rPr>
                <a:t>0</a:t>
              </a:r>
              <a:endParaRPr lang="en-US" altLang="en-US" sz="1400" dirty="0"/>
            </a:p>
          </p:txBody>
        </p:sp>
        <p:sp>
          <p:nvSpPr>
            <p:cNvPr id="262" name="Rectangle 260"/>
            <p:cNvSpPr>
              <a:spLocks noChangeArrowheads="1"/>
            </p:cNvSpPr>
            <p:nvPr/>
          </p:nvSpPr>
          <p:spPr bwMode="auto">
            <a:xfrm>
              <a:off x="3491579" y="5004950"/>
              <a:ext cx="298159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844083"/>
              <a:r>
                <a:rPr lang="en-US" altLang="en-US" sz="1400">
                  <a:solidFill>
                    <a:srgbClr val="000000"/>
                  </a:solidFill>
                </a:rPr>
                <a:t>100</a:t>
              </a:r>
              <a:endParaRPr lang="en-US" altLang="en-US" sz="1400"/>
            </a:p>
          </p:txBody>
        </p:sp>
        <p:sp>
          <p:nvSpPr>
            <p:cNvPr id="264" name="Rectangle 262"/>
            <p:cNvSpPr>
              <a:spLocks noChangeArrowheads="1"/>
            </p:cNvSpPr>
            <p:nvPr/>
          </p:nvSpPr>
          <p:spPr bwMode="auto">
            <a:xfrm>
              <a:off x="4262371" y="5004950"/>
              <a:ext cx="298159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844083"/>
              <a:r>
                <a:rPr lang="en-US" altLang="en-US" sz="1400">
                  <a:solidFill>
                    <a:srgbClr val="000000"/>
                  </a:solidFill>
                </a:rPr>
                <a:t>200</a:t>
              </a:r>
              <a:endParaRPr lang="en-US" altLang="en-US" sz="1400"/>
            </a:p>
          </p:txBody>
        </p:sp>
        <p:sp>
          <p:nvSpPr>
            <p:cNvPr id="266" name="Rectangle 264"/>
            <p:cNvSpPr>
              <a:spLocks noChangeArrowheads="1"/>
            </p:cNvSpPr>
            <p:nvPr/>
          </p:nvSpPr>
          <p:spPr bwMode="auto">
            <a:xfrm>
              <a:off x="5036095" y="5004950"/>
              <a:ext cx="298159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844083"/>
              <a:r>
                <a:rPr lang="en-US" altLang="en-US" sz="1400">
                  <a:solidFill>
                    <a:srgbClr val="000000"/>
                  </a:solidFill>
                </a:rPr>
                <a:t>300</a:t>
              </a:r>
              <a:endParaRPr lang="en-US" altLang="en-US" sz="1400"/>
            </a:p>
          </p:txBody>
        </p:sp>
        <p:sp>
          <p:nvSpPr>
            <p:cNvPr id="268" name="Rectangle 266"/>
            <p:cNvSpPr>
              <a:spLocks noChangeArrowheads="1"/>
            </p:cNvSpPr>
            <p:nvPr/>
          </p:nvSpPr>
          <p:spPr bwMode="auto">
            <a:xfrm>
              <a:off x="5806887" y="5004950"/>
              <a:ext cx="298159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844083"/>
              <a:r>
                <a:rPr lang="en-US" altLang="en-US" sz="1400">
                  <a:solidFill>
                    <a:srgbClr val="000000"/>
                  </a:solidFill>
                </a:rPr>
                <a:t>400</a:t>
              </a:r>
              <a:endParaRPr lang="en-US" altLang="en-US" sz="1400"/>
            </a:p>
          </p:txBody>
        </p:sp>
        <p:sp>
          <p:nvSpPr>
            <p:cNvPr id="270" name="Rectangle 268"/>
            <p:cNvSpPr>
              <a:spLocks noChangeArrowheads="1"/>
            </p:cNvSpPr>
            <p:nvPr/>
          </p:nvSpPr>
          <p:spPr bwMode="auto">
            <a:xfrm>
              <a:off x="6580610" y="5004950"/>
              <a:ext cx="298159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844083"/>
              <a:r>
                <a:rPr lang="en-US" altLang="en-US" sz="1400">
                  <a:solidFill>
                    <a:srgbClr val="000000"/>
                  </a:solidFill>
                </a:rPr>
                <a:t>500</a:t>
              </a:r>
              <a:endParaRPr lang="en-US" altLang="en-US" sz="1400"/>
            </a:p>
          </p:txBody>
        </p:sp>
        <p:sp>
          <p:nvSpPr>
            <p:cNvPr id="271" name="Rectangle 269"/>
            <p:cNvSpPr>
              <a:spLocks noChangeArrowheads="1"/>
            </p:cNvSpPr>
            <p:nvPr/>
          </p:nvSpPr>
          <p:spPr bwMode="auto">
            <a:xfrm>
              <a:off x="4423883" y="5369077"/>
              <a:ext cx="85921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844083"/>
              <a:r>
                <a:rPr lang="en-US" altLang="en-US" dirty="0">
                  <a:solidFill>
                    <a:srgbClr val="000000"/>
                  </a:solidFill>
                </a:rPr>
                <a:t>platelets</a:t>
              </a:r>
              <a:endParaRPr lang="en-US" altLang="en-US" dirty="0"/>
            </a:p>
          </p:txBody>
        </p:sp>
      </p:grpSp>
      <p:sp>
        <p:nvSpPr>
          <p:cNvPr id="121" name="Rectangle 120"/>
          <p:cNvSpPr/>
          <p:nvPr/>
        </p:nvSpPr>
        <p:spPr>
          <a:xfrm>
            <a:off x="398410" y="1014577"/>
            <a:ext cx="44432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340">
              <a:spcAft>
                <a:spcPts val="1400"/>
              </a:spcAft>
            </a:pPr>
            <a:r>
              <a:rPr lang="en-US" sz="2800" dirty="0" err="1">
                <a:solidFill>
                  <a:srgbClr val="40404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Scattergraph</a:t>
            </a:r>
            <a:r>
              <a:rPr lang="en-US" sz="2800" dirty="0">
                <a:solidFill>
                  <a:srgbClr val="40404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 (numeric data)</a:t>
            </a:r>
            <a:endParaRPr lang="en-GB" sz="2800" dirty="0">
              <a:solidFill>
                <a:srgbClr val="404040"/>
              </a:solidFill>
              <a:effectLst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60D5424B-B854-4CD0-8785-AF980A27B12C}"/>
              </a:ext>
            </a:extLst>
          </p:cNvPr>
          <p:cNvSpPr/>
          <p:nvPr/>
        </p:nvSpPr>
        <p:spPr>
          <a:xfrm>
            <a:off x="115804" y="6229863"/>
            <a:ext cx="58783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340">
              <a:spcAft>
                <a:spcPts val="1400"/>
              </a:spcAft>
            </a:pPr>
            <a:r>
              <a:rPr lang="en-US" sz="1400" dirty="0">
                <a:solidFill>
                  <a:srgbClr val="40404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Blood counts among 102 patients with NSCLC prior to treatment with SABR </a:t>
            </a:r>
            <a:endParaRPr lang="en-GB" sz="1400" dirty="0">
              <a:solidFill>
                <a:srgbClr val="404040"/>
              </a:solidFill>
              <a:effectLst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8271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" grpId="0" animBg="1"/>
      <p:bldP spid="2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Rectangle 7"/>
          <p:cNvSpPr>
            <a:spLocks noChangeArrowheads="1"/>
          </p:cNvSpPr>
          <p:nvPr/>
        </p:nvSpPr>
        <p:spPr bwMode="auto">
          <a:xfrm>
            <a:off x="3456906" y="3665612"/>
            <a:ext cx="486259" cy="152673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1350"/>
          </a:p>
        </p:txBody>
      </p:sp>
      <p:sp>
        <p:nvSpPr>
          <p:cNvPr id="8200" name="Rectangle 8"/>
          <p:cNvSpPr>
            <a:spLocks noChangeArrowheads="1"/>
          </p:cNvSpPr>
          <p:nvPr/>
        </p:nvSpPr>
        <p:spPr bwMode="auto">
          <a:xfrm>
            <a:off x="4354312" y="2765586"/>
            <a:ext cx="486260" cy="242675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1350"/>
          </a:p>
        </p:txBody>
      </p:sp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5288618" y="4369618"/>
            <a:ext cx="486259" cy="82272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1350"/>
          </a:p>
        </p:txBody>
      </p:sp>
      <p:grpSp>
        <p:nvGrpSpPr>
          <p:cNvPr id="4" name="Group 3"/>
          <p:cNvGrpSpPr/>
          <p:nvPr/>
        </p:nvGrpSpPr>
        <p:grpSpPr>
          <a:xfrm>
            <a:off x="1738524" y="2178914"/>
            <a:ext cx="1158326" cy="3013427"/>
            <a:chOff x="1738524" y="2178914"/>
            <a:chExt cx="1158326" cy="3013427"/>
          </a:xfrm>
        </p:grpSpPr>
        <p:sp>
          <p:nvSpPr>
            <p:cNvPr id="8197" name="Line 5"/>
            <p:cNvSpPr>
              <a:spLocks noChangeShapeType="1"/>
            </p:cNvSpPr>
            <p:nvPr/>
          </p:nvSpPr>
          <p:spPr bwMode="auto">
            <a:xfrm flipV="1">
              <a:off x="2896850" y="2178914"/>
              <a:ext cx="0" cy="30134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1350"/>
            </a:p>
          </p:txBody>
        </p:sp>
        <p:sp>
          <p:nvSpPr>
            <p:cNvPr id="8203" name="Text Box 11"/>
            <p:cNvSpPr txBox="1">
              <a:spLocks noChangeArrowheads="1"/>
            </p:cNvSpPr>
            <p:nvPr/>
          </p:nvSpPr>
          <p:spPr bwMode="auto">
            <a:xfrm>
              <a:off x="2036342" y="2263118"/>
              <a:ext cx="718904" cy="3479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1350">
                  <a:latin typeface="Comic Sans MS" panose="030F0702030302020204" pitchFamily="66" charset="0"/>
                </a:rPr>
                <a:t>y axis</a:t>
              </a:r>
            </a:p>
          </p:txBody>
        </p:sp>
        <p:sp>
          <p:nvSpPr>
            <p:cNvPr id="8204" name="Text Box 12"/>
            <p:cNvSpPr txBox="1">
              <a:spLocks noChangeArrowheads="1"/>
            </p:cNvSpPr>
            <p:nvPr/>
          </p:nvSpPr>
          <p:spPr bwMode="auto">
            <a:xfrm>
              <a:off x="1738524" y="3313607"/>
              <a:ext cx="1109227" cy="10705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1350">
                  <a:latin typeface="Comic Sans MS" panose="030F0702030302020204" pitchFamily="66" charset="0"/>
                </a:rPr>
                <a:t>frequency</a:t>
              </a:r>
            </a:p>
            <a:p>
              <a:r>
                <a:rPr lang="en-GB" altLang="en-US" sz="1350">
                  <a:latin typeface="Comic Sans MS" panose="030F0702030302020204" pitchFamily="66" charset="0"/>
                </a:rPr>
                <a:t>or</a:t>
              </a:r>
            </a:p>
            <a:p>
              <a:r>
                <a:rPr lang="en-GB" altLang="en-US" sz="1350">
                  <a:latin typeface="Comic Sans MS" panose="030F0702030302020204" pitchFamily="66" charset="0"/>
                </a:rPr>
                <a:t>% relative</a:t>
              </a:r>
            </a:p>
            <a:p>
              <a:r>
                <a:rPr lang="en-GB" altLang="en-US" sz="1350">
                  <a:latin typeface="Comic Sans MS" panose="030F0702030302020204" pitchFamily="66" charset="0"/>
                </a:rPr>
                <a:t>frequency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3083975" y="5192341"/>
            <a:ext cx="3570274" cy="1090573"/>
            <a:chOff x="3083975" y="5192341"/>
            <a:chExt cx="3570274" cy="1090573"/>
          </a:xfrm>
        </p:grpSpPr>
        <p:sp>
          <p:nvSpPr>
            <p:cNvPr id="8202" name="Text Box 10"/>
            <p:cNvSpPr txBox="1">
              <a:spLocks noChangeArrowheads="1"/>
            </p:cNvSpPr>
            <p:nvPr/>
          </p:nvSpPr>
          <p:spPr bwMode="auto">
            <a:xfrm>
              <a:off x="5921151" y="5315198"/>
              <a:ext cx="733098" cy="3479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1350">
                  <a:latin typeface="Comic Sans MS" panose="030F0702030302020204" pitchFamily="66" charset="0"/>
                </a:rPr>
                <a:t>x axis</a:t>
              </a:r>
            </a:p>
          </p:txBody>
        </p:sp>
        <p:sp>
          <p:nvSpPr>
            <p:cNvPr id="8198" name="Line 6"/>
            <p:cNvSpPr>
              <a:spLocks noChangeShapeType="1"/>
            </p:cNvSpPr>
            <p:nvPr/>
          </p:nvSpPr>
          <p:spPr bwMode="auto">
            <a:xfrm>
              <a:off x="3083975" y="5192341"/>
              <a:ext cx="33616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1350"/>
            </a:p>
          </p:txBody>
        </p:sp>
        <p:sp>
          <p:nvSpPr>
            <p:cNvPr id="8205" name="Text Box 13"/>
            <p:cNvSpPr txBox="1">
              <a:spLocks noChangeArrowheads="1"/>
            </p:cNvSpPr>
            <p:nvPr/>
          </p:nvSpPr>
          <p:spPr bwMode="auto">
            <a:xfrm>
              <a:off x="3315973" y="5269644"/>
              <a:ext cx="766808" cy="428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GB" altLang="en-US" sz="900" dirty="0">
                  <a:latin typeface="Comic Sans MS" panose="030F0702030302020204" pitchFamily="66" charset="0"/>
                </a:rPr>
                <a:t>1</a:t>
              </a:r>
              <a:r>
                <a:rPr lang="en-GB" altLang="en-US" sz="900" baseline="30000" dirty="0">
                  <a:latin typeface="Comic Sans MS" panose="030F0702030302020204" pitchFamily="66" charset="0"/>
                </a:rPr>
                <a:t>st</a:t>
              </a:r>
            </a:p>
            <a:p>
              <a:pPr algn="ctr"/>
              <a:r>
                <a:rPr lang="en-GB" altLang="en-US" sz="900" dirty="0">
                  <a:latin typeface="Comic Sans MS" panose="030F0702030302020204" pitchFamily="66" charset="0"/>
                </a:rPr>
                <a:t> category</a:t>
              </a:r>
            </a:p>
          </p:txBody>
        </p:sp>
        <p:sp>
          <p:nvSpPr>
            <p:cNvPr id="8206" name="Text Box 14"/>
            <p:cNvSpPr txBox="1">
              <a:spLocks noChangeArrowheads="1"/>
            </p:cNvSpPr>
            <p:nvPr/>
          </p:nvSpPr>
          <p:spPr bwMode="auto">
            <a:xfrm>
              <a:off x="4212061" y="5269644"/>
              <a:ext cx="766808" cy="428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GB" altLang="en-US" sz="900">
                  <a:latin typeface="Comic Sans MS" panose="030F0702030302020204" pitchFamily="66" charset="0"/>
                </a:rPr>
                <a:t>2nd</a:t>
              </a:r>
              <a:endParaRPr lang="en-GB" altLang="en-US" sz="900" baseline="30000">
                <a:latin typeface="Comic Sans MS" panose="030F0702030302020204" pitchFamily="66" charset="0"/>
              </a:endParaRPr>
            </a:p>
            <a:p>
              <a:pPr algn="ctr"/>
              <a:r>
                <a:rPr lang="en-GB" altLang="en-US" sz="900">
                  <a:latin typeface="Comic Sans MS" panose="030F0702030302020204" pitchFamily="66" charset="0"/>
                </a:rPr>
                <a:t> category</a:t>
              </a:r>
            </a:p>
          </p:txBody>
        </p:sp>
        <p:sp>
          <p:nvSpPr>
            <p:cNvPr id="8207" name="Text Box 15"/>
            <p:cNvSpPr txBox="1">
              <a:spLocks noChangeArrowheads="1"/>
            </p:cNvSpPr>
            <p:nvPr/>
          </p:nvSpPr>
          <p:spPr bwMode="auto">
            <a:xfrm>
              <a:off x="3829836" y="5935000"/>
              <a:ext cx="1540358" cy="3479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1350">
                  <a:latin typeface="Comic Sans MS" panose="030F0702030302020204" pitchFamily="66" charset="0"/>
                </a:rPr>
                <a:t>Variable values</a:t>
              </a:r>
            </a:p>
          </p:txBody>
        </p:sp>
        <p:sp>
          <p:nvSpPr>
            <p:cNvPr id="8208" name="Text Box 16"/>
            <p:cNvSpPr txBox="1">
              <a:spLocks noChangeArrowheads="1"/>
            </p:cNvSpPr>
            <p:nvPr/>
          </p:nvSpPr>
          <p:spPr bwMode="auto">
            <a:xfrm>
              <a:off x="4951266" y="5230992"/>
              <a:ext cx="448045" cy="3479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en-US" sz="1350" i="1">
                  <a:latin typeface="Comic Sans MS" panose="030F0702030302020204" pitchFamily="66" charset="0"/>
                </a:rPr>
                <a:t>…</a:t>
              </a:r>
            </a:p>
          </p:txBody>
        </p:sp>
        <p:sp>
          <p:nvSpPr>
            <p:cNvPr id="8209" name="Text Box 17"/>
            <p:cNvSpPr txBox="1">
              <a:spLocks noChangeArrowheads="1"/>
            </p:cNvSpPr>
            <p:nvPr/>
          </p:nvSpPr>
          <p:spPr bwMode="auto">
            <a:xfrm>
              <a:off x="5212186" y="5269644"/>
              <a:ext cx="747180" cy="428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900">
                  <a:latin typeface="Comic Sans MS" panose="030F0702030302020204" pitchFamily="66" charset="0"/>
                </a:rPr>
                <a:t>k</a:t>
              </a:r>
              <a:r>
                <a:rPr lang="en-GB" altLang="en-US" sz="900" baseline="30000">
                  <a:latin typeface="Comic Sans MS" panose="030F0702030302020204" pitchFamily="66" charset="0"/>
                </a:rPr>
                <a:t>th</a:t>
              </a:r>
              <a:r>
                <a:rPr lang="en-GB" altLang="en-US" sz="900">
                  <a:latin typeface="Comic Sans MS" panose="030F0702030302020204" pitchFamily="66" charset="0"/>
                </a:rPr>
                <a:t> category</a:t>
              </a:r>
            </a:p>
          </p:txBody>
        </p:sp>
      </p:grpSp>
      <p:sp>
        <p:nvSpPr>
          <p:cNvPr id="18" name="Rectangle 17"/>
          <p:cNvSpPr/>
          <p:nvPr/>
        </p:nvSpPr>
        <p:spPr>
          <a:xfrm>
            <a:off x="376381" y="762391"/>
            <a:ext cx="43013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340">
              <a:spcAft>
                <a:spcPts val="1400"/>
              </a:spcAft>
            </a:pPr>
            <a:r>
              <a:rPr lang="en-US" sz="2800" dirty="0">
                <a:solidFill>
                  <a:srgbClr val="40404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Bar chart (</a:t>
            </a:r>
            <a:r>
              <a:rPr lang="en-US" sz="2800" dirty="0">
                <a:solidFill>
                  <a:srgbClr val="ED7D31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categorical data</a:t>
            </a:r>
            <a:r>
              <a:rPr lang="en-US" sz="2800" dirty="0">
                <a:solidFill>
                  <a:srgbClr val="40404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endParaRPr lang="en-GB" sz="2800" dirty="0">
              <a:solidFill>
                <a:srgbClr val="404040"/>
              </a:solidFill>
              <a:effectLst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434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9" grpId="0" animBg="1"/>
      <p:bldP spid="8200" grpId="0" animBg="1"/>
      <p:bldP spid="820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A1A6B-291B-4001-BC32-E7BCE74A0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6EE6ED-D9DE-4348-9A59-6C892B0035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341234"/>
            <a:ext cx="7886700" cy="3320119"/>
          </a:xfrm>
        </p:spPr>
      </p:pic>
    </p:spTree>
    <p:extLst>
      <p:ext uri="{BB962C8B-B14F-4D97-AF65-F5344CB8AC3E}">
        <p14:creationId xmlns:p14="http://schemas.microsoft.com/office/powerpoint/2010/main" val="1708194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50552" y="805934"/>
            <a:ext cx="16988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340">
              <a:spcAft>
                <a:spcPts val="1400"/>
              </a:spcAft>
            </a:pPr>
            <a:r>
              <a:rPr lang="en-US" sz="2800" dirty="0">
                <a:solidFill>
                  <a:srgbClr val="40404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Bar chart</a:t>
            </a:r>
            <a:endParaRPr lang="en-GB" sz="2800" dirty="0">
              <a:solidFill>
                <a:srgbClr val="404040"/>
              </a:solidFill>
              <a:effectLst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038" y="2115671"/>
            <a:ext cx="5520449" cy="33276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27505" y="3345935"/>
            <a:ext cx="14612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340">
              <a:spcAft>
                <a:spcPts val="1400"/>
              </a:spcAft>
            </a:pPr>
            <a:r>
              <a:rPr lang="en-US" sz="1400" dirty="0" err="1">
                <a:solidFill>
                  <a:srgbClr val="40404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Frequencey</a:t>
            </a:r>
            <a:r>
              <a:rPr lang="en-US" sz="1400" dirty="0">
                <a:solidFill>
                  <a:srgbClr val="40404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 (n)</a:t>
            </a:r>
            <a:endParaRPr lang="en-GB" sz="1400" dirty="0">
              <a:solidFill>
                <a:srgbClr val="404040"/>
              </a:solidFill>
              <a:effectLst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06445" y="5515394"/>
            <a:ext cx="80714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340">
              <a:spcAft>
                <a:spcPts val="1400"/>
              </a:spcAft>
            </a:pPr>
            <a:r>
              <a:rPr lang="en-US" sz="1400" dirty="0">
                <a:solidFill>
                  <a:srgbClr val="40404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Stage </a:t>
            </a:r>
            <a:endParaRPr lang="en-GB" sz="1400" dirty="0">
              <a:solidFill>
                <a:srgbClr val="404040"/>
              </a:solidFill>
              <a:effectLst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5804" y="6229863"/>
            <a:ext cx="58645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340">
              <a:spcAft>
                <a:spcPts val="1400"/>
              </a:spcAft>
            </a:pPr>
            <a:r>
              <a:rPr lang="en-US" sz="1400" dirty="0">
                <a:solidFill>
                  <a:srgbClr val="40404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Stage among 93 patients with lung cancer treated with radical radiotherapy </a:t>
            </a:r>
            <a:endParaRPr lang="en-GB" sz="1400" dirty="0">
              <a:solidFill>
                <a:srgbClr val="404040"/>
              </a:solidFill>
              <a:effectLst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70040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173" y="1596873"/>
            <a:ext cx="6091670" cy="36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99827" y="2332136"/>
            <a:ext cx="18803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left upper lobe (38%)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2905" y="4961257"/>
            <a:ext cx="21138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left lower lobe (11%)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61610" y="4460914"/>
            <a:ext cx="16688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right upper lobe (30%)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64823" y="1596873"/>
            <a:ext cx="20448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right lower lobe (20%)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1610" y="2624524"/>
            <a:ext cx="14913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right middle lobe (1%) 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278" y="726969"/>
            <a:ext cx="40003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340">
              <a:spcAft>
                <a:spcPts val="1400"/>
              </a:spcAft>
            </a:pPr>
            <a:r>
              <a:rPr lang="en-US" sz="2800" dirty="0">
                <a:solidFill>
                  <a:srgbClr val="40404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Pie Chart (nominal data)</a:t>
            </a:r>
            <a:endParaRPr lang="en-GB" sz="2800" dirty="0">
              <a:solidFill>
                <a:srgbClr val="404040"/>
              </a:solidFill>
              <a:effectLst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5804" y="6229863"/>
            <a:ext cx="88731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340">
              <a:spcAft>
                <a:spcPts val="1400"/>
              </a:spcAft>
            </a:pPr>
            <a:r>
              <a:rPr lang="en-US" dirty="0">
                <a:solidFill>
                  <a:srgbClr val="40404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Location of tumour among 93 patients with lung cancer who received radical radiotherapy </a:t>
            </a:r>
            <a:endParaRPr lang="en-GB" dirty="0">
              <a:solidFill>
                <a:srgbClr val="404040"/>
              </a:solidFill>
              <a:effectLst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9528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80295" y="858920"/>
            <a:ext cx="33355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340">
              <a:spcAft>
                <a:spcPts val="1400"/>
              </a:spcAft>
            </a:pPr>
            <a:r>
              <a:rPr lang="en-US" sz="2400" dirty="0">
                <a:solidFill>
                  <a:srgbClr val="404040"/>
                </a:solidFill>
                <a:latin typeface="Century Gothic" panose="020B05020202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Contingency Tables</a:t>
            </a:r>
            <a:endParaRPr lang="en-GB" sz="2400" dirty="0">
              <a:solidFill>
                <a:srgbClr val="404040"/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3890" y="1688962"/>
            <a:ext cx="765660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latin typeface="Century Gothic" panose="020B0502020202020204" pitchFamily="34" charset="0"/>
              </a:rPr>
              <a:t>relationship between two categorical variables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970555"/>
              </p:ext>
            </p:extLst>
          </p:nvPr>
        </p:nvGraphicFramePr>
        <p:xfrm>
          <a:off x="3748154" y="3446458"/>
          <a:ext cx="4412343" cy="1538513"/>
        </p:xfrm>
        <a:graphic>
          <a:graphicData uri="http://schemas.openxmlformats.org/drawingml/2006/table">
            <a:tbl>
              <a:tblPr firstRow="1" firstCol="1" bandRow="1"/>
              <a:tblGrid>
                <a:gridCol w="1222123">
                  <a:extLst>
                    <a:ext uri="{9D8B030D-6E8A-4147-A177-3AD203B41FA5}">
                      <a16:colId xmlns:a16="http://schemas.microsoft.com/office/drawing/2014/main" val="1688245053"/>
                    </a:ext>
                  </a:extLst>
                </a:gridCol>
                <a:gridCol w="1172733">
                  <a:extLst>
                    <a:ext uri="{9D8B030D-6E8A-4147-A177-3AD203B41FA5}">
                      <a16:colId xmlns:a16="http://schemas.microsoft.com/office/drawing/2014/main" val="1081401693"/>
                    </a:ext>
                  </a:extLst>
                </a:gridCol>
                <a:gridCol w="890594">
                  <a:extLst>
                    <a:ext uri="{9D8B030D-6E8A-4147-A177-3AD203B41FA5}">
                      <a16:colId xmlns:a16="http://schemas.microsoft.com/office/drawing/2014/main" val="2901076847"/>
                    </a:ext>
                  </a:extLst>
                </a:gridCol>
                <a:gridCol w="1126893">
                  <a:extLst>
                    <a:ext uri="{9D8B030D-6E8A-4147-A177-3AD203B41FA5}">
                      <a16:colId xmlns:a16="http://schemas.microsoft.com/office/drawing/2014/main" val="178038635"/>
                    </a:ext>
                  </a:extLst>
                </a:gridCol>
              </a:tblGrid>
              <a:tr h="5327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Status at two years 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Women (n)</a:t>
                      </a:r>
                      <a:endParaRPr lang="en-GB" sz="140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Men (n)</a:t>
                      </a:r>
                      <a:endParaRPr lang="en-GB" sz="140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Total (n)</a:t>
                      </a:r>
                      <a:endParaRPr lang="en-GB" sz="140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5956429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Alive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48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29</a:t>
                      </a:r>
                      <a:endParaRPr lang="en-GB" sz="140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77</a:t>
                      </a:r>
                      <a:endParaRPr lang="en-GB" sz="140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873934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Dead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13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</a:t>
                      </a:r>
                      <a:endParaRPr lang="en-GB" sz="140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7842290"/>
                  </a:ext>
                </a:extLst>
              </a:tr>
              <a:tr h="37203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Total</a:t>
                      </a:r>
                      <a:endParaRPr lang="en-GB" sz="140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60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42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102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0007856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668516"/>
              </p:ext>
            </p:extLst>
          </p:nvPr>
        </p:nvGraphicFramePr>
        <p:xfrm>
          <a:off x="838301" y="4521252"/>
          <a:ext cx="1879600" cy="1757887"/>
        </p:xfrm>
        <a:graphic>
          <a:graphicData uri="http://schemas.openxmlformats.org/drawingml/2006/table">
            <a:tbl>
              <a:tblPr firstRow="1" firstCol="1" bandRow="1"/>
              <a:tblGrid>
                <a:gridCol w="977900">
                  <a:extLst>
                    <a:ext uri="{9D8B030D-6E8A-4147-A177-3AD203B41FA5}">
                      <a16:colId xmlns:a16="http://schemas.microsoft.com/office/drawing/2014/main" val="1688245053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178038635"/>
                    </a:ext>
                  </a:extLst>
                </a:gridCol>
              </a:tblGrid>
              <a:tr h="71530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Status at two years 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Total (n)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5956429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Alive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77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873934"/>
                  </a:ext>
                </a:extLst>
              </a:tr>
              <a:tr h="4088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Dead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7842290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Total</a:t>
                      </a:r>
                      <a:endParaRPr lang="en-GB" sz="140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102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000785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125770"/>
              </p:ext>
            </p:extLst>
          </p:nvPr>
        </p:nvGraphicFramePr>
        <p:xfrm>
          <a:off x="895451" y="2467429"/>
          <a:ext cx="1765300" cy="1593111"/>
        </p:xfrm>
        <a:graphic>
          <a:graphicData uri="http://schemas.openxmlformats.org/drawingml/2006/table">
            <a:tbl>
              <a:tblPr firstRow="1" firstCol="1" bandRow="1"/>
              <a:tblGrid>
                <a:gridCol w="977900">
                  <a:extLst>
                    <a:ext uri="{9D8B030D-6E8A-4147-A177-3AD203B41FA5}">
                      <a16:colId xmlns:a16="http://schemas.microsoft.com/office/drawing/2014/main" val="1688245053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1081401693"/>
                    </a:ext>
                  </a:extLst>
                </a:gridCol>
              </a:tblGrid>
              <a:tr h="56605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Sex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Total (n)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5956429"/>
                  </a:ext>
                </a:extLst>
              </a:tr>
              <a:tr h="39332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Women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60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873934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Men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42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7842290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Total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102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0007856"/>
                  </a:ext>
                </a:extLst>
              </a:tr>
            </a:tbl>
          </a:graphicData>
        </a:graphic>
      </p:graphicFrame>
      <p:sp>
        <p:nvSpPr>
          <p:cNvPr id="8" name="Rectangle 77">
            <a:extLst>
              <a:ext uri="{FF2B5EF4-FFF2-40B4-BE49-F238E27FC236}">
                <a16:creationId xmlns:a16="http://schemas.microsoft.com/office/drawing/2014/main" id="{9984E772-EE26-42CA-9056-8C4D688FA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6137" y="6499140"/>
            <a:ext cx="3012043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102 patients with NSCLC treated with SABR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574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80295" y="858920"/>
            <a:ext cx="33355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340">
              <a:spcAft>
                <a:spcPts val="1400"/>
              </a:spcAft>
            </a:pPr>
            <a:r>
              <a:rPr lang="en-US" sz="2400" dirty="0">
                <a:solidFill>
                  <a:srgbClr val="404040"/>
                </a:solidFill>
                <a:latin typeface="Century Gothic" panose="020B05020202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Contingency Tables</a:t>
            </a:r>
            <a:endParaRPr lang="en-GB" sz="2400" dirty="0">
              <a:solidFill>
                <a:srgbClr val="404040"/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3890" y="1688962"/>
            <a:ext cx="765660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latin typeface="Century Gothic" panose="020B0502020202020204" pitchFamily="34" charset="0"/>
              </a:rPr>
              <a:t>relationship between two categorical variables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383286"/>
              </p:ext>
            </p:extLst>
          </p:nvPr>
        </p:nvGraphicFramePr>
        <p:xfrm>
          <a:off x="2365828" y="2472140"/>
          <a:ext cx="4412343" cy="1538513"/>
        </p:xfrm>
        <a:graphic>
          <a:graphicData uri="http://schemas.openxmlformats.org/drawingml/2006/table">
            <a:tbl>
              <a:tblPr firstRow="1" firstCol="1" bandRow="1"/>
              <a:tblGrid>
                <a:gridCol w="1222123">
                  <a:extLst>
                    <a:ext uri="{9D8B030D-6E8A-4147-A177-3AD203B41FA5}">
                      <a16:colId xmlns:a16="http://schemas.microsoft.com/office/drawing/2014/main" val="1688245053"/>
                    </a:ext>
                  </a:extLst>
                </a:gridCol>
                <a:gridCol w="1172733">
                  <a:extLst>
                    <a:ext uri="{9D8B030D-6E8A-4147-A177-3AD203B41FA5}">
                      <a16:colId xmlns:a16="http://schemas.microsoft.com/office/drawing/2014/main" val="1081401693"/>
                    </a:ext>
                  </a:extLst>
                </a:gridCol>
                <a:gridCol w="890594">
                  <a:extLst>
                    <a:ext uri="{9D8B030D-6E8A-4147-A177-3AD203B41FA5}">
                      <a16:colId xmlns:a16="http://schemas.microsoft.com/office/drawing/2014/main" val="2901076847"/>
                    </a:ext>
                  </a:extLst>
                </a:gridCol>
                <a:gridCol w="1126893">
                  <a:extLst>
                    <a:ext uri="{9D8B030D-6E8A-4147-A177-3AD203B41FA5}">
                      <a16:colId xmlns:a16="http://schemas.microsoft.com/office/drawing/2014/main" val="178038635"/>
                    </a:ext>
                  </a:extLst>
                </a:gridCol>
              </a:tblGrid>
              <a:tr h="5327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Status at two years 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Women (n)</a:t>
                      </a:r>
                      <a:endParaRPr lang="en-GB" sz="140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Men (n)</a:t>
                      </a:r>
                      <a:endParaRPr lang="en-GB" sz="140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Total (n)</a:t>
                      </a:r>
                      <a:endParaRPr lang="en-GB" sz="140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5956429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Alive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48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29</a:t>
                      </a:r>
                      <a:endParaRPr lang="en-GB" sz="140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77</a:t>
                      </a:r>
                      <a:endParaRPr lang="en-GB" sz="140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873934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Dead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13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</a:t>
                      </a:r>
                      <a:endParaRPr lang="en-GB" sz="140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7842290"/>
                  </a:ext>
                </a:extLst>
              </a:tr>
              <a:tr h="37203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Total</a:t>
                      </a:r>
                      <a:endParaRPr lang="en-GB" sz="140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60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42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102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0007856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274223"/>
              </p:ext>
            </p:extLst>
          </p:nvPr>
        </p:nvGraphicFramePr>
        <p:xfrm>
          <a:off x="1948059" y="4393721"/>
          <a:ext cx="5399314" cy="2012950"/>
        </p:xfrm>
        <a:graphic>
          <a:graphicData uri="http://schemas.openxmlformats.org/drawingml/2006/table">
            <a:tbl>
              <a:tblPr firstRow="1" firstCol="1" bandRow="1"/>
              <a:tblGrid>
                <a:gridCol w="1495493">
                  <a:extLst>
                    <a:ext uri="{9D8B030D-6E8A-4147-A177-3AD203B41FA5}">
                      <a16:colId xmlns:a16="http://schemas.microsoft.com/office/drawing/2014/main" val="3584368861"/>
                    </a:ext>
                  </a:extLst>
                </a:gridCol>
                <a:gridCol w="1204163">
                  <a:extLst>
                    <a:ext uri="{9D8B030D-6E8A-4147-A177-3AD203B41FA5}">
                      <a16:colId xmlns:a16="http://schemas.microsoft.com/office/drawing/2014/main" val="916368926"/>
                    </a:ext>
                  </a:extLst>
                </a:gridCol>
                <a:gridCol w="1320696">
                  <a:extLst>
                    <a:ext uri="{9D8B030D-6E8A-4147-A177-3AD203B41FA5}">
                      <a16:colId xmlns:a16="http://schemas.microsoft.com/office/drawing/2014/main" val="359000732"/>
                    </a:ext>
                  </a:extLst>
                </a:gridCol>
                <a:gridCol w="1378962">
                  <a:extLst>
                    <a:ext uri="{9D8B030D-6E8A-4147-A177-3AD203B41FA5}">
                      <a16:colId xmlns:a16="http://schemas.microsoft.com/office/drawing/2014/main" val="2199255717"/>
                    </a:ext>
                  </a:extLst>
                </a:gridCol>
              </a:tblGrid>
              <a:tr h="6895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Status at two years 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Women (n)</a:t>
                      </a:r>
                      <a:endParaRPr lang="en-GB" sz="140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Men (n)</a:t>
                      </a:r>
                      <a:endParaRPr lang="en-GB" sz="140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Total (n)</a:t>
                      </a:r>
                      <a:endParaRPr lang="en-GB" sz="140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48215"/>
                  </a:ext>
                </a:extLst>
              </a:tr>
              <a:tr h="44113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Alive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48 (80%)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29 (69%)</a:t>
                      </a:r>
                      <a:endParaRPr lang="en-GB" sz="140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77 (75%)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7264316"/>
                  </a:ext>
                </a:extLst>
              </a:tr>
              <a:tr h="44113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Dead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 (20%)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13 (31%)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 (25%)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2269352"/>
                  </a:ext>
                </a:extLst>
              </a:tr>
              <a:tr h="44113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Total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60 (100%)</a:t>
                      </a:r>
                      <a:endParaRPr lang="en-GB" sz="140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42 (100%)</a:t>
                      </a:r>
                      <a:endParaRPr lang="en-GB" sz="140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102 (100%)</a:t>
                      </a:r>
                      <a:endParaRPr lang="en-GB" sz="14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3498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0140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214193"/>
              </p:ext>
            </p:extLst>
          </p:nvPr>
        </p:nvGraphicFramePr>
        <p:xfrm>
          <a:off x="1368425" y="284236"/>
          <a:ext cx="5399314" cy="1799999"/>
        </p:xfrm>
        <a:graphic>
          <a:graphicData uri="http://schemas.openxmlformats.org/drawingml/2006/table">
            <a:tbl>
              <a:tblPr firstRow="1" firstCol="1" bandRow="1"/>
              <a:tblGrid>
                <a:gridCol w="1495493">
                  <a:extLst>
                    <a:ext uri="{9D8B030D-6E8A-4147-A177-3AD203B41FA5}">
                      <a16:colId xmlns:a16="http://schemas.microsoft.com/office/drawing/2014/main" val="3584368861"/>
                    </a:ext>
                  </a:extLst>
                </a:gridCol>
                <a:gridCol w="1204163">
                  <a:extLst>
                    <a:ext uri="{9D8B030D-6E8A-4147-A177-3AD203B41FA5}">
                      <a16:colId xmlns:a16="http://schemas.microsoft.com/office/drawing/2014/main" val="916368926"/>
                    </a:ext>
                  </a:extLst>
                </a:gridCol>
                <a:gridCol w="1320696">
                  <a:extLst>
                    <a:ext uri="{9D8B030D-6E8A-4147-A177-3AD203B41FA5}">
                      <a16:colId xmlns:a16="http://schemas.microsoft.com/office/drawing/2014/main" val="359000732"/>
                    </a:ext>
                  </a:extLst>
                </a:gridCol>
                <a:gridCol w="1378962">
                  <a:extLst>
                    <a:ext uri="{9D8B030D-6E8A-4147-A177-3AD203B41FA5}">
                      <a16:colId xmlns:a16="http://schemas.microsoft.com/office/drawing/2014/main" val="2199255717"/>
                    </a:ext>
                  </a:extLst>
                </a:gridCol>
              </a:tblGrid>
              <a:tr h="61660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Status at two years </a:t>
                      </a:r>
                      <a:endParaRPr lang="en-GB" sz="11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Women (n)</a:t>
                      </a:r>
                      <a:endParaRPr lang="en-GB" sz="110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Men (n)</a:t>
                      </a:r>
                      <a:endParaRPr lang="en-GB" sz="110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Total (n)</a:t>
                      </a:r>
                      <a:endParaRPr lang="en-GB" sz="110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48215"/>
                  </a:ext>
                </a:extLst>
              </a:tr>
              <a:tr h="39446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Alive</a:t>
                      </a:r>
                      <a:endParaRPr lang="en-GB" sz="11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48 (80%)</a:t>
                      </a:r>
                      <a:endParaRPr lang="en-GB" sz="11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29 (69%)</a:t>
                      </a:r>
                      <a:endParaRPr lang="en-GB" sz="110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77 (75%)</a:t>
                      </a:r>
                      <a:endParaRPr lang="en-GB" sz="11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7264316"/>
                  </a:ext>
                </a:extLst>
              </a:tr>
              <a:tr h="39446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Dead</a:t>
                      </a:r>
                      <a:endParaRPr lang="en-GB" sz="11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 (20%)</a:t>
                      </a:r>
                      <a:endParaRPr lang="en-GB" sz="11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13 (31%)</a:t>
                      </a:r>
                      <a:endParaRPr lang="en-GB" sz="11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 (25%)</a:t>
                      </a:r>
                      <a:endParaRPr lang="en-GB" sz="11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2269352"/>
                  </a:ext>
                </a:extLst>
              </a:tr>
              <a:tr h="39446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Total</a:t>
                      </a:r>
                      <a:endParaRPr lang="en-GB" sz="11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60 (100%)</a:t>
                      </a:r>
                      <a:endParaRPr lang="en-GB" sz="11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42 (100%)</a:t>
                      </a:r>
                      <a:endParaRPr lang="en-GB" sz="11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102 (100%)</a:t>
                      </a:r>
                      <a:endParaRPr lang="en-GB" sz="11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349801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216057A-0992-4CD6-900B-E5D11C24F3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246034"/>
              </p:ext>
            </p:extLst>
          </p:nvPr>
        </p:nvGraphicFramePr>
        <p:xfrm>
          <a:off x="1368425" y="2564643"/>
          <a:ext cx="5399314" cy="1799999"/>
        </p:xfrm>
        <a:graphic>
          <a:graphicData uri="http://schemas.openxmlformats.org/drawingml/2006/table">
            <a:tbl>
              <a:tblPr firstRow="1" firstCol="1" bandRow="1"/>
              <a:tblGrid>
                <a:gridCol w="1495493">
                  <a:extLst>
                    <a:ext uri="{9D8B030D-6E8A-4147-A177-3AD203B41FA5}">
                      <a16:colId xmlns:a16="http://schemas.microsoft.com/office/drawing/2014/main" val="3584368861"/>
                    </a:ext>
                  </a:extLst>
                </a:gridCol>
                <a:gridCol w="1204163">
                  <a:extLst>
                    <a:ext uri="{9D8B030D-6E8A-4147-A177-3AD203B41FA5}">
                      <a16:colId xmlns:a16="http://schemas.microsoft.com/office/drawing/2014/main" val="916368926"/>
                    </a:ext>
                  </a:extLst>
                </a:gridCol>
                <a:gridCol w="1320696">
                  <a:extLst>
                    <a:ext uri="{9D8B030D-6E8A-4147-A177-3AD203B41FA5}">
                      <a16:colId xmlns:a16="http://schemas.microsoft.com/office/drawing/2014/main" val="359000732"/>
                    </a:ext>
                  </a:extLst>
                </a:gridCol>
                <a:gridCol w="1378962">
                  <a:extLst>
                    <a:ext uri="{9D8B030D-6E8A-4147-A177-3AD203B41FA5}">
                      <a16:colId xmlns:a16="http://schemas.microsoft.com/office/drawing/2014/main" val="2199255717"/>
                    </a:ext>
                  </a:extLst>
                </a:gridCol>
              </a:tblGrid>
              <a:tr h="61660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Status at two years </a:t>
                      </a:r>
                      <a:endParaRPr lang="en-GB" sz="11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Women (n)</a:t>
                      </a:r>
                      <a:endParaRPr lang="en-GB" sz="110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Men (n)</a:t>
                      </a:r>
                      <a:endParaRPr lang="en-GB" sz="110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Total (n)</a:t>
                      </a:r>
                      <a:endParaRPr lang="en-GB" sz="110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48215"/>
                  </a:ext>
                </a:extLst>
              </a:tr>
              <a:tr h="39446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Alive</a:t>
                      </a:r>
                      <a:endParaRPr lang="en-GB" sz="11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48 (62%)</a:t>
                      </a:r>
                      <a:endParaRPr lang="en-GB" sz="11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29 (38%)</a:t>
                      </a:r>
                      <a:endParaRPr lang="en-GB" sz="11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77 (100%)</a:t>
                      </a:r>
                      <a:endParaRPr lang="en-GB" sz="11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7264316"/>
                  </a:ext>
                </a:extLst>
              </a:tr>
              <a:tr h="39446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Dead</a:t>
                      </a:r>
                      <a:endParaRPr lang="en-GB" sz="11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 (48%)</a:t>
                      </a:r>
                      <a:endParaRPr lang="en-GB" sz="11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13 (52%)</a:t>
                      </a:r>
                      <a:endParaRPr lang="en-GB" sz="11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 (100%)</a:t>
                      </a:r>
                      <a:endParaRPr lang="en-GB" sz="11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2269352"/>
                  </a:ext>
                </a:extLst>
              </a:tr>
              <a:tr h="39446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Total</a:t>
                      </a:r>
                      <a:endParaRPr lang="en-GB" sz="11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60 (59%)</a:t>
                      </a:r>
                      <a:endParaRPr lang="en-GB" sz="11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42 (41%)</a:t>
                      </a:r>
                      <a:endParaRPr lang="en-GB" sz="11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102 (100%)</a:t>
                      </a:r>
                      <a:endParaRPr lang="en-GB" sz="11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349801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90D42AB-6623-4616-937B-DB140DFB74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742501"/>
              </p:ext>
            </p:extLst>
          </p:nvPr>
        </p:nvGraphicFramePr>
        <p:xfrm>
          <a:off x="1368425" y="4845050"/>
          <a:ext cx="5399314" cy="1799999"/>
        </p:xfrm>
        <a:graphic>
          <a:graphicData uri="http://schemas.openxmlformats.org/drawingml/2006/table">
            <a:tbl>
              <a:tblPr firstRow="1" firstCol="1" bandRow="1"/>
              <a:tblGrid>
                <a:gridCol w="1495493">
                  <a:extLst>
                    <a:ext uri="{9D8B030D-6E8A-4147-A177-3AD203B41FA5}">
                      <a16:colId xmlns:a16="http://schemas.microsoft.com/office/drawing/2014/main" val="3584368861"/>
                    </a:ext>
                  </a:extLst>
                </a:gridCol>
                <a:gridCol w="1204163">
                  <a:extLst>
                    <a:ext uri="{9D8B030D-6E8A-4147-A177-3AD203B41FA5}">
                      <a16:colId xmlns:a16="http://schemas.microsoft.com/office/drawing/2014/main" val="916368926"/>
                    </a:ext>
                  </a:extLst>
                </a:gridCol>
                <a:gridCol w="1320696">
                  <a:extLst>
                    <a:ext uri="{9D8B030D-6E8A-4147-A177-3AD203B41FA5}">
                      <a16:colId xmlns:a16="http://schemas.microsoft.com/office/drawing/2014/main" val="359000732"/>
                    </a:ext>
                  </a:extLst>
                </a:gridCol>
                <a:gridCol w="1378962">
                  <a:extLst>
                    <a:ext uri="{9D8B030D-6E8A-4147-A177-3AD203B41FA5}">
                      <a16:colId xmlns:a16="http://schemas.microsoft.com/office/drawing/2014/main" val="2199255717"/>
                    </a:ext>
                  </a:extLst>
                </a:gridCol>
              </a:tblGrid>
              <a:tr h="61660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Status at two years </a:t>
                      </a:r>
                      <a:endParaRPr lang="en-GB" sz="11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Women (n)</a:t>
                      </a:r>
                      <a:endParaRPr lang="en-GB" sz="110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Men (n)</a:t>
                      </a:r>
                      <a:endParaRPr lang="en-GB" sz="110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Total (n)</a:t>
                      </a:r>
                      <a:endParaRPr lang="en-GB" sz="110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48215"/>
                  </a:ext>
                </a:extLst>
              </a:tr>
              <a:tr h="39446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Alive</a:t>
                      </a:r>
                      <a:endParaRPr lang="en-GB" sz="11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48 (47%)</a:t>
                      </a:r>
                      <a:endParaRPr lang="en-GB" sz="11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29 (28%)</a:t>
                      </a:r>
                      <a:endParaRPr lang="en-GB" sz="11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77 (75%)</a:t>
                      </a:r>
                      <a:endParaRPr lang="en-GB" sz="11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7264316"/>
                  </a:ext>
                </a:extLst>
              </a:tr>
              <a:tr h="39446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Dead</a:t>
                      </a:r>
                      <a:endParaRPr lang="en-GB" sz="11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 (12%)</a:t>
                      </a:r>
                      <a:endParaRPr lang="en-GB" sz="11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13 (13%)</a:t>
                      </a:r>
                      <a:endParaRPr lang="en-GB" sz="11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 (25%)</a:t>
                      </a:r>
                      <a:endParaRPr lang="en-GB" sz="11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2269352"/>
                  </a:ext>
                </a:extLst>
              </a:tr>
              <a:tr h="39446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Total</a:t>
                      </a:r>
                      <a:endParaRPr lang="en-GB" sz="11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60 (59%)</a:t>
                      </a:r>
                      <a:endParaRPr lang="en-GB" sz="11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42 (41%)</a:t>
                      </a:r>
                      <a:endParaRPr lang="en-GB" sz="11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102 (100%)</a:t>
                      </a:r>
                      <a:endParaRPr lang="en-GB" sz="1100" dirty="0">
                        <a:solidFill>
                          <a:srgbClr val="40404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3498018"/>
                  </a:ext>
                </a:extLst>
              </a:tr>
            </a:tbl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3B2AE5D1-BF4C-C317-55D5-A27D5B0A0BA0}"/>
              </a:ext>
            </a:extLst>
          </p:cNvPr>
          <p:cNvGrpSpPr/>
          <p:nvPr/>
        </p:nvGrpSpPr>
        <p:grpSpPr>
          <a:xfrm>
            <a:off x="7230359" y="980388"/>
            <a:ext cx="1030360" cy="716437"/>
            <a:chOff x="7230359" y="980388"/>
            <a:chExt cx="1030360" cy="716437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2F89D4C1-381A-8286-DD1B-B6D91A0CF18F}"/>
                </a:ext>
              </a:extLst>
            </p:cNvPr>
            <p:cNvCxnSpPr/>
            <p:nvPr/>
          </p:nvCxnSpPr>
          <p:spPr>
            <a:xfrm>
              <a:off x="7230359" y="980388"/>
              <a:ext cx="0" cy="71643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7F0ECA6-5963-41DA-4720-D43612CFB433}"/>
                </a:ext>
              </a:extLst>
            </p:cNvPr>
            <p:cNvSpPr txBox="1"/>
            <p:nvPr/>
          </p:nvSpPr>
          <p:spPr>
            <a:xfrm>
              <a:off x="7343480" y="1160463"/>
              <a:ext cx="9172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>
                  <a:solidFill>
                    <a:srgbClr val="FF0000"/>
                  </a:solidFill>
                </a:rPr>
                <a:t>column %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6206C54-6947-8A10-9340-D37788D37AB7}"/>
              </a:ext>
            </a:extLst>
          </p:cNvPr>
          <p:cNvGrpSpPr/>
          <p:nvPr/>
        </p:nvGrpSpPr>
        <p:grpSpPr>
          <a:xfrm>
            <a:off x="3487918" y="3429000"/>
            <a:ext cx="4377167" cy="307777"/>
            <a:chOff x="3487918" y="3429000"/>
            <a:chExt cx="4377167" cy="30777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886B8CB-197E-C917-820F-4A7870A58D69}"/>
                </a:ext>
              </a:extLst>
            </p:cNvPr>
            <p:cNvSpPr txBox="1"/>
            <p:nvPr/>
          </p:nvSpPr>
          <p:spPr>
            <a:xfrm>
              <a:off x="7230359" y="3429000"/>
              <a:ext cx="6347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>
                  <a:solidFill>
                    <a:srgbClr val="FF0000"/>
                  </a:solidFill>
                </a:rPr>
                <a:t>row %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FE91387-356B-69A1-9F99-9D7BE8E404AF}"/>
                </a:ext>
              </a:extLst>
            </p:cNvPr>
            <p:cNvCxnSpPr>
              <a:cxnSpLocks/>
            </p:cNvCxnSpPr>
            <p:nvPr/>
          </p:nvCxnSpPr>
          <p:spPr>
            <a:xfrm>
              <a:off x="3487918" y="3582888"/>
              <a:ext cx="3544478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65546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8170" y="693004"/>
            <a:ext cx="7553893" cy="5749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en-US" sz="2800" dirty="0">
                <a:solidFill>
                  <a:srgbClr val="40404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Clustered (grouped) bar charts</a:t>
            </a:r>
            <a:endParaRPr lang="en-GB" sz="2800" dirty="0">
              <a:solidFill>
                <a:srgbClr val="404040"/>
              </a:solidFill>
              <a:effectLst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AEE97E9A-2240-40AB-A672-4BF7BA519AE0}"/>
              </a:ext>
            </a:extLst>
          </p:cNvPr>
          <p:cNvGrpSpPr/>
          <p:nvPr/>
        </p:nvGrpSpPr>
        <p:grpSpPr>
          <a:xfrm>
            <a:off x="4764241" y="2285722"/>
            <a:ext cx="3492464" cy="2954466"/>
            <a:chOff x="4764241" y="2285722"/>
            <a:chExt cx="3492464" cy="2954466"/>
          </a:xfrm>
        </p:grpSpPr>
        <p:sp>
          <p:nvSpPr>
            <p:cNvPr id="13" name="Rectangle 66"/>
            <p:cNvSpPr>
              <a:spLocks noChangeArrowheads="1"/>
            </p:cNvSpPr>
            <p:nvPr/>
          </p:nvSpPr>
          <p:spPr bwMode="auto">
            <a:xfrm>
              <a:off x="7715509" y="2285722"/>
              <a:ext cx="471476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women</a:t>
              </a:r>
              <a:endPara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5" name="Rectangle 68"/>
            <p:cNvSpPr>
              <a:spLocks noChangeArrowheads="1"/>
            </p:cNvSpPr>
            <p:nvPr/>
          </p:nvSpPr>
          <p:spPr bwMode="auto">
            <a:xfrm>
              <a:off x="6093426" y="5024744"/>
              <a:ext cx="141667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Performance status</a:t>
              </a:r>
              <a:endPara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76" name="Freeform 5">
              <a:extLst>
                <a:ext uri="{FF2B5EF4-FFF2-40B4-BE49-F238E27FC236}">
                  <a16:creationId xmlns:a16="http://schemas.microsoft.com/office/drawing/2014/main" id="{624E2A62-5308-4A0D-9CAB-BE613294A4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78605" y="2599045"/>
              <a:ext cx="2209800" cy="2070100"/>
            </a:xfrm>
            <a:custGeom>
              <a:avLst/>
              <a:gdLst>
                <a:gd name="T0" fmla="*/ 0 w 1392"/>
                <a:gd name="T1" fmla="*/ 1106 h 1304"/>
                <a:gd name="T2" fmla="*/ 93 w 1392"/>
                <a:gd name="T3" fmla="*/ 1106 h 1304"/>
                <a:gd name="T4" fmla="*/ 93 w 1392"/>
                <a:gd name="T5" fmla="*/ 1304 h 1304"/>
                <a:gd name="T6" fmla="*/ 0 w 1392"/>
                <a:gd name="T7" fmla="*/ 1304 h 1304"/>
                <a:gd name="T8" fmla="*/ 0 w 1392"/>
                <a:gd name="T9" fmla="*/ 1106 h 1304"/>
                <a:gd name="T10" fmla="*/ 431 w 1392"/>
                <a:gd name="T11" fmla="*/ 0 h 1304"/>
                <a:gd name="T12" fmla="*/ 530 w 1392"/>
                <a:gd name="T13" fmla="*/ 0 h 1304"/>
                <a:gd name="T14" fmla="*/ 530 w 1392"/>
                <a:gd name="T15" fmla="*/ 1304 h 1304"/>
                <a:gd name="T16" fmla="*/ 431 w 1392"/>
                <a:gd name="T17" fmla="*/ 1304 h 1304"/>
                <a:gd name="T18" fmla="*/ 431 w 1392"/>
                <a:gd name="T19" fmla="*/ 0 h 1304"/>
                <a:gd name="T20" fmla="*/ 862 w 1392"/>
                <a:gd name="T21" fmla="*/ 515 h 1304"/>
                <a:gd name="T22" fmla="*/ 961 w 1392"/>
                <a:gd name="T23" fmla="*/ 515 h 1304"/>
                <a:gd name="T24" fmla="*/ 961 w 1392"/>
                <a:gd name="T25" fmla="*/ 1304 h 1304"/>
                <a:gd name="T26" fmla="*/ 862 w 1392"/>
                <a:gd name="T27" fmla="*/ 1304 h 1304"/>
                <a:gd name="T28" fmla="*/ 862 w 1392"/>
                <a:gd name="T29" fmla="*/ 515 h 1304"/>
                <a:gd name="T30" fmla="*/ 1298 w 1392"/>
                <a:gd name="T31" fmla="*/ 1223 h 1304"/>
                <a:gd name="T32" fmla="*/ 1392 w 1392"/>
                <a:gd name="T33" fmla="*/ 1223 h 1304"/>
                <a:gd name="T34" fmla="*/ 1392 w 1392"/>
                <a:gd name="T35" fmla="*/ 1304 h 1304"/>
                <a:gd name="T36" fmla="*/ 1298 w 1392"/>
                <a:gd name="T37" fmla="*/ 1304 h 1304"/>
                <a:gd name="T38" fmla="*/ 1298 w 1392"/>
                <a:gd name="T39" fmla="*/ 1223 h 1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92" h="1304">
                  <a:moveTo>
                    <a:pt x="0" y="1106"/>
                  </a:moveTo>
                  <a:lnTo>
                    <a:pt x="93" y="1106"/>
                  </a:lnTo>
                  <a:lnTo>
                    <a:pt x="93" y="1304"/>
                  </a:lnTo>
                  <a:lnTo>
                    <a:pt x="0" y="1304"/>
                  </a:lnTo>
                  <a:lnTo>
                    <a:pt x="0" y="1106"/>
                  </a:lnTo>
                  <a:close/>
                  <a:moveTo>
                    <a:pt x="431" y="0"/>
                  </a:moveTo>
                  <a:lnTo>
                    <a:pt x="530" y="0"/>
                  </a:lnTo>
                  <a:lnTo>
                    <a:pt x="530" y="1304"/>
                  </a:lnTo>
                  <a:lnTo>
                    <a:pt x="431" y="1304"/>
                  </a:lnTo>
                  <a:lnTo>
                    <a:pt x="431" y="0"/>
                  </a:lnTo>
                  <a:close/>
                  <a:moveTo>
                    <a:pt x="862" y="515"/>
                  </a:moveTo>
                  <a:lnTo>
                    <a:pt x="961" y="515"/>
                  </a:lnTo>
                  <a:lnTo>
                    <a:pt x="961" y="1304"/>
                  </a:lnTo>
                  <a:lnTo>
                    <a:pt x="862" y="1304"/>
                  </a:lnTo>
                  <a:lnTo>
                    <a:pt x="862" y="515"/>
                  </a:lnTo>
                  <a:close/>
                  <a:moveTo>
                    <a:pt x="1298" y="1223"/>
                  </a:moveTo>
                  <a:lnTo>
                    <a:pt x="1392" y="1223"/>
                  </a:lnTo>
                  <a:lnTo>
                    <a:pt x="1392" y="1304"/>
                  </a:lnTo>
                  <a:lnTo>
                    <a:pt x="1298" y="1304"/>
                  </a:lnTo>
                  <a:lnTo>
                    <a:pt x="1298" y="1223"/>
                  </a:lnTo>
                  <a:close/>
                </a:path>
              </a:pathLst>
            </a:custGeom>
            <a:solidFill>
              <a:srgbClr val="4472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" name="Freeform 6">
              <a:extLst>
                <a:ext uri="{FF2B5EF4-FFF2-40B4-BE49-F238E27FC236}">
                  <a16:creationId xmlns:a16="http://schemas.microsoft.com/office/drawing/2014/main" id="{FF3BD391-907B-49E8-A5AB-A5895FBEAF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78605" y="2599045"/>
              <a:ext cx="2209800" cy="2070100"/>
            </a:xfrm>
            <a:custGeom>
              <a:avLst/>
              <a:gdLst>
                <a:gd name="T0" fmla="*/ 0 w 1392"/>
                <a:gd name="T1" fmla="*/ 1106 h 1304"/>
                <a:gd name="T2" fmla="*/ 93 w 1392"/>
                <a:gd name="T3" fmla="*/ 1106 h 1304"/>
                <a:gd name="T4" fmla="*/ 93 w 1392"/>
                <a:gd name="T5" fmla="*/ 1304 h 1304"/>
                <a:gd name="T6" fmla="*/ 0 w 1392"/>
                <a:gd name="T7" fmla="*/ 1304 h 1304"/>
                <a:gd name="T8" fmla="*/ 0 w 1392"/>
                <a:gd name="T9" fmla="*/ 1106 h 1304"/>
                <a:gd name="T10" fmla="*/ 431 w 1392"/>
                <a:gd name="T11" fmla="*/ 0 h 1304"/>
                <a:gd name="T12" fmla="*/ 530 w 1392"/>
                <a:gd name="T13" fmla="*/ 0 h 1304"/>
                <a:gd name="T14" fmla="*/ 530 w 1392"/>
                <a:gd name="T15" fmla="*/ 1304 h 1304"/>
                <a:gd name="T16" fmla="*/ 431 w 1392"/>
                <a:gd name="T17" fmla="*/ 1304 h 1304"/>
                <a:gd name="T18" fmla="*/ 431 w 1392"/>
                <a:gd name="T19" fmla="*/ 0 h 1304"/>
                <a:gd name="T20" fmla="*/ 862 w 1392"/>
                <a:gd name="T21" fmla="*/ 515 h 1304"/>
                <a:gd name="T22" fmla="*/ 961 w 1392"/>
                <a:gd name="T23" fmla="*/ 515 h 1304"/>
                <a:gd name="T24" fmla="*/ 961 w 1392"/>
                <a:gd name="T25" fmla="*/ 1304 h 1304"/>
                <a:gd name="T26" fmla="*/ 862 w 1392"/>
                <a:gd name="T27" fmla="*/ 1304 h 1304"/>
                <a:gd name="T28" fmla="*/ 862 w 1392"/>
                <a:gd name="T29" fmla="*/ 515 h 1304"/>
                <a:gd name="T30" fmla="*/ 1298 w 1392"/>
                <a:gd name="T31" fmla="*/ 1223 h 1304"/>
                <a:gd name="T32" fmla="*/ 1392 w 1392"/>
                <a:gd name="T33" fmla="*/ 1223 h 1304"/>
                <a:gd name="T34" fmla="*/ 1392 w 1392"/>
                <a:gd name="T35" fmla="*/ 1304 h 1304"/>
                <a:gd name="T36" fmla="*/ 1298 w 1392"/>
                <a:gd name="T37" fmla="*/ 1304 h 1304"/>
                <a:gd name="T38" fmla="*/ 1298 w 1392"/>
                <a:gd name="T39" fmla="*/ 1223 h 1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92" h="1304">
                  <a:moveTo>
                    <a:pt x="0" y="1106"/>
                  </a:moveTo>
                  <a:lnTo>
                    <a:pt x="93" y="1106"/>
                  </a:lnTo>
                  <a:lnTo>
                    <a:pt x="93" y="1304"/>
                  </a:lnTo>
                  <a:lnTo>
                    <a:pt x="0" y="1304"/>
                  </a:lnTo>
                  <a:lnTo>
                    <a:pt x="0" y="1106"/>
                  </a:lnTo>
                  <a:close/>
                  <a:moveTo>
                    <a:pt x="431" y="0"/>
                  </a:moveTo>
                  <a:lnTo>
                    <a:pt x="530" y="0"/>
                  </a:lnTo>
                  <a:lnTo>
                    <a:pt x="530" y="1304"/>
                  </a:lnTo>
                  <a:lnTo>
                    <a:pt x="431" y="1304"/>
                  </a:lnTo>
                  <a:lnTo>
                    <a:pt x="431" y="0"/>
                  </a:lnTo>
                  <a:close/>
                  <a:moveTo>
                    <a:pt x="862" y="515"/>
                  </a:moveTo>
                  <a:lnTo>
                    <a:pt x="961" y="515"/>
                  </a:lnTo>
                  <a:lnTo>
                    <a:pt x="961" y="1304"/>
                  </a:lnTo>
                  <a:lnTo>
                    <a:pt x="862" y="1304"/>
                  </a:lnTo>
                  <a:lnTo>
                    <a:pt x="862" y="515"/>
                  </a:lnTo>
                  <a:close/>
                  <a:moveTo>
                    <a:pt x="1298" y="1223"/>
                  </a:moveTo>
                  <a:lnTo>
                    <a:pt x="1392" y="1223"/>
                  </a:lnTo>
                  <a:lnTo>
                    <a:pt x="1392" y="1304"/>
                  </a:lnTo>
                  <a:lnTo>
                    <a:pt x="1298" y="1304"/>
                  </a:lnTo>
                  <a:lnTo>
                    <a:pt x="1298" y="1223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" name="Freeform 7">
              <a:extLst>
                <a:ext uri="{FF2B5EF4-FFF2-40B4-BE49-F238E27FC236}">
                  <a16:creationId xmlns:a16="http://schemas.microsoft.com/office/drawing/2014/main" id="{180FCD3D-0A36-4E8D-AC34-2990C901A7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72280" y="2700645"/>
              <a:ext cx="2219325" cy="1968500"/>
            </a:xfrm>
            <a:custGeom>
              <a:avLst/>
              <a:gdLst>
                <a:gd name="T0" fmla="*/ 0 w 1398"/>
                <a:gd name="T1" fmla="*/ 843 h 1240"/>
                <a:gd name="T2" fmla="*/ 99 w 1398"/>
                <a:gd name="T3" fmla="*/ 843 h 1240"/>
                <a:gd name="T4" fmla="*/ 99 w 1398"/>
                <a:gd name="T5" fmla="*/ 1240 h 1240"/>
                <a:gd name="T6" fmla="*/ 0 w 1398"/>
                <a:gd name="T7" fmla="*/ 1240 h 1240"/>
                <a:gd name="T8" fmla="*/ 0 w 1398"/>
                <a:gd name="T9" fmla="*/ 843 h 1240"/>
                <a:gd name="T10" fmla="*/ 431 w 1398"/>
                <a:gd name="T11" fmla="*/ 0 h 1240"/>
                <a:gd name="T12" fmla="*/ 530 w 1398"/>
                <a:gd name="T13" fmla="*/ 0 h 1240"/>
                <a:gd name="T14" fmla="*/ 530 w 1398"/>
                <a:gd name="T15" fmla="*/ 1240 h 1240"/>
                <a:gd name="T16" fmla="*/ 431 w 1398"/>
                <a:gd name="T17" fmla="*/ 1240 h 1240"/>
                <a:gd name="T18" fmla="*/ 431 w 1398"/>
                <a:gd name="T19" fmla="*/ 0 h 1240"/>
                <a:gd name="T20" fmla="*/ 868 w 1398"/>
                <a:gd name="T21" fmla="*/ 620 h 1240"/>
                <a:gd name="T22" fmla="*/ 961 w 1398"/>
                <a:gd name="T23" fmla="*/ 620 h 1240"/>
                <a:gd name="T24" fmla="*/ 961 w 1398"/>
                <a:gd name="T25" fmla="*/ 1240 h 1240"/>
                <a:gd name="T26" fmla="*/ 868 w 1398"/>
                <a:gd name="T27" fmla="*/ 1240 h 1240"/>
                <a:gd name="T28" fmla="*/ 868 w 1398"/>
                <a:gd name="T29" fmla="*/ 620 h 1240"/>
                <a:gd name="T30" fmla="*/ 1299 w 1398"/>
                <a:gd name="T31" fmla="*/ 1123 h 1240"/>
                <a:gd name="T32" fmla="*/ 1398 w 1398"/>
                <a:gd name="T33" fmla="*/ 1123 h 1240"/>
                <a:gd name="T34" fmla="*/ 1398 w 1398"/>
                <a:gd name="T35" fmla="*/ 1240 h 1240"/>
                <a:gd name="T36" fmla="*/ 1299 w 1398"/>
                <a:gd name="T37" fmla="*/ 1240 h 1240"/>
                <a:gd name="T38" fmla="*/ 1299 w 1398"/>
                <a:gd name="T39" fmla="*/ 1123 h 1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98" h="1240">
                  <a:moveTo>
                    <a:pt x="0" y="843"/>
                  </a:moveTo>
                  <a:lnTo>
                    <a:pt x="99" y="843"/>
                  </a:lnTo>
                  <a:lnTo>
                    <a:pt x="99" y="1240"/>
                  </a:lnTo>
                  <a:lnTo>
                    <a:pt x="0" y="1240"/>
                  </a:lnTo>
                  <a:lnTo>
                    <a:pt x="0" y="843"/>
                  </a:lnTo>
                  <a:close/>
                  <a:moveTo>
                    <a:pt x="431" y="0"/>
                  </a:moveTo>
                  <a:lnTo>
                    <a:pt x="530" y="0"/>
                  </a:lnTo>
                  <a:lnTo>
                    <a:pt x="530" y="1240"/>
                  </a:lnTo>
                  <a:lnTo>
                    <a:pt x="431" y="1240"/>
                  </a:lnTo>
                  <a:lnTo>
                    <a:pt x="431" y="0"/>
                  </a:lnTo>
                  <a:close/>
                  <a:moveTo>
                    <a:pt x="868" y="620"/>
                  </a:moveTo>
                  <a:lnTo>
                    <a:pt x="961" y="620"/>
                  </a:lnTo>
                  <a:lnTo>
                    <a:pt x="961" y="1240"/>
                  </a:lnTo>
                  <a:lnTo>
                    <a:pt x="868" y="1240"/>
                  </a:lnTo>
                  <a:lnTo>
                    <a:pt x="868" y="620"/>
                  </a:lnTo>
                  <a:close/>
                  <a:moveTo>
                    <a:pt x="1299" y="1123"/>
                  </a:moveTo>
                  <a:lnTo>
                    <a:pt x="1398" y="1123"/>
                  </a:lnTo>
                  <a:lnTo>
                    <a:pt x="1398" y="1240"/>
                  </a:lnTo>
                  <a:lnTo>
                    <a:pt x="1299" y="1240"/>
                  </a:lnTo>
                  <a:lnTo>
                    <a:pt x="1299" y="1123"/>
                  </a:lnTo>
                  <a:close/>
                </a:path>
              </a:pathLst>
            </a:custGeom>
            <a:solidFill>
              <a:srgbClr val="ED7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9" name="Freeform 8">
              <a:extLst>
                <a:ext uri="{FF2B5EF4-FFF2-40B4-BE49-F238E27FC236}">
                  <a16:creationId xmlns:a16="http://schemas.microsoft.com/office/drawing/2014/main" id="{D566255B-F9DA-43E5-B1DB-BB620F94A9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72280" y="2700645"/>
              <a:ext cx="2219325" cy="1968500"/>
            </a:xfrm>
            <a:custGeom>
              <a:avLst/>
              <a:gdLst>
                <a:gd name="T0" fmla="*/ 0 w 1398"/>
                <a:gd name="T1" fmla="*/ 843 h 1240"/>
                <a:gd name="T2" fmla="*/ 99 w 1398"/>
                <a:gd name="T3" fmla="*/ 843 h 1240"/>
                <a:gd name="T4" fmla="*/ 99 w 1398"/>
                <a:gd name="T5" fmla="*/ 1240 h 1240"/>
                <a:gd name="T6" fmla="*/ 0 w 1398"/>
                <a:gd name="T7" fmla="*/ 1240 h 1240"/>
                <a:gd name="T8" fmla="*/ 0 w 1398"/>
                <a:gd name="T9" fmla="*/ 843 h 1240"/>
                <a:gd name="T10" fmla="*/ 431 w 1398"/>
                <a:gd name="T11" fmla="*/ 0 h 1240"/>
                <a:gd name="T12" fmla="*/ 530 w 1398"/>
                <a:gd name="T13" fmla="*/ 0 h 1240"/>
                <a:gd name="T14" fmla="*/ 530 w 1398"/>
                <a:gd name="T15" fmla="*/ 1240 h 1240"/>
                <a:gd name="T16" fmla="*/ 431 w 1398"/>
                <a:gd name="T17" fmla="*/ 1240 h 1240"/>
                <a:gd name="T18" fmla="*/ 431 w 1398"/>
                <a:gd name="T19" fmla="*/ 0 h 1240"/>
                <a:gd name="T20" fmla="*/ 868 w 1398"/>
                <a:gd name="T21" fmla="*/ 620 h 1240"/>
                <a:gd name="T22" fmla="*/ 961 w 1398"/>
                <a:gd name="T23" fmla="*/ 620 h 1240"/>
                <a:gd name="T24" fmla="*/ 961 w 1398"/>
                <a:gd name="T25" fmla="*/ 1240 h 1240"/>
                <a:gd name="T26" fmla="*/ 868 w 1398"/>
                <a:gd name="T27" fmla="*/ 1240 h 1240"/>
                <a:gd name="T28" fmla="*/ 868 w 1398"/>
                <a:gd name="T29" fmla="*/ 620 h 1240"/>
                <a:gd name="T30" fmla="*/ 1299 w 1398"/>
                <a:gd name="T31" fmla="*/ 1123 h 1240"/>
                <a:gd name="T32" fmla="*/ 1398 w 1398"/>
                <a:gd name="T33" fmla="*/ 1123 h 1240"/>
                <a:gd name="T34" fmla="*/ 1398 w 1398"/>
                <a:gd name="T35" fmla="*/ 1240 h 1240"/>
                <a:gd name="T36" fmla="*/ 1299 w 1398"/>
                <a:gd name="T37" fmla="*/ 1240 h 1240"/>
                <a:gd name="T38" fmla="*/ 1299 w 1398"/>
                <a:gd name="T39" fmla="*/ 1123 h 1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98" h="1240">
                  <a:moveTo>
                    <a:pt x="0" y="843"/>
                  </a:moveTo>
                  <a:lnTo>
                    <a:pt x="99" y="843"/>
                  </a:lnTo>
                  <a:lnTo>
                    <a:pt x="99" y="1240"/>
                  </a:lnTo>
                  <a:lnTo>
                    <a:pt x="0" y="1240"/>
                  </a:lnTo>
                  <a:lnTo>
                    <a:pt x="0" y="843"/>
                  </a:lnTo>
                  <a:close/>
                  <a:moveTo>
                    <a:pt x="431" y="0"/>
                  </a:moveTo>
                  <a:lnTo>
                    <a:pt x="530" y="0"/>
                  </a:lnTo>
                  <a:lnTo>
                    <a:pt x="530" y="1240"/>
                  </a:lnTo>
                  <a:lnTo>
                    <a:pt x="431" y="1240"/>
                  </a:lnTo>
                  <a:lnTo>
                    <a:pt x="431" y="0"/>
                  </a:lnTo>
                  <a:close/>
                  <a:moveTo>
                    <a:pt x="868" y="620"/>
                  </a:moveTo>
                  <a:lnTo>
                    <a:pt x="961" y="620"/>
                  </a:lnTo>
                  <a:lnTo>
                    <a:pt x="961" y="1240"/>
                  </a:lnTo>
                  <a:lnTo>
                    <a:pt x="868" y="1240"/>
                  </a:lnTo>
                  <a:lnTo>
                    <a:pt x="868" y="620"/>
                  </a:lnTo>
                  <a:close/>
                  <a:moveTo>
                    <a:pt x="1299" y="1123"/>
                  </a:moveTo>
                  <a:lnTo>
                    <a:pt x="1398" y="1123"/>
                  </a:lnTo>
                  <a:lnTo>
                    <a:pt x="1398" y="1240"/>
                  </a:lnTo>
                  <a:lnTo>
                    <a:pt x="1299" y="1240"/>
                  </a:lnTo>
                  <a:lnTo>
                    <a:pt x="1299" y="1123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0" name="Line 9">
              <a:extLst>
                <a:ext uri="{FF2B5EF4-FFF2-40B4-BE49-F238E27FC236}">
                  <a16:creationId xmlns:a16="http://schemas.microsoft.com/office/drawing/2014/main" id="{C52D7F44-484D-46BC-BD99-E37092E65F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02392" y="2413308"/>
              <a:ext cx="0" cy="22558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1" name="Line 10">
              <a:extLst>
                <a:ext uri="{FF2B5EF4-FFF2-40B4-BE49-F238E27FC236}">
                  <a16:creationId xmlns:a16="http://schemas.microsoft.com/office/drawing/2014/main" id="{71E4B3E6-1F7C-40C3-9222-616B49B368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02392" y="4669145"/>
              <a:ext cx="275431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2" name="Rectangle 11">
              <a:extLst>
                <a:ext uri="{FF2B5EF4-FFF2-40B4-BE49-F238E27FC236}">
                  <a16:creationId xmlns:a16="http://schemas.microsoft.com/office/drawing/2014/main" id="{C3FE7EB2-179B-4A6F-B804-F995734D89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4755" y="4596120"/>
              <a:ext cx="72136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0</a:t>
              </a:r>
              <a:endPara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83" name="Rectangle 12">
              <a:extLst>
                <a:ext uri="{FF2B5EF4-FFF2-40B4-BE49-F238E27FC236}">
                  <a16:creationId xmlns:a16="http://schemas.microsoft.com/office/drawing/2014/main" id="{475CB183-3CEB-4FFB-82AE-01C369980E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9192" y="4224645"/>
              <a:ext cx="14427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10</a:t>
              </a:r>
              <a:endPara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84" name="Rectangle 13">
              <a:extLst>
                <a:ext uri="{FF2B5EF4-FFF2-40B4-BE49-F238E27FC236}">
                  <a16:creationId xmlns:a16="http://schemas.microsoft.com/office/drawing/2014/main" id="{0D4910F2-0157-4C51-B9C5-3E0E969EC8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9192" y="3843645"/>
              <a:ext cx="14427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20</a:t>
              </a:r>
              <a:endPara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85" name="Rectangle 14">
              <a:extLst>
                <a:ext uri="{FF2B5EF4-FFF2-40B4-BE49-F238E27FC236}">
                  <a16:creationId xmlns:a16="http://schemas.microsoft.com/office/drawing/2014/main" id="{4A7B36F1-3E34-4ABF-8E51-29917AF73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9192" y="3472170"/>
              <a:ext cx="14427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30</a:t>
              </a:r>
              <a:endPara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86" name="Rectangle 15">
              <a:extLst>
                <a:ext uri="{FF2B5EF4-FFF2-40B4-BE49-F238E27FC236}">
                  <a16:creationId xmlns:a16="http://schemas.microsoft.com/office/drawing/2014/main" id="{088A09FB-BCFB-4900-9A05-D15511FE87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9192" y="3091170"/>
              <a:ext cx="14427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40</a:t>
              </a:r>
              <a:endPara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87" name="Rectangle 16">
              <a:extLst>
                <a:ext uri="{FF2B5EF4-FFF2-40B4-BE49-F238E27FC236}">
                  <a16:creationId xmlns:a16="http://schemas.microsoft.com/office/drawing/2014/main" id="{D83C3091-77E8-4A82-AFE4-55D0347DFC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9192" y="2719695"/>
              <a:ext cx="14427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50</a:t>
              </a:r>
              <a:endPara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88" name="Rectangle 17">
              <a:extLst>
                <a:ext uri="{FF2B5EF4-FFF2-40B4-BE49-F238E27FC236}">
                  <a16:creationId xmlns:a16="http://schemas.microsoft.com/office/drawing/2014/main" id="{B854CADA-ECF7-4A86-8DD6-0253FA236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9192" y="2348220"/>
              <a:ext cx="14427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60</a:t>
              </a:r>
              <a:endPara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89" name="Rectangle 18">
              <a:extLst>
                <a:ext uri="{FF2B5EF4-FFF2-40B4-BE49-F238E27FC236}">
                  <a16:creationId xmlns:a16="http://schemas.microsoft.com/office/drawing/2014/main" id="{92945001-DA93-41D5-A60D-310811C60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6242" y="4745345"/>
              <a:ext cx="72136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0</a:t>
              </a:r>
              <a:endPara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90" name="Rectangle 19">
              <a:extLst>
                <a:ext uri="{FF2B5EF4-FFF2-40B4-BE49-F238E27FC236}">
                  <a16:creationId xmlns:a16="http://schemas.microsoft.com/office/drawing/2014/main" id="{8144FEC8-1841-4A26-A36A-4398391BEB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0455" y="4745345"/>
              <a:ext cx="72136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1</a:t>
              </a:r>
              <a:endPara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91" name="Rectangle 20">
              <a:extLst>
                <a:ext uri="{FF2B5EF4-FFF2-40B4-BE49-F238E27FC236}">
                  <a16:creationId xmlns:a16="http://schemas.microsoft.com/office/drawing/2014/main" id="{0C715D41-6E87-4C81-99FB-3293778DB4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4192" y="4745345"/>
              <a:ext cx="72136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2</a:t>
              </a:r>
              <a:endPara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92" name="Rectangle 21">
              <a:extLst>
                <a:ext uri="{FF2B5EF4-FFF2-40B4-BE49-F238E27FC236}">
                  <a16:creationId xmlns:a16="http://schemas.microsoft.com/office/drawing/2014/main" id="{3BA8AD70-07AC-402B-BCAB-837D70EB3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8405" y="4745345"/>
              <a:ext cx="72136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3</a:t>
              </a:r>
              <a:endPara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14" name="Rectangle 66">
              <a:extLst>
                <a:ext uri="{FF2B5EF4-FFF2-40B4-BE49-F238E27FC236}">
                  <a16:creationId xmlns:a16="http://schemas.microsoft.com/office/drawing/2014/main" id="{F0D98227-99F8-4F1C-970F-565601B3F8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7168" y="2515234"/>
              <a:ext cx="280526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men</a:t>
              </a:r>
              <a:endPara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79C7F3F4-F677-4C03-890F-B5C5281D5988}"/>
                </a:ext>
              </a:extLst>
            </p:cNvPr>
            <p:cNvSpPr/>
            <p:nvPr/>
          </p:nvSpPr>
          <p:spPr>
            <a:xfrm>
              <a:off x="7474923" y="2317230"/>
              <a:ext cx="147600" cy="146323"/>
            </a:xfrm>
            <a:prstGeom prst="rect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6F7B530D-AA33-48CB-B18E-4C7313E78B5C}"/>
                </a:ext>
              </a:extLst>
            </p:cNvPr>
            <p:cNvSpPr/>
            <p:nvPr/>
          </p:nvSpPr>
          <p:spPr>
            <a:xfrm>
              <a:off x="7474923" y="2551284"/>
              <a:ext cx="147600" cy="146323"/>
            </a:xfrm>
            <a:prstGeom prst="rect">
              <a:avLst/>
            </a:prstGeom>
            <a:solidFill>
              <a:srgbClr val="ED7D3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7" name="Rectangle 66">
              <a:extLst>
                <a:ext uri="{FF2B5EF4-FFF2-40B4-BE49-F238E27FC236}">
                  <a16:creationId xmlns:a16="http://schemas.microsoft.com/office/drawing/2014/main" id="{E6E36510-6FA4-4187-B617-6CE1280853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4241" y="3372142"/>
              <a:ext cx="16030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2BF51786-5C8B-47BC-8EE9-547E832731AC}"/>
              </a:ext>
            </a:extLst>
          </p:cNvPr>
          <p:cNvGrpSpPr/>
          <p:nvPr/>
        </p:nvGrpSpPr>
        <p:grpSpPr>
          <a:xfrm>
            <a:off x="887295" y="2249955"/>
            <a:ext cx="3351139" cy="2990233"/>
            <a:chOff x="887295" y="2249955"/>
            <a:chExt cx="3351139" cy="2990233"/>
          </a:xfrm>
        </p:grpSpPr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6F886BBA-73D6-4B70-81F2-8C55B1953308}"/>
                </a:ext>
              </a:extLst>
            </p:cNvPr>
            <p:cNvGrpSpPr/>
            <p:nvPr/>
          </p:nvGrpSpPr>
          <p:grpSpPr>
            <a:xfrm>
              <a:off x="887295" y="2348220"/>
              <a:ext cx="3243263" cy="2891968"/>
              <a:chOff x="4857750" y="2774950"/>
              <a:chExt cx="3243263" cy="2891968"/>
            </a:xfrm>
          </p:grpSpPr>
          <p:sp>
            <p:nvSpPr>
              <p:cNvPr id="95" name="Freeform 25">
                <a:extLst>
                  <a:ext uri="{FF2B5EF4-FFF2-40B4-BE49-F238E27FC236}">
                    <a16:creationId xmlns:a16="http://schemas.microsoft.com/office/drawing/2014/main" id="{006468C6-ECAE-40D3-8AC5-CD2876FCDFA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22913" y="2970213"/>
                <a:ext cx="2209800" cy="2125662"/>
              </a:xfrm>
              <a:custGeom>
                <a:avLst/>
                <a:gdLst>
                  <a:gd name="T0" fmla="*/ 0 w 1392"/>
                  <a:gd name="T1" fmla="*/ 1135 h 1339"/>
                  <a:gd name="T2" fmla="*/ 93 w 1392"/>
                  <a:gd name="T3" fmla="*/ 1135 h 1339"/>
                  <a:gd name="T4" fmla="*/ 93 w 1392"/>
                  <a:gd name="T5" fmla="*/ 1339 h 1339"/>
                  <a:gd name="T6" fmla="*/ 0 w 1392"/>
                  <a:gd name="T7" fmla="*/ 1339 h 1339"/>
                  <a:gd name="T8" fmla="*/ 0 w 1392"/>
                  <a:gd name="T9" fmla="*/ 1135 h 1339"/>
                  <a:gd name="T10" fmla="*/ 431 w 1392"/>
                  <a:gd name="T11" fmla="*/ 0 h 1339"/>
                  <a:gd name="T12" fmla="*/ 530 w 1392"/>
                  <a:gd name="T13" fmla="*/ 0 h 1339"/>
                  <a:gd name="T14" fmla="*/ 530 w 1392"/>
                  <a:gd name="T15" fmla="*/ 1339 h 1339"/>
                  <a:gd name="T16" fmla="*/ 431 w 1392"/>
                  <a:gd name="T17" fmla="*/ 1339 h 1339"/>
                  <a:gd name="T18" fmla="*/ 431 w 1392"/>
                  <a:gd name="T19" fmla="*/ 0 h 1339"/>
                  <a:gd name="T20" fmla="*/ 862 w 1392"/>
                  <a:gd name="T21" fmla="*/ 526 h 1339"/>
                  <a:gd name="T22" fmla="*/ 961 w 1392"/>
                  <a:gd name="T23" fmla="*/ 526 h 1339"/>
                  <a:gd name="T24" fmla="*/ 961 w 1392"/>
                  <a:gd name="T25" fmla="*/ 1339 h 1339"/>
                  <a:gd name="T26" fmla="*/ 862 w 1392"/>
                  <a:gd name="T27" fmla="*/ 1339 h 1339"/>
                  <a:gd name="T28" fmla="*/ 862 w 1392"/>
                  <a:gd name="T29" fmla="*/ 526 h 1339"/>
                  <a:gd name="T30" fmla="*/ 1298 w 1392"/>
                  <a:gd name="T31" fmla="*/ 1258 h 1339"/>
                  <a:gd name="T32" fmla="*/ 1392 w 1392"/>
                  <a:gd name="T33" fmla="*/ 1258 h 1339"/>
                  <a:gd name="T34" fmla="*/ 1392 w 1392"/>
                  <a:gd name="T35" fmla="*/ 1339 h 1339"/>
                  <a:gd name="T36" fmla="*/ 1298 w 1392"/>
                  <a:gd name="T37" fmla="*/ 1339 h 1339"/>
                  <a:gd name="T38" fmla="*/ 1298 w 1392"/>
                  <a:gd name="T39" fmla="*/ 1258 h 13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392" h="1339">
                    <a:moveTo>
                      <a:pt x="0" y="1135"/>
                    </a:moveTo>
                    <a:lnTo>
                      <a:pt x="93" y="1135"/>
                    </a:lnTo>
                    <a:lnTo>
                      <a:pt x="93" y="1339"/>
                    </a:lnTo>
                    <a:lnTo>
                      <a:pt x="0" y="1339"/>
                    </a:lnTo>
                    <a:lnTo>
                      <a:pt x="0" y="1135"/>
                    </a:lnTo>
                    <a:close/>
                    <a:moveTo>
                      <a:pt x="431" y="0"/>
                    </a:moveTo>
                    <a:lnTo>
                      <a:pt x="530" y="0"/>
                    </a:lnTo>
                    <a:lnTo>
                      <a:pt x="530" y="1339"/>
                    </a:lnTo>
                    <a:lnTo>
                      <a:pt x="431" y="1339"/>
                    </a:lnTo>
                    <a:lnTo>
                      <a:pt x="431" y="0"/>
                    </a:lnTo>
                    <a:close/>
                    <a:moveTo>
                      <a:pt x="862" y="526"/>
                    </a:moveTo>
                    <a:lnTo>
                      <a:pt x="961" y="526"/>
                    </a:lnTo>
                    <a:lnTo>
                      <a:pt x="961" y="1339"/>
                    </a:lnTo>
                    <a:lnTo>
                      <a:pt x="862" y="1339"/>
                    </a:lnTo>
                    <a:lnTo>
                      <a:pt x="862" y="526"/>
                    </a:lnTo>
                    <a:close/>
                    <a:moveTo>
                      <a:pt x="1298" y="1258"/>
                    </a:moveTo>
                    <a:lnTo>
                      <a:pt x="1392" y="1258"/>
                    </a:lnTo>
                    <a:lnTo>
                      <a:pt x="1392" y="1339"/>
                    </a:lnTo>
                    <a:lnTo>
                      <a:pt x="1298" y="1339"/>
                    </a:lnTo>
                    <a:lnTo>
                      <a:pt x="1298" y="1258"/>
                    </a:lnTo>
                    <a:close/>
                  </a:path>
                </a:pathLst>
              </a:custGeom>
              <a:solidFill>
                <a:srgbClr val="4472C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6" name="Freeform 26">
                <a:extLst>
                  <a:ext uri="{FF2B5EF4-FFF2-40B4-BE49-F238E27FC236}">
                    <a16:creationId xmlns:a16="http://schemas.microsoft.com/office/drawing/2014/main" id="{E768E004-A695-4E4D-BC3A-533D20C432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22913" y="2970213"/>
                <a:ext cx="2209800" cy="2125662"/>
              </a:xfrm>
              <a:custGeom>
                <a:avLst/>
                <a:gdLst>
                  <a:gd name="T0" fmla="*/ 0 w 1392"/>
                  <a:gd name="T1" fmla="*/ 1135 h 1339"/>
                  <a:gd name="T2" fmla="*/ 93 w 1392"/>
                  <a:gd name="T3" fmla="*/ 1135 h 1339"/>
                  <a:gd name="T4" fmla="*/ 93 w 1392"/>
                  <a:gd name="T5" fmla="*/ 1339 h 1339"/>
                  <a:gd name="T6" fmla="*/ 0 w 1392"/>
                  <a:gd name="T7" fmla="*/ 1339 h 1339"/>
                  <a:gd name="T8" fmla="*/ 0 w 1392"/>
                  <a:gd name="T9" fmla="*/ 1135 h 1339"/>
                  <a:gd name="T10" fmla="*/ 431 w 1392"/>
                  <a:gd name="T11" fmla="*/ 0 h 1339"/>
                  <a:gd name="T12" fmla="*/ 530 w 1392"/>
                  <a:gd name="T13" fmla="*/ 0 h 1339"/>
                  <a:gd name="T14" fmla="*/ 530 w 1392"/>
                  <a:gd name="T15" fmla="*/ 1339 h 1339"/>
                  <a:gd name="T16" fmla="*/ 431 w 1392"/>
                  <a:gd name="T17" fmla="*/ 1339 h 1339"/>
                  <a:gd name="T18" fmla="*/ 431 w 1392"/>
                  <a:gd name="T19" fmla="*/ 0 h 1339"/>
                  <a:gd name="T20" fmla="*/ 862 w 1392"/>
                  <a:gd name="T21" fmla="*/ 526 h 1339"/>
                  <a:gd name="T22" fmla="*/ 961 w 1392"/>
                  <a:gd name="T23" fmla="*/ 526 h 1339"/>
                  <a:gd name="T24" fmla="*/ 961 w 1392"/>
                  <a:gd name="T25" fmla="*/ 1339 h 1339"/>
                  <a:gd name="T26" fmla="*/ 862 w 1392"/>
                  <a:gd name="T27" fmla="*/ 1339 h 1339"/>
                  <a:gd name="T28" fmla="*/ 862 w 1392"/>
                  <a:gd name="T29" fmla="*/ 526 h 1339"/>
                  <a:gd name="T30" fmla="*/ 1298 w 1392"/>
                  <a:gd name="T31" fmla="*/ 1258 h 1339"/>
                  <a:gd name="T32" fmla="*/ 1392 w 1392"/>
                  <a:gd name="T33" fmla="*/ 1258 h 1339"/>
                  <a:gd name="T34" fmla="*/ 1392 w 1392"/>
                  <a:gd name="T35" fmla="*/ 1339 h 1339"/>
                  <a:gd name="T36" fmla="*/ 1298 w 1392"/>
                  <a:gd name="T37" fmla="*/ 1339 h 1339"/>
                  <a:gd name="T38" fmla="*/ 1298 w 1392"/>
                  <a:gd name="T39" fmla="*/ 1258 h 13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392" h="1339">
                    <a:moveTo>
                      <a:pt x="0" y="1135"/>
                    </a:moveTo>
                    <a:lnTo>
                      <a:pt x="93" y="1135"/>
                    </a:lnTo>
                    <a:lnTo>
                      <a:pt x="93" y="1339"/>
                    </a:lnTo>
                    <a:lnTo>
                      <a:pt x="0" y="1339"/>
                    </a:lnTo>
                    <a:lnTo>
                      <a:pt x="0" y="1135"/>
                    </a:lnTo>
                    <a:close/>
                    <a:moveTo>
                      <a:pt x="431" y="0"/>
                    </a:moveTo>
                    <a:lnTo>
                      <a:pt x="530" y="0"/>
                    </a:lnTo>
                    <a:lnTo>
                      <a:pt x="530" y="1339"/>
                    </a:lnTo>
                    <a:lnTo>
                      <a:pt x="431" y="1339"/>
                    </a:lnTo>
                    <a:lnTo>
                      <a:pt x="431" y="0"/>
                    </a:lnTo>
                    <a:close/>
                    <a:moveTo>
                      <a:pt x="862" y="526"/>
                    </a:moveTo>
                    <a:lnTo>
                      <a:pt x="961" y="526"/>
                    </a:lnTo>
                    <a:lnTo>
                      <a:pt x="961" y="1339"/>
                    </a:lnTo>
                    <a:lnTo>
                      <a:pt x="862" y="1339"/>
                    </a:lnTo>
                    <a:lnTo>
                      <a:pt x="862" y="526"/>
                    </a:lnTo>
                    <a:close/>
                    <a:moveTo>
                      <a:pt x="1298" y="1258"/>
                    </a:moveTo>
                    <a:lnTo>
                      <a:pt x="1392" y="1258"/>
                    </a:lnTo>
                    <a:lnTo>
                      <a:pt x="1392" y="1339"/>
                    </a:lnTo>
                    <a:lnTo>
                      <a:pt x="1298" y="1339"/>
                    </a:lnTo>
                    <a:lnTo>
                      <a:pt x="1298" y="1258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7" name="Freeform 27">
                <a:extLst>
                  <a:ext uri="{FF2B5EF4-FFF2-40B4-BE49-F238E27FC236}">
                    <a16:creationId xmlns:a16="http://schemas.microsoft.com/office/drawing/2014/main" id="{EA4E05EC-CEF6-4B38-9EE1-0A676501D3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16588" y="3675063"/>
                <a:ext cx="2219325" cy="1420812"/>
              </a:xfrm>
              <a:custGeom>
                <a:avLst/>
                <a:gdLst>
                  <a:gd name="T0" fmla="*/ 0 w 1398"/>
                  <a:gd name="T1" fmla="*/ 609 h 895"/>
                  <a:gd name="T2" fmla="*/ 99 w 1398"/>
                  <a:gd name="T3" fmla="*/ 609 h 895"/>
                  <a:gd name="T4" fmla="*/ 99 w 1398"/>
                  <a:gd name="T5" fmla="*/ 895 h 895"/>
                  <a:gd name="T6" fmla="*/ 0 w 1398"/>
                  <a:gd name="T7" fmla="*/ 895 h 895"/>
                  <a:gd name="T8" fmla="*/ 0 w 1398"/>
                  <a:gd name="T9" fmla="*/ 609 h 895"/>
                  <a:gd name="T10" fmla="*/ 431 w 1398"/>
                  <a:gd name="T11" fmla="*/ 0 h 895"/>
                  <a:gd name="T12" fmla="*/ 530 w 1398"/>
                  <a:gd name="T13" fmla="*/ 0 h 895"/>
                  <a:gd name="T14" fmla="*/ 530 w 1398"/>
                  <a:gd name="T15" fmla="*/ 895 h 895"/>
                  <a:gd name="T16" fmla="*/ 431 w 1398"/>
                  <a:gd name="T17" fmla="*/ 895 h 895"/>
                  <a:gd name="T18" fmla="*/ 431 w 1398"/>
                  <a:gd name="T19" fmla="*/ 0 h 895"/>
                  <a:gd name="T20" fmla="*/ 868 w 1398"/>
                  <a:gd name="T21" fmla="*/ 445 h 895"/>
                  <a:gd name="T22" fmla="*/ 961 w 1398"/>
                  <a:gd name="T23" fmla="*/ 445 h 895"/>
                  <a:gd name="T24" fmla="*/ 961 w 1398"/>
                  <a:gd name="T25" fmla="*/ 895 h 895"/>
                  <a:gd name="T26" fmla="*/ 868 w 1398"/>
                  <a:gd name="T27" fmla="*/ 895 h 895"/>
                  <a:gd name="T28" fmla="*/ 868 w 1398"/>
                  <a:gd name="T29" fmla="*/ 445 h 895"/>
                  <a:gd name="T30" fmla="*/ 1299 w 1398"/>
                  <a:gd name="T31" fmla="*/ 814 h 895"/>
                  <a:gd name="T32" fmla="*/ 1398 w 1398"/>
                  <a:gd name="T33" fmla="*/ 814 h 895"/>
                  <a:gd name="T34" fmla="*/ 1398 w 1398"/>
                  <a:gd name="T35" fmla="*/ 895 h 895"/>
                  <a:gd name="T36" fmla="*/ 1299 w 1398"/>
                  <a:gd name="T37" fmla="*/ 895 h 895"/>
                  <a:gd name="T38" fmla="*/ 1299 w 1398"/>
                  <a:gd name="T39" fmla="*/ 814 h 8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398" h="895">
                    <a:moveTo>
                      <a:pt x="0" y="609"/>
                    </a:moveTo>
                    <a:lnTo>
                      <a:pt x="99" y="609"/>
                    </a:lnTo>
                    <a:lnTo>
                      <a:pt x="99" y="895"/>
                    </a:lnTo>
                    <a:lnTo>
                      <a:pt x="0" y="895"/>
                    </a:lnTo>
                    <a:lnTo>
                      <a:pt x="0" y="609"/>
                    </a:lnTo>
                    <a:close/>
                    <a:moveTo>
                      <a:pt x="431" y="0"/>
                    </a:moveTo>
                    <a:lnTo>
                      <a:pt x="530" y="0"/>
                    </a:lnTo>
                    <a:lnTo>
                      <a:pt x="530" y="895"/>
                    </a:lnTo>
                    <a:lnTo>
                      <a:pt x="431" y="895"/>
                    </a:lnTo>
                    <a:lnTo>
                      <a:pt x="431" y="0"/>
                    </a:lnTo>
                    <a:close/>
                    <a:moveTo>
                      <a:pt x="868" y="445"/>
                    </a:moveTo>
                    <a:lnTo>
                      <a:pt x="961" y="445"/>
                    </a:lnTo>
                    <a:lnTo>
                      <a:pt x="961" y="895"/>
                    </a:lnTo>
                    <a:lnTo>
                      <a:pt x="868" y="895"/>
                    </a:lnTo>
                    <a:lnTo>
                      <a:pt x="868" y="445"/>
                    </a:lnTo>
                    <a:close/>
                    <a:moveTo>
                      <a:pt x="1299" y="814"/>
                    </a:moveTo>
                    <a:lnTo>
                      <a:pt x="1398" y="814"/>
                    </a:lnTo>
                    <a:lnTo>
                      <a:pt x="1398" y="895"/>
                    </a:lnTo>
                    <a:lnTo>
                      <a:pt x="1299" y="895"/>
                    </a:lnTo>
                    <a:lnTo>
                      <a:pt x="1299" y="814"/>
                    </a:lnTo>
                    <a:close/>
                  </a:path>
                </a:pathLst>
              </a:custGeom>
              <a:solidFill>
                <a:srgbClr val="ED7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8" name="Freeform 28">
                <a:extLst>
                  <a:ext uri="{FF2B5EF4-FFF2-40B4-BE49-F238E27FC236}">
                    <a16:creationId xmlns:a16="http://schemas.microsoft.com/office/drawing/2014/main" id="{24E12B81-EF2A-483A-9CFC-3292F43641A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16588" y="3675063"/>
                <a:ext cx="2219325" cy="1420812"/>
              </a:xfrm>
              <a:custGeom>
                <a:avLst/>
                <a:gdLst>
                  <a:gd name="T0" fmla="*/ 0 w 1398"/>
                  <a:gd name="T1" fmla="*/ 609 h 895"/>
                  <a:gd name="T2" fmla="*/ 99 w 1398"/>
                  <a:gd name="T3" fmla="*/ 609 h 895"/>
                  <a:gd name="T4" fmla="*/ 99 w 1398"/>
                  <a:gd name="T5" fmla="*/ 895 h 895"/>
                  <a:gd name="T6" fmla="*/ 0 w 1398"/>
                  <a:gd name="T7" fmla="*/ 895 h 895"/>
                  <a:gd name="T8" fmla="*/ 0 w 1398"/>
                  <a:gd name="T9" fmla="*/ 609 h 895"/>
                  <a:gd name="T10" fmla="*/ 431 w 1398"/>
                  <a:gd name="T11" fmla="*/ 0 h 895"/>
                  <a:gd name="T12" fmla="*/ 530 w 1398"/>
                  <a:gd name="T13" fmla="*/ 0 h 895"/>
                  <a:gd name="T14" fmla="*/ 530 w 1398"/>
                  <a:gd name="T15" fmla="*/ 895 h 895"/>
                  <a:gd name="T16" fmla="*/ 431 w 1398"/>
                  <a:gd name="T17" fmla="*/ 895 h 895"/>
                  <a:gd name="T18" fmla="*/ 431 w 1398"/>
                  <a:gd name="T19" fmla="*/ 0 h 895"/>
                  <a:gd name="T20" fmla="*/ 868 w 1398"/>
                  <a:gd name="T21" fmla="*/ 445 h 895"/>
                  <a:gd name="T22" fmla="*/ 961 w 1398"/>
                  <a:gd name="T23" fmla="*/ 445 h 895"/>
                  <a:gd name="T24" fmla="*/ 961 w 1398"/>
                  <a:gd name="T25" fmla="*/ 895 h 895"/>
                  <a:gd name="T26" fmla="*/ 868 w 1398"/>
                  <a:gd name="T27" fmla="*/ 895 h 895"/>
                  <a:gd name="T28" fmla="*/ 868 w 1398"/>
                  <a:gd name="T29" fmla="*/ 445 h 895"/>
                  <a:gd name="T30" fmla="*/ 1299 w 1398"/>
                  <a:gd name="T31" fmla="*/ 814 h 895"/>
                  <a:gd name="T32" fmla="*/ 1398 w 1398"/>
                  <a:gd name="T33" fmla="*/ 814 h 895"/>
                  <a:gd name="T34" fmla="*/ 1398 w 1398"/>
                  <a:gd name="T35" fmla="*/ 895 h 895"/>
                  <a:gd name="T36" fmla="*/ 1299 w 1398"/>
                  <a:gd name="T37" fmla="*/ 895 h 895"/>
                  <a:gd name="T38" fmla="*/ 1299 w 1398"/>
                  <a:gd name="T39" fmla="*/ 814 h 8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398" h="895">
                    <a:moveTo>
                      <a:pt x="0" y="609"/>
                    </a:moveTo>
                    <a:lnTo>
                      <a:pt x="99" y="609"/>
                    </a:lnTo>
                    <a:lnTo>
                      <a:pt x="99" y="895"/>
                    </a:lnTo>
                    <a:lnTo>
                      <a:pt x="0" y="895"/>
                    </a:lnTo>
                    <a:lnTo>
                      <a:pt x="0" y="609"/>
                    </a:lnTo>
                    <a:close/>
                    <a:moveTo>
                      <a:pt x="431" y="0"/>
                    </a:moveTo>
                    <a:lnTo>
                      <a:pt x="530" y="0"/>
                    </a:lnTo>
                    <a:lnTo>
                      <a:pt x="530" y="895"/>
                    </a:lnTo>
                    <a:lnTo>
                      <a:pt x="431" y="895"/>
                    </a:lnTo>
                    <a:lnTo>
                      <a:pt x="431" y="0"/>
                    </a:lnTo>
                    <a:close/>
                    <a:moveTo>
                      <a:pt x="868" y="445"/>
                    </a:moveTo>
                    <a:lnTo>
                      <a:pt x="961" y="445"/>
                    </a:lnTo>
                    <a:lnTo>
                      <a:pt x="961" y="895"/>
                    </a:lnTo>
                    <a:lnTo>
                      <a:pt x="868" y="895"/>
                    </a:lnTo>
                    <a:lnTo>
                      <a:pt x="868" y="445"/>
                    </a:lnTo>
                    <a:close/>
                    <a:moveTo>
                      <a:pt x="1299" y="814"/>
                    </a:moveTo>
                    <a:lnTo>
                      <a:pt x="1398" y="814"/>
                    </a:lnTo>
                    <a:lnTo>
                      <a:pt x="1398" y="895"/>
                    </a:lnTo>
                    <a:lnTo>
                      <a:pt x="1299" y="895"/>
                    </a:lnTo>
                    <a:lnTo>
                      <a:pt x="1299" y="814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9" name="Line 29">
                <a:extLst>
                  <a:ext uri="{FF2B5EF4-FFF2-40B4-BE49-F238E27FC236}">
                    <a16:creationId xmlns:a16="http://schemas.microsoft.com/office/drawing/2014/main" id="{2146B4ED-A7A4-4F63-A841-776A9FB899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46700" y="2840038"/>
                <a:ext cx="0" cy="22558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100"/>
              </a:p>
            </p:txBody>
          </p:sp>
          <p:sp>
            <p:nvSpPr>
              <p:cNvPr id="100" name="Line 30">
                <a:extLst>
                  <a:ext uri="{FF2B5EF4-FFF2-40B4-BE49-F238E27FC236}">
                    <a16:creationId xmlns:a16="http://schemas.microsoft.com/office/drawing/2014/main" id="{BB8E1C14-8E6C-4078-AE0D-007585F77D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46700" y="5095875"/>
                <a:ext cx="275431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1" name="Rectangle 31">
                <a:extLst>
                  <a:ext uri="{FF2B5EF4-FFF2-40B4-BE49-F238E27FC236}">
                    <a16:creationId xmlns:a16="http://schemas.microsoft.com/office/drawing/2014/main" id="{42236B3D-768D-49F2-ABEB-1959C54877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99063" y="5022850"/>
                <a:ext cx="72136" cy="169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0</a:t>
                </a:r>
                <a:endParaRPr kumimoji="0" lang="en-US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102" name="Rectangle 32">
                <a:extLst>
                  <a:ext uri="{FF2B5EF4-FFF2-40B4-BE49-F238E27FC236}">
                    <a16:creationId xmlns:a16="http://schemas.microsoft.com/office/drawing/2014/main" id="{8E987449-1CE2-447D-8858-03D288AA73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99063" y="4697413"/>
                <a:ext cx="72136" cy="169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5</a:t>
                </a:r>
                <a:endParaRPr kumimoji="0" lang="en-US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103" name="Rectangle 33">
                <a:extLst>
                  <a:ext uri="{FF2B5EF4-FFF2-40B4-BE49-F238E27FC236}">
                    <a16:creationId xmlns:a16="http://schemas.microsoft.com/office/drawing/2014/main" id="{981E5A36-8490-476B-9C9D-F5C8EB663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3500" y="4381500"/>
                <a:ext cx="144270" cy="169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10</a:t>
                </a:r>
                <a:endParaRPr kumimoji="0" lang="en-US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104" name="Rectangle 34">
                <a:extLst>
                  <a:ext uri="{FF2B5EF4-FFF2-40B4-BE49-F238E27FC236}">
                    <a16:creationId xmlns:a16="http://schemas.microsoft.com/office/drawing/2014/main" id="{23375C1E-4365-4F94-BC24-BBCC96D551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3500" y="4057650"/>
                <a:ext cx="144270" cy="169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15</a:t>
                </a:r>
                <a:endParaRPr kumimoji="0" lang="en-US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105" name="Rectangle 35">
                <a:extLst>
                  <a:ext uri="{FF2B5EF4-FFF2-40B4-BE49-F238E27FC236}">
                    <a16:creationId xmlns:a16="http://schemas.microsoft.com/office/drawing/2014/main" id="{F438099A-F139-4A3C-A0F5-502707B952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3500" y="3741738"/>
                <a:ext cx="144270" cy="169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20</a:t>
                </a:r>
                <a:endParaRPr kumimoji="0" lang="en-US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106" name="Rectangle 36">
                <a:extLst>
                  <a:ext uri="{FF2B5EF4-FFF2-40B4-BE49-F238E27FC236}">
                    <a16:creationId xmlns:a16="http://schemas.microsoft.com/office/drawing/2014/main" id="{7CE5EB53-A6BD-4F41-A85A-288241D5C6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3500" y="3416300"/>
                <a:ext cx="144270" cy="169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25</a:t>
                </a:r>
                <a:endParaRPr kumimoji="0" lang="en-US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107" name="Rectangle 37">
                <a:extLst>
                  <a:ext uri="{FF2B5EF4-FFF2-40B4-BE49-F238E27FC236}">
                    <a16:creationId xmlns:a16="http://schemas.microsoft.com/office/drawing/2014/main" id="{C99230CC-A3BF-4322-BC3E-53E67D01D0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3500" y="3090863"/>
                <a:ext cx="144270" cy="169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30</a:t>
                </a:r>
                <a:endParaRPr kumimoji="0" lang="en-US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108" name="Rectangle 38">
                <a:extLst>
                  <a:ext uri="{FF2B5EF4-FFF2-40B4-BE49-F238E27FC236}">
                    <a16:creationId xmlns:a16="http://schemas.microsoft.com/office/drawing/2014/main" id="{34548CFC-FB16-4975-8C79-CEF0F17F0D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3500" y="2774950"/>
                <a:ext cx="144270" cy="169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35</a:t>
                </a:r>
                <a:endParaRPr kumimoji="0" lang="en-US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109" name="Rectangle 39">
                <a:extLst>
                  <a:ext uri="{FF2B5EF4-FFF2-40B4-BE49-F238E27FC236}">
                    <a16:creationId xmlns:a16="http://schemas.microsoft.com/office/drawing/2014/main" id="{150290FF-F38A-4683-A7D5-EFFF22BEB5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70550" y="5172075"/>
                <a:ext cx="72136" cy="169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0</a:t>
                </a:r>
                <a:endParaRPr kumimoji="0" lang="en-US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110" name="Rectangle 40">
                <a:extLst>
                  <a:ext uri="{FF2B5EF4-FFF2-40B4-BE49-F238E27FC236}">
                    <a16:creationId xmlns:a16="http://schemas.microsoft.com/office/drawing/2014/main" id="{D39EF266-D9C8-416A-8B98-47AF365578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54763" y="5172075"/>
                <a:ext cx="72136" cy="169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1</a:t>
                </a:r>
                <a:endParaRPr kumimoji="0" lang="en-US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111" name="Rectangle 41">
                <a:extLst>
                  <a:ext uri="{FF2B5EF4-FFF2-40B4-BE49-F238E27FC236}">
                    <a16:creationId xmlns:a16="http://schemas.microsoft.com/office/drawing/2014/main" id="{5CECCD1F-EFDB-4C79-A84E-E72D8A958A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8500" y="5172075"/>
                <a:ext cx="72136" cy="169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2</a:t>
                </a:r>
                <a:endParaRPr kumimoji="0" lang="en-US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112" name="Rectangle 42">
                <a:extLst>
                  <a:ext uri="{FF2B5EF4-FFF2-40B4-BE49-F238E27FC236}">
                    <a16:creationId xmlns:a16="http://schemas.microsoft.com/office/drawing/2014/main" id="{93D91B07-2BA1-4C82-99B2-1559EEED0D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32713" y="5172075"/>
                <a:ext cx="72136" cy="169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3</a:t>
                </a:r>
                <a:endParaRPr kumimoji="0" lang="en-US" altLang="en-US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113" name="Rectangle 68">
                <a:extLst>
                  <a:ext uri="{FF2B5EF4-FFF2-40B4-BE49-F238E27FC236}">
                    <a16:creationId xmlns:a16="http://schemas.microsoft.com/office/drawing/2014/main" id="{742B8BBF-2813-4F3F-8EE3-E4A3ECB51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19478" y="5451474"/>
                <a:ext cx="1416670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Performance status</a:t>
                </a:r>
                <a:endParaRPr kumimoji="0" lang="en-US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118" name="Rectangle 66">
                <a:extLst>
                  <a:ext uri="{FF2B5EF4-FFF2-40B4-BE49-F238E27FC236}">
                    <a16:creationId xmlns:a16="http://schemas.microsoft.com/office/drawing/2014/main" id="{C943661E-364F-47CE-8D2D-2A771D4218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7750" y="3780601"/>
                <a:ext cx="99386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n</a:t>
                </a:r>
              </a:p>
            </p:txBody>
          </p:sp>
        </p:grpSp>
        <p:sp>
          <p:nvSpPr>
            <p:cNvPr id="121" name="Rectangle 66">
              <a:extLst>
                <a:ext uri="{FF2B5EF4-FFF2-40B4-BE49-F238E27FC236}">
                  <a16:creationId xmlns:a16="http://schemas.microsoft.com/office/drawing/2014/main" id="{F9905589-B330-411E-9C14-A9FA4A7CE1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6958" y="2249955"/>
              <a:ext cx="471476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women</a:t>
              </a:r>
              <a:endPara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22" name="Rectangle 66">
              <a:extLst>
                <a:ext uri="{FF2B5EF4-FFF2-40B4-BE49-F238E27FC236}">
                  <a16:creationId xmlns:a16="http://schemas.microsoft.com/office/drawing/2014/main" id="{3D05A763-5D32-4819-91DD-6E4BFC7B8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8617" y="2479467"/>
              <a:ext cx="280526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men</a:t>
              </a:r>
              <a:endPara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A6626770-332C-4789-B203-8210C4DFE839}"/>
                </a:ext>
              </a:extLst>
            </p:cNvPr>
            <p:cNvSpPr/>
            <p:nvPr/>
          </p:nvSpPr>
          <p:spPr>
            <a:xfrm>
              <a:off x="3526372" y="2281463"/>
              <a:ext cx="147600" cy="146323"/>
            </a:xfrm>
            <a:prstGeom prst="rect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0821C52D-1FE5-441F-93FE-350CB53FC835}"/>
                </a:ext>
              </a:extLst>
            </p:cNvPr>
            <p:cNvSpPr/>
            <p:nvPr/>
          </p:nvSpPr>
          <p:spPr>
            <a:xfrm>
              <a:off x="3526372" y="2515517"/>
              <a:ext cx="147600" cy="146323"/>
            </a:xfrm>
            <a:prstGeom prst="rect">
              <a:avLst/>
            </a:prstGeom>
            <a:solidFill>
              <a:srgbClr val="ED7D3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27" name="Rectangle 77">
            <a:extLst>
              <a:ext uri="{FF2B5EF4-FFF2-40B4-BE49-F238E27FC236}">
                <a16:creationId xmlns:a16="http://schemas.microsoft.com/office/drawing/2014/main" id="{77EA6080-5C8D-46A0-9F2C-0D14DE6CE3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341" y="6290911"/>
            <a:ext cx="3012043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102 patients with NSCLC treated with SABR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314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8170" y="693004"/>
            <a:ext cx="7553893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en-US" sz="2800" dirty="0">
                <a:solidFill>
                  <a:srgbClr val="40404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Stacked (component), percentage component bar charts</a:t>
            </a:r>
            <a:endParaRPr lang="en-GB" sz="2800" dirty="0">
              <a:solidFill>
                <a:srgbClr val="404040"/>
              </a:solidFill>
              <a:effectLst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BDACF497-4DB2-4AD9-990C-74DDEB426D6A}"/>
              </a:ext>
            </a:extLst>
          </p:cNvPr>
          <p:cNvGrpSpPr/>
          <p:nvPr/>
        </p:nvGrpSpPr>
        <p:grpSpPr>
          <a:xfrm>
            <a:off x="4734963" y="2129342"/>
            <a:ext cx="4018058" cy="3040206"/>
            <a:chOff x="4600543" y="2618229"/>
            <a:chExt cx="4018058" cy="3040206"/>
          </a:xfrm>
        </p:grpSpPr>
        <p:sp>
          <p:nvSpPr>
            <p:cNvPr id="77" name="Freeform 5">
              <a:extLst>
                <a:ext uri="{FF2B5EF4-FFF2-40B4-BE49-F238E27FC236}">
                  <a16:creationId xmlns:a16="http://schemas.microsoft.com/office/drawing/2014/main" id="{EA803CD5-E638-4754-81D2-41439EC008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21455" y="3696343"/>
              <a:ext cx="2227263" cy="1457325"/>
            </a:xfrm>
            <a:custGeom>
              <a:avLst/>
              <a:gdLst>
                <a:gd name="T0" fmla="*/ 0 w 1403"/>
                <a:gd name="T1" fmla="*/ 328 h 918"/>
                <a:gd name="T2" fmla="*/ 128 w 1403"/>
                <a:gd name="T3" fmla="*/ 328 h 918"/>
                <a:gd name="T4" fmla="*/ 128 w 1403"/>
                <a:gd name="T5" fmla="*/ 918 h 918"/>
                <a:gd name="T6" fmla="*/ 0 w 1403"/>
                <a:gd name="T7" fmla="*/ 918 h 918"/>
                <a:gd name="T8" fmla="*/ 0 w 1403"/>
                <a:gd name="T9" fmla="*/ 328 h 918"/>
                <a:gd name="T10" fmla="*/ 419 w 1403"/>
                <a:gd name="T11" fmla="*/ 64 h 918"/>
                <a:gd name="T12" fmla="*/ 553 w 1403"/>
                <a:gd name="T13" fmla="*/ 64 h 918"/>
                <a:gd name="T14" fmla="*/ 553 w 1403"/>
                <a:gd name="T15" fmla="*/ 918 h 918"/>
                <a:gd name="T16" fmla="*/ 419 w 1403"/>
                <a:gd name="T17" fmla="*/ 918 h 918"/>
                <a:gd name="T18" fmla="*/ 419 w 1403"/>
                <a:gd name="T19" fmla="*/ 64 h 918"/>
                <a:gd name="T20" fmla="*/ 844 w 1403"/>
                <a:gd name="T21" fmla="*/ 0 h 918"/>
                <a:gd name="T22" fmla="*/ 978 w 1403"/>
                <a:gd name="T23" fmla="*/ 0 h 918"/>
                <a:gd name="T24" fmla="*/ 978 w 1403"/>
                <a:gd name="T25" fmla="*/ 918 h 918"/>
                <a:gd name="T26" fmla="*/ 844 w 1403"/>
                <a:gd name="T27" fmla="*/ 918 h 918"/>
                <a:gd name="T28" fmla="*/ 844 w 1403"/>
                <a:gd name="T29" fmla="*/ 0 h 918"/>
                <a:gd name="T30" fmla="*/ 1269 w 1403"/>
                <a:gd name="T31" fmla="*/ 205 h 918"/>
                <a:gd name="T32" fmla="*/ 1403 w 1403"/>
                <a:gd name="T33" fmla="*/ 205 h 918"/>
                <a:gd name="T34" fmla="*/ 1403 w 1403"/>
                <a:gd name="T35" fmla="*/ 918 h 918"/>
                <a:gd name="T36" fmla="*/ 1269 w 1403"/>
                <a:gd name="T37" fmla="*/ 918 h 918"/>
                <a:gd name="T38" fmla="*/ 1269 w 1403"/>
                <a:gd name="T39" fmla="*/ 205 h 9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03" h="918">
                  <a:moveTo>
                    <a:pt x="0" y="328"/>
                  </a:moveTo>
                  <a:lnTo>
                    <a:pt x="128" y="328"/>
                  </a:lnTo>
                  <a:lnTo>
                    <a:pt x="128" y="918"/>
                  </a:lnTo>
                  <a:lnTo>
                    <a:pt x="0" y="918"/>
                  </a:lnTo>
                  <a:lnTo>
                    <a:pt x="0" y="328"/>
                  </a:lnTo>
                  <a:close/>
                  <a:moveTo>
                    <a:pt x="419" y="64"/>
                  </a:moveTo>
                  <a:lnTo>
                    <a:pt x="553" y="64"/>
                  </a:lnTo>
                  <a:lnTo>
                    <a:pt x="553" y="918"/>
                  </a:lnTo>
                  <a:lnTo>
                    <a:pt x="419" y="918"/>
                  </a:lnTo>
                  <a:lnTo>
                    <a:pt x="419" y="64"/>
                  </a:lnTo>
                  <a:close/>
                  <a:moveTo>
                    <a:pt x="844" y="0"/>
                  </a:moveTo>
                  <a:lnTo>
                    <a:pt x="978" y="0"/>
                  </a:lnTo>
                  <a:lnTo>
                    <a:pt x="978" y="918"/>
                  </a:lnTo>
                  <a:lnTo>
                    <a:pt x="844" y="918"/>
                  </a:lnTo>
                  <a:lnTo>
                    <a:pt x="844" y="0"/>
                  </a:lnTo>
                  <a:close/>
                  <a:moveTo>
                    <a:pt x="1269" y="205"/>
                  </a:moveTo>
                  <a:lnTo>
                    <a:pt x="1403" y="205"/>
                  </a:lnTo>
                  <a:lnTo>
                    <a:pt x="1403" y="918"/>
                  </a:lnTo>
                  <a:lnTo>
                    <a:pt x="1269" y="918"/>
                  </a:lnTo>
                  <a:lnTo>
                    <a:pt x="1269" y="205"/>
                  </a:lnTo>
                  <a:close/>
                </a:path>
              </a:pathLst>
            </a:custGeom>
            <a:solidFill>
              <a:srgbClr val="4472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" name="Freeform 6">
              <a:extLst>
                <a:ext uri="{FF2B5EF4-FFF2-40B4-BE49-F238E27FC236}">
                  <a16:creationId xmlns:a16="http://schemas.microsoft.com/office/drawing/2014/main" id="{6718CE68-9D84-41C6-AAA0-A183B26E32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21455" y="3696343"/>
              <a:ext cx="2227263" cy="1457325"/>
            </a:xfrm>
            <a:custGeom>
              <a:avLst/>
              <a:gdLst>
                <a:gd name="T0" fmla="*/ 0 w 1403"/>
                <a:gd name="T1" fmla="*/ 328 h 918"/>
                <a:gd name="T2" fmla="*/ 128 w 1403"/>
                <a:gd name="T3" fmla="*/ 328 h 918"/>
                <a:gd name="T4" fmla="*/ 128 w 1403"/>
                <a:gd name="T5" fmla="*/ 918 h 918"/>
                <a:gd name="T6" fmla="*/ 0 w 1403"/>
                <a:gd name="T7" fmla="*/ 918 h 918"/>
                <a:gd name="T8" fmla="*/ 0 w 1403"/>
                <a:gd name="T9" fmla="*/ 328 h 918"/>
                <a:gd name="T10" fmla="*/ 419 w 1403"/>
                <a:gd name="T11" fmla="*/ 64 h 918"/>
                <a:gd name="T12" fmla="*/ 553 w 1403"/>
                <a:gd name="T13" fmla="*/ 64 h 918"/>
                <a:gd name="T14" fmla="*/ 553 w 1403"/>
                <a:gd name="T15" fmla="*/ 918 h 918"/>
                <a:gd name="T16" fmla="*/ 419 w 1403"/>
                <a:gd name="T17" fmla="*/ 918 h 918"/>
                <a:gd name="T18" fmla="*/ 419 w 1403"/>
                <a:gd name="T19" fmla="*/ 64 h 918"/>
                <a:gd name="T20" fmla="*/ 844 w 1403"/>
                <a:gd name="T21" fmla="*/ 0 h 918"/>
                <a:gd name="T22" fmla="*/ 978 w 1403"/>
                <a:gd name="T23" fmla="*/ 0 h 918"/>
                <a:gd name="T24" fmla="*/ 978 w 1403"/>
                <a:gd name="T25" fmla="*/ 918 h 918"/>
                <a:gd name="T26" fmla="*/ 844 w 1403"/>
                <a:gd name="T27" fmla="*/ 918 h 918"/>
                <a:gd name="T28" fmla="*/ 844 w 1403"/>
                <a:gd name="T29" fmla="*/ 0 h 918"/>
                <a:gd name="T30" fmla="*/ 1269 w 1403"/>
                <a:gd name="T31" fmla="*/ 205 h 918"/>
                <a:gd name="T32" fmla="*/ 1403 w 1403"/>
                <a:gd name="T33" fmla="*/ 205 h 918"/>
                <a:gd name="T34" fmla="*/ 1403 w 1403"/>
                <a:gd name="T35" fmla="*/ 918 h 918"/>
                <a:gd name="T36" fmla="*/ 1269 w 1403"/>
                <a:gd name="T37" fmla="*/ 918 h 918"/>
                <a:gd name="T38" fmla="*/ 1269 w 1403"/>
                <a:gd name="T39" fmla="*/ 205 h 9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03" h="918">
                  <a:moveTo>
                    <a:pt x="0" y="328"/>
                  </a:moveTo>
                  <a:lnTo>
                    <a:pt x="128" y="328"/>
                  </a:lnTo>
                  <a:lnTo>
                    <a:pt x="128" y="918"/>
                  </a:lnTo>
                  <a:lnTo>
                    <a:pt x="0" y="918"/>
                  </a:lnTo>
                  <a:lnTo>
                    <a:pt x="0" y="328"/>
                  </a:lnTo>
                  <a:close/>
                  <a:moveTo>
                    <a:pt x="419" y="64"/>
                  </a:moveTo>
                  <a:lnTo>
                    <a:pt x="553" y="64"/>
                  </a:lnTo>
                  <a:lnTo>
                    <a:pt x="553" y="918"/>
                  </a:lnTo>
                  <a:lnTo>
                    <a:pt x="419" y="918"/>
                  </a:lnTo>
                  <a:lnTo>
                    <a:pt x="419" y="64"/>
                  </a:lnTo>
                  <a:close/>
                  <a:moveTo>
                    <a:pt x="844" y="0"/>
                  </a:moveTo>
                  <a:lnTo>
                    <a:pt x="978" y="0"/>
                  </a:lnTo>
                  <a:lnTo>
                    <a:pt x="978" y="918"/>
                  </a:lnTo>
                  <a:lnTo>
                    <a:pt x="844" y="918"/>
                  </a:lnTo>
                  <a:lnTo>
                    <a:pt x="844" y="0"/>
                  </a:lnTo>
                  <a:close/>
                  <a:moveTo>
                    <a:pt x="1269" y="205"/>
                  </a:moveTo>
                  <a:lnTo>
                    <a:pt x="1403" y="205"/>
                  </a:lnTo>
                  <a:lnTo>
                    <a:pt x="1403" y="918"/>
                  </a:lnTo>
                  <a:lnTo>
                    <a:pt x="1269" y="918"/>
                  </a:lnTo>
                  <a:lnTo>
                    <a:pt x="1269" y="205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9" name="Freeform 7">
              <a:extLst>
                <a:ext uri="{FF2B5EF4-FFF2-40B4-BE49-F238E27FC236}">
                  <a16:creationId xmlns:a16="http://schemas.microsoft.com/office/drawing/2014/main" id="{A32F3D29-E872-4711-A961-32F58C1AA5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21455" y="2897831"/>
              <a:ext cx="2227263" cy="1319212"/>
            </a:xfrm>
            <a:custGeom>
              <a:avLst/>
              <a:gdLst>
                <a:gd name="T0" fmla="*/ 0 w 1403"/>
                <a:gd name="T1" fmla="*/ 0 h 831"/>
                <a:gd name="T2" fmla="*/ 128 w 1403"/>
                <a:gd name="T3" fmla="*/ 0 h 831"/>
                <a:gd name="T4" fmla="*/ 128 w 1403"/>
                <a:gd name="T5" fmla="*/ 831 h 831"/>
                <a:gd name="T6" fmla="*/ 0 w 1403"/>
                <a:gd name="T7" fmla="*/ 831 h 831"/>
                <a:gd name="T8" fmla="*/ 0 w 1403"/>
                <a:gd name="T9" fmla="*/ 0 h 831"/>
                <a:gd name="T10" fmla="*/ 419 w 1403"/>
                <a:gd name="T11" fmla="*/ 0 h 831"/>
                <a:gd name="T12" fmla="*/ 553 w 1403"/>
                <a:gd name="T13" fmla="*/ 0 h 831"/>
                <a:gd name="T14" fmla="*/ 553 w 1403"/>
                <a:gd name="T15" fmla="*/ 567 h 831"/>
                <a:gd name="T16" fmla="*/ 419 w 1403"/>
                <a:gd name="T17" fmla="*/ 567 h 831"/>
                <a:gd name="T18" fmla="*/ 419 w 1403"/>
                <a:gd name="T19" fmla="*/ 0 h 831"/>
                <a:gd name="T20" fmla="*/ 844 w 1403"/>
                <a:gd name="T21" fmla="*/ 0 h 831"/>
                <a:gd name="T22" fmla="*/ 978 w 1403"/>
                <a:gd name="T23" fmla="*/ 0 h 831"/>
                <a:gd name="T24" fmla="*/ 978 w 1403"/>
                <a:gd name="T25" fmla="*/ 503 h 831"/>
                <a:gd name="T26" fmla="*/ 844 w 1403"/>
                <a:gd name="T27" fmla="*/ 503 h 831"/>
                <a:gd name="T28" fmla="*/ 844 w 1403"/>
                <a:gd name="T29" fmla="*/ 0 h 831"/>
                <a:gd name="T30" fmla="*/ 1269 w 1403"/>
                <a:gd name="T31" fmla="*/ 0 h 831"/>
                <a:gd name="T32" fmla="*/ 1403 w 1403"/>
                <a:gd name="T33" fmla="*/ 0 h 831"/>
                <a:gd name="T34" fmla="*/ 1403 w 1403"/>
                <a:gd name="T35" fmla="*/ 708 h 831"/>
                <a:gd name="T36" fmla="*/ 1269 w 1403"/>
                <a:gd name="T37" fmla="*/ 708 h 831"/>
                <a:gd name="T38" fmla="*/ 1269 w 1403"/>
                <a:gd name="T39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03" h="831">
                  <a:moveTo>
                    <a:pt x="0" y="0"/>
                  </a:moveTo>
                  <a:lnTo>
                    <a:pt x="128" y="0"/>
                  </a:lnTo>
                  <a:lnTo>
                    <a:pt x="128" y="831"/>
                  </a:lnTo>
                  <a:lnTo>
                    <a:pt x="0" y="831"/>
                  </a:lnTo>
                  <a:lnTo>
                    <a:pt x="0" y="0"/>
                  </a:lnTo>
                  <a:close/>
                  <a:moveTo>
                    <a:pt x="419" y="0"/>
                  </a:moveTo>
                  <a:lnTo>
                    <a:pt x="553" y="0"/>
                  </a:lnTo>
                  <a:lnTo>
                    <a:pt x="553" y="567"/>
                  </a:lnTo>
                  <a:lnTo>
                    <a:pt x="419" y="567"/>
                  </a:lnTo>
                  <a:lnTo>
                    <a:pt x="419" y="0"/>
                  </a:lnTo>
                  <a:close/>
                  <a:moveTo>
                    <a:pt x="844" y="0"/>
                  </a:moveTo>
                  <a:lnTo>
                    <a:pt x="978" y="0"/>
                  </a:lnTo>
                  <a:lnTo>
                    <a:pt x="978" y="503"/>
                  </a:lnTo>
                  <a:lnTo>
                    <a:pt x="844" y="503"/>
                  </a:lnTo>
                  <a:lnTo>
                    <a:pt x="844" y="0"/>
                  </a:lnTo>
                  <a:close/>
                  <a:moveTo>
                    <a:pt x="1269" y="0"/>
                  </a:moveTo>
                  <a:lnTo>
                    <a:pt x="1403" y="0"/>
                  </a:lnTo>
                  <a:lnTo>
                    <a:pt x="1403" y="708"/>
                  </a:lnTo>
                  <a:lnTo>
                    <a:pt x="1269" y="708"/>
                  </a:lnTo>
                  <a:lnTo>
                    <a:pt x="1269" y="0"/>
                  </a:lnTo>
                  <a:close/>
                </a:path>
              </a:pathLst>
            </a:custGeom>
            <a:solidFill>
              <a:srgbClr val="ED7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0" name="Freeform 8">
              <a:extLst>
                <a:ext uri="{FF2B5EF4-FFF2-40B4-BE49-F238E27FC236}">
                  <a16:creationId xmlns:a16="http://schemas.microsoft.com/office/drawing/2014/main" id="{293073C4-E205-43EC-B4BC-F1359A8BCE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21455" y="2897831"/>
              <a:ext cx="2227263" cy="1319212"/>
            </a:xfrm>
            <a:custGeom>
              <a:avLst/>
              <a:gdLst>
                <a:gd name="T0" fmla="*/ 0 w 1403"/>
                <a:gd name="T1" fmla="*/ 0 h 831"/>
                <a:gd name="T2" fmla="*/ 128 w 1403"/>
                <a:gd name="T3" fmla="*/ 0 h 831"/>
                <a:gd name="T4" fmla="*/ 128 w 1403"/>
                <a:gd name="T5" fmla="*/ 831 h 831"/>
                <a:gd name="T6" fmla="*/ 0 w 1403"/>
                <a:gd name="T7" fmla="*/ 831 h 831"/>
                <a:gd name="T8" fmla="*/ 0 w 1403"/>
                <a:gd name="T9" fmla="*/ 0 h 831"/>
                <a:gd name="T10" fmla="*/ 419 w 1403"/>
                <a:gd name="T11" fmla="*/ 0 h 831"/>
                <a:gd name="T12" fmla="*/ 553 w 1403"/>
                <a:gd name="T13" fmla="*/ 0 h 831"/>
                <a:gd name="T14" fmla="*/ 553 w 1403"/>
                <a:gd name="T15" fmla="*/ 567 h 831"/>
                <a:gd name="T16" fmla="*/ 419 w 1403"/>
                <a:gd name="T17" fmla="*/ 567 h 831"/>
                <a:gd name="T18" fmla="*/ 419 w 1403"/>
                <a:gd name="T19" fmla="*/ 0 h 831"/>
                <a:gd name="T20" fmla="*/ 844 w 1403"/>
                <a:gd name="T21" fmla="*/ 0 h 831"/>
                <a:gd name="T22" fmla="*/ 978 w 1403"/>
                <a:gd name="T23" fmla="*/ 0 h 831"/>
                <a:gd name="T24" fmla="*/ 978 w 1403"/>
                <a:gd name="T25" fmla="*/ 503 h 831"/>
                <a:gd name="T26" fmla="*/ 844 w 1403"/>
                <a:gd name="T27" fmla="*/ 503 h 831"/>
                <a:gd name="T28" fmla="*/ 844 w 1403"/>
                <a:gd name="T29" fmla="*/ 0 h 831"/>
                <a:gd name="T30" fmla="*/ 1269 w 1403"/>
                <a:gd name="T31" fmla="*/ 0 h 831"/>
                <a:gd name="T32" fmla="*/ 1403 w 1403"/>
                <a:gd name="T33" fmla="*/ 0 h 831"/>
                <a:gd name="T34" fmla="*/ 1403 w 1403"/>
                <a:gd name="T35" fmla="*/ 708 h 831"/>
                <a:gd name="T36" fmla="*/ 1269 w 1403"/>
                <a:gd name="T37" fmla="*/ 708 h 831"/>
                <a:gd name="T38" fmla="*/ 1269 w 1403"/>
                <a:gd name="T39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03" h="831">
                  <a:moveTo>
                    <a:pt x="0" y="0"/>
                  </a:moveTo>
                  <a:lnTo>
                    <a:pt x="128" y="0"/>
                  </a:lnTo>
                  <a:lnTo>
                    <a:pt x="128" y="831"/>
                  </a:lnTo>
                  <a:lnTo>
                    <a:pt x="0" y="831"/>
                  </a:lnTo>
                  <a:lnTo>
                    <a:pt x="0" y="0"/>
                  </a:lnTo>
                  <a:close/>
                  <a:moveTo>
                    <a:pt x="419" y="0"/>
                  </a:moveTo>
                  <a:lnTo>
                    <a:pt x="553" y="0"/>
                  </a:lnTo>
                  <a:lnTo>
                    <a:pt x="553" y="567"/>
                  </a:lnTo>
                  <a:lnTo>
                    <a:pt x="419" y="567"/>
                  </a:lnTo>
                  <a:lnTo>
                    <a:pt x="419" y="0"/>
                  </a:lnTo>
                  <a:close/>
                  <a:moveTo>
                    <a:pt x="844" y="0"/>
                  </a:moveTo>
                  <a:lnTo>
                    <a:pt x="978" y="0"/>
                  </a:lnTo>
                  <a:lnTo>
                    <a:pt x="978" y="503"/>
                  </a:lnTo>
                  <a:lnTo>
                    <a:pt x="844" y="503"/>
                  </a:lnTo>
                  <a:lnTo>
                    <a:pt x="844" y="0"/>
                  </a:lnTo>
                  <a:close/>
                  <a:moveTo>
                    <a:pt x="1269" y="0"/>
                  </a:moveTo>
                  <a:lnTo>
                    <a:pt x="1403" y="0"/>
                  </a:lnTo>
                  <a:lnTo>
                    <a:pt x="1403" y="708"/>
                  </a:lnTo>
                  <a:lnTo>
                    <a:pt x="1269" y="708"/>
                  </a:lnTo>
                  <a:lnTo>
                    <a:pt x="1269" y="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1" name="Line 9">
              <a:extLst>
                <a:ext uri="{FF2B5EF4-FFF2-40B4-BE49-F238E27FC236}">
                  <a16:creationId xmlns:a16="http://schemas.microsoft.com/office/drawing/2014/main" id="{F4EA28C7-4081-4293-8142-7193DF828A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89680" y="2897831"/>
              <a:ext cx="0" cy="22558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100"/>
            </a:p>
          </p:txBody>
        </p:sp>
        <p:sp>
          <p:nvSpPr>
            <p:cNvPr id="82" name="Line 10">
              <a:extLst>
                <a:ext uri="{FF2B5EF4-FFF2-40B4-BE49-F238E27FC236}">
                  <a16:creationId xmlns:a16="http://schemas.microsoft.com/office/drawing/2014/main" id="{65470280-AD04-42B9-BA39-5BA9764E7A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9680" y="5153668"/>
              <a:ext cx="26892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3" name="Rectangle 11">
              <a:extLst>
                <a:ext uri="{FF2B5EF4-FFF2-40B4-BE49-F238E27FC236}">
                  <a16:creationId xmlns:a16="http://schemas.microsoft.com/office/drawing/2014/main" id="{180B5A42-35D7-4D95-B6DB-BF6EFCB02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2517" y="5080643"/>
              <a:ext cx="72136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0</a:t>
              </a:r>
              <a:endPara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84" name="Rectangle 12">
              <a:extLst>
                <a:ext uri="{FF2B5EF4-FFF2-40B4-BE49-F238E27FC236}">
                  <a16:creationId xmlns:a16="http://schemas.microsoft.com/office/drawing/2014/main" id="{07DCF719-800A-4469-9920-82534A477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955" y="4634556"/>
              <a:ext cx="14427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20</a:t>
              </a:r>
              <a:endPara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85" name="Rectangle 13">
              <a:extLst>
                <a:ext uri="{FF2B5EF4-FFF2-40B4-BE49-F238E27FC236}">
                  <a16:creationId xmlns:a16="http://schemas.microsoft.com/office/drawing/2014/main" id="{F07C9F8B-DCBD-497A-BE11-A9AADEECE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955" y="4180531"/>
              <a:ext cx="14427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40</a:t>
              </a:r>
              <a:endPara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86" name="Rectangle 14">
              <a:extLst>
                <a:ext uri="{FF2B5EF4-FFF2-40B4-BE49-F238E27FC236}">
                  <a16:creationId xmlns:a16="http://schemas.microsoft.com/office/drawing/2014/main" id="{790D1E1C-98C7-4C3B-A9EF-D0A03960D0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955" y="3734443"/>
              <a:ext cx="14427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60</a:t>
              </a:r>
              <a:endPara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87" name="Rectangle 15">
              <a:extLst>
                <a:ext uri="{FF2B5EF4-FFF2-40B4-BE49-F238E27FC236}">
                  <a16:creationId xmlns:a16="http://schemas.microsoft.com/office/drawing/2014/main" id="{E4A4C926-F9F7-4181-9B80-ECB00AB026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955" y="3278831"/>
              <a:ext cx="14427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80</a:t>
              </a:r>
              <a:endPara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88" name="Rectangle 16">
              <a:extLst>
                <a:ext uri="{FF2B5EF4-FFF2-40B4-BE49-F238E27FC236}">
                  <a16:creationId xmlns:a16="http://schemas.microsoft.com/office/drawing/2014/main" id="{84F8E620-2558-44EF-8F50-55BC93C6D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1392" y="2832743"/>
              <a:ext cx="216406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100</a:t>
              </a:r>
              <a:endPara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89" name="Rectangle 17">
              <a:extLst>
                <a:ext uri="{FF2B5EF4-FFF2-40B4-BE49-F238E27FC236}">
                  <a16:creationId xmlns:a16="http://schemas.microsoft.com/office/drawing/2014/main" id="{A08E82AF-636D-40A8-882B-CE767D27AF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4480" y="5229868"/>
              <a:ext cx="72136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0</a:t>
              </a:r>
              <a:endPara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90" name="Rectangle 18">
              <a:extLst>
                <a:ext uri="{FF2B5EF4-FFF2-40B4-BE49-F238E27FC236}">
                  <a16:creationId xmlns:a16="http://schemas.microsoft.com/office/drawing/2014/main" id="{CB9A70A7-5E93-49CA-9BBA-2932BB4705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9167" y="5229868"/>
              <a:ext cx="72136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1</a:t>
              </a:r>
              <a:endPara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91" name="Rectangle 19">
              <a:extLst>
                <a:ext uri="{FF2B5EF4-FFF2-40B4-BE49-F238E27FC236}">
                  <a16:creationId xmlns:a16="http://schemas.microsoft.com/office/drawing/2014/main" id="{32252E32-2BB9-44D1-9BB9-1659DCD9BA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43855" y="5229868"/>
              <a:ext cx="72136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2</a:t>
              </a:r>
              <a:endPara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92" name="Rectangle 20">
              <a:extLst>
                <a:ext uri="{FF2B5EF4-FFF2-40B4-BE49-F238E27FC236}">
                  <a16:creationId xmlns:a16="http://schemas.microsoft.com/office/drawing/2014/main" id="{9D0C0A45-C463-4A84-8FFD-8F382CFB6E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8542" y="5229868"/>
              <a:ext cx="72136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3</a:t>
              </a:r>
              <a:endPara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16" name="Rectangle 66">
              <a:extLst>
                <a:ext uri="{FF2B5EF4-FFF2-40B4-BE49-F238E27FC236}">
                  <a16:creationId xmlns:a16="http://schemas.microsoft.com/office/drawing/2014/main" id="{EDBB0824-123A-4C43-88F8-5B5CAF3083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47125" y="2618229"/>
              <a:ext cx="471476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women</a:t>
              </a:r>
              <a:endPara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17" name="Rectangle 66">
              <a:extLst>
                <a:ext uri="{FF2B5EF4-FFF2-40B4-BE49-F238E27FC236}">
                  <a16:creationId xmlns:a16="http://schemas.microsoft.com/office/drawing/2014/main" id="{452D58E0-D072-480B-8B91-46CEA98A1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58784" y="2847741"/>
              <a:ext cx="280526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men</a:t>
              </a:r>
              <a:endPara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98959EAA-F9F1-4DDD-9576-78702B107B49}"/>
                </a:ext>
              </a:extLst>
            </p:cNvPr>
            <p:cNvSpPr/>
            <p:nvPr/>
          </p:nvSpPr>
          <p:spPr>
            <a:xfrm>
              <a:off x="7906539" y="2649737"/>
              <a:ext cx="147600" cy="146323"/>
            </a:xfrm>
            <a:prstGeom prst="rect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85A4FDB-1991-4258-AE0C-3B47D86E620C}"/>
                </a:ext>
              </a:extLst>
            </p:cNvPr>
            <p:cNvSpPr/>
            <p:nvPr/>
          </p:nvSpPr>
          <p:spPr>
            <a:xfrm>
              <a:off x="7906539" y="2883791"/>
              <a:ext cx="147600" cy="146323"/>
            </a:xfrm>
            <a:prstGeom prst="rect">
              <a:avLst/>
            </a:prstGeom>
            <a:solidFill>
              <a:srgbClr val="ED7D3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0" name="Rectangle 68">
              <a:extLst>
                <a:ext uri="{FF2B5EF4-FFF2-40B4-BE49-F238E27FC236}">
                  <a16:creationId xmlns:a16="http://schemas.microsoft.com/office/drawing/2014/main" id="{008390A7-3A86-4B9B-BBCB-1504EA3ADE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29728" y="5442991"/>
              <a:ext cx="141667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Performance status</a:t>
              </a:r>
              <a:endPara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21" name="Rectangle 66">
              <a:extLst>
                <a:ext uri="{FF2B5EF4-FFF2-40B4-BE49-F238E27FC236}">
                  <a16:creationId xmlns:a16="http://schemas.microsoft.com/office/drawing/2014/main" id="{75E8BF3B-0B7A-4E26-B515-54EE6610E2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0543" y="3790389"/>
              <a:ext cx="16030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06535949-B8BA-4BC0-8A0F-46C5FBD4C054}"/>
              </a:ext>
            </a:extLst>
          </p:cNvPr>
          <p:cNvGrpSpPr/>
          <p:nvPr/>
        </p:nvGrpSpPr>
        <p:grpSpPr>
          <a:xfrm>
            <a:off x="913927" y="2159889"/>
            <a:ext cx="3419498" cy="3009659"/>
            <a:chOff x="779507" y="2648776"/>
            <a:chExt cx="3419498" cy="3009659"/>
          </a:xfrm>
        </p:grpSpPr>
        <p:sp>
          <p:nvSpPr>
            <p:cNvPr id="95" name="Freeform 24">
              <a:extLst>
                <a:ext uri="{FF2B5EF4-FFF2-40B4-BE49-F238E27FC236}">
                  <a16:creationId xmlns:a16="http://schemas.microsoft.com/office/drawing/2014/main" id="{A87F1962-D5F3-485C-811C-45C1B0C0DA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77995" y="4113856"/>
              <a:ext cx="2225675" cy="1039812"/>
            </a:xfrm>
            <a:custGeom>
              <a:avLst/>
              <a:gdLst>
                <a:gd name="T0" fmla="*/ 0 w 1402"/>
                <a:gd name="T1" fmla="*/ 556 h 655"/>
                <a:gd name="T2" fmla="*/ 128 w 1402"/>
                <a:gd name="T3" fmla="*/ 556 h 655"/>
                <a:gd name="T4" fmla="*/ 128 w 1402"/>
                <a:gd name="T5" fmla="*/ 655 h 655"/>
                <a:gd name="T6" fmla="*/ 0 w 1402"/>
                <a:gd name="T7" fmla="*/ 655 h 655"/>
                <a:gd name="T8" fmla="*/ 0 w 1402"/>
                <a:gd name="T9" fmla="*/ 556 h 655"/>
                <a:gd name="T10" fmla="*/ 419 w 1402"/>
                <a:gd name="T11" fmla="*/ 0 h 655"/>
                <a:gd name="T12" fmla="*/ 552 w 1402"/>
                <a:gd name="T13" fmla="*/ 0 h 655"/>
                <a:gd name="T14" fmla="*/ 552 w 1402"/>
                <a:gd name="T15" fmla="*/ 655 h 655"/>
                <a:gd name="T16" fmla="*/ 419 w 1402"/>
                <a:gd name="T17" fmla="*/ 655 h 655"/>
                <a:gd name="T18" fmla="*/ 419 w 1402"/>
                <a:gd name="T19" fmla="*/ 0 h 655"/>
                <a:gd name="T20" fmla="*/ 843 w 1402"/>
                <a:gd name="T21" fmla="*/ 258 h 655"/>
                <a:gd name="T22" fmla="*/ 977 w 1402"/>
                <a:gd name="T23" fmla="*/ 258 h 655"/>
                <a:gd name="T24" fmla="*/ 977 w 1402"/>
                <a:gd name="T25" fmla="*/ 655 h 655"/>
                <a:gd name="T26" fmla="*/ 843 w 1402"/>
                <a:gd name="T27" fmla="*/ 655 h 655"/>
                <a:gd name="T28" fmla="*/ 843 w 1402"/>
                <a:gd name="T29" fmla="*/ 258 h 655"/>
                <a:gd name="T30" fmla="*/ 1268 w 1402"/>
                <a:gd name="T31" fmla="*/ 615 h 655"/>
                <a:gd name="T32" fmla="*/ 1402 w 1402"/>
                <a:gd name="T33" fmla="*/ 615 h 655"/>
                <a:gd name="T34" fmla="*/ 1402 w 1402"/>
                <a:gd name="T35" fmla="*/ 655 h 655"/>
                <a:gd name="T36" fmla="*/ 1268 w 1402"/>
                <a:gd name="T37" fmla="*/ 655 h 655"/>
                <a:gd name="T38" fmla="*/ 1268 w 1402"/>
                <a:gd name="T39" fmla="*/ 615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02" h="655">
                  <a:moveTo>
                    <a:pt x="0" y="556"/>
                  </a:moveTo>
                  <a:lnTo>
                    <a:pt x="128" y="556"/>
                  </a:lnTo>
                  <a:lnTo>
                    <a:pt x="128" y="655"/>
                  </a:lnTo>
                  <a:lnTo>
                    <a:pt x="0" y="655"/>
                  </a:lnTo>
                  <a:lnTo>
                    <a:pt x="0" y="556"/>
                  </a:lnTo>
                  <a:close/>
                  <a:moveTo>
                    <a:pt x="419" y="0"/>
                  </a:moveTo>
                  <a:lnTo>
                    <a:pt x="552" y="0"/>
                  </a:lnTo>
                  <a:lnTo>
                    <a:pt x="552" y="655"/>
                  </a:lnTo>
                  <a:lnTo>
                    <a:pt x="419" y="655"/>
                  </a:lnTo>
                  <a:lnTo>
                    <a:pt x="419" y="0"/>
                  </a:lnTo>
                  <a:close/>
                  <a:moveTo>
                    <a:pt x="843" y="258"/>
                  </a:moveTo>
                  <a:lnTo>
                    <a:pt x="977" y="258"/>
                  </a:lnTo>
                  <a:lnTo>
                    <a:pt x="977" y="655"/>
                  </a:lnTo>
                  <a:lnTo>
                    <a:pt x="843" y="655"/>
                  </a:lnTo>
                  <a:lnTo>
                    <a:pt x="843" y="258"/>
                  </a:lnTo>
                  <a:close/>
                  <a:moveTo>
                    <a:pt x="1268" y="615"/>
                  </a:moveTo>
                  <a:lnTo>
                    <a:pt x="1402" y="615"/>
                  </a:lnTo>
                  <a:lnTo>
                    <a:pt x="1402" y="655"/>
                  </a:lnTo>
                  <a:lnTo>
                    <a:pt x="1268" y="655"/>
                  </a:lnTo>
                  <a:lnTo>
                    <a:pt x="1268" y="615"/>
                  </a:lnTo>
                  <a:close/>
                </a:path>
              </a:pathLst>
            </a:custGeom>
            <a:solidFill>
              <a:srgbClr val="4472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6" name="Freeform 25">
              <a:extLst>
                <a:ext uri="{FF2B5EF4-FFF2-40B4-BE49-F238E27FC236}">
                  <a16:creationId xmlns:a16="http://schemas.microsoft.com/office/drawing/2014/main" id="{4CB29769-40FB-463E-B463-6D7F43856E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77995" y="4113856"/>
              <a:ext cx="2225675" cy="1039812"/>
            </a:xfrm>
            <a:custGeom>
              <a:avLst/>
              <a:gdLst>
                <a:gd name="T0" fmla="*/ 0 w 1402"/>
                <a:gd name="T1" fmla="*/ 556 h 655"/>
                <a:gd name="T2" fmla="*/ 128 w 1402"/>
                <a:gd name="T3" fmla="*/ 556 h 655"/>
                <a:gd name="T4" fmla="*/ 128 w 1402"/>
                <a:gd name="T5" fmla="*/ 655 h 655"/>
                <a:gd name="T6" fmla="*/ 0 w 1402"/>
                <a:gd name="T7" fmla="*/ 655 h 655"/>
                <a:gd name="T8" fmla="*/ 0 w 1402"/>
                <a:gd name="T9" fmla="*/ 556 h 655"/>
                <a:gd name="T10" fmla="*/ 419 w 1402"/>
                <a:gd name="T11" fmla="*/ 0 h 655"/>
                <a:gd name="T12" fmla="*/ 552 w 1402"/>
                <a:gd name="T13" fmla="*/ 0 h 655"/>
                <a:gd name="T14" fmla="*/ 552 w 1402"/>
                <a:gd name="T15" fmla="*/ 655 h 655"/>
                <a:gd name="T16" fmla="*/ 419 w 1402"/>
                <a:gd name="T17" fmla="*/ 655 h 655"/>
                <a:gd name="T18" fmla="*/ 419 w 1402"/>
                <a:gd name="T19" fmla="*/ 0 h 655"/>
                <a:gd name="T20" fmla="*/ 843 w 1402"/>
                <a:gd name="T21" fmla="*/ 258 h 655"/>
                <a:gd name="T22" fmla="*/ 977 w 1402"/>
                <a:gd name="T23" fmla="*/ 258 h 655"/>
                <a:gd name="T24" fmla="*/ 977 w 1402"/>
                <a:gd name="T25" fmla="*/ 655 h 655"/>
                <a:gd name="T26" fmla="*/ 843 w 1402"/>
                <a:gd name="T27" fmla="*/ 655 h 655"/>
                <a:gd name="T28" fmla="*/ 843 w 1402"/>
                <a:gd name="T29" fmla="*/ 258 h 655"/>
                <a:gd name="T30" fmla="*/ 1268 w 1402"/>
                <a:gd name="T31" fmla="*/ 615 h 655"/>
                <a:gd name="T32" fmla="*/ 1402 w 1402"/>
                <a:gd name="T33" fmla="*/ 615 h 655"/>
                <a:gd name="T34" fmla="*/ 1402 w 1402"/>
                <a:gd name="T35" fmla="*/ 655 h 655"/>
                <a:gd name="T36" fmla="*/ 1268 w 1402"/>
                <a:gd name="T37" fmla="*/ 655 h 655"/>
                <a:gd name="T38" fmla="*/ 1268 w 1402"/>
                <a:gd name="T39" fmla="*/ 615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02" h="655">
                  <a:moveTo>
                    <a:pt x="0" y="556"/>
                  </a:moveTo>
                  <a:lnTo>
                    <a:pt x="128" y="556"/>
                  </a:lnTo>
                  <a:lnTo>
                    <a:pt x="128" y="655"/>
                  </a:lnTo>
                  <a:lnTo>
                    <a:pt x="0" y="655"/>
                  </a:lnTo>
                  <a:lnTo>
                    <a:pt x="0" y="556"/>
                  </a:lnTo>
                  <a:close/>
                  <a:moveTo>
                    <a:pt x="419" y="0"/>
                  </a:moveTo>
                  <a:lnTo>
                    <a:pt x="552" y="0"/>
                  </a:lnTo>
                  <a:lnTo>
                    <a:pt x="552" y="655"/>
                  </a:lnTo>
                  <a:lnTo>
                    <a:pt x="419" y="655"/>
                  </a:lnTo>
                  <a:lnTo>
                    <a:pt x="419" y="0"/>
                  </a:lnTo>
                  <a:close/>
                  <a:moveTo>
                    <a:pt x="843" y="258"/>
                  </a:moveTo>
                  <a:lnTo>
                    <a:pt x="977" y="258"/>
                  </a:lnTo>
                  <a:lnTo>
                    <a:pt x="977" y="655"/>
                  </a:lnTo>
                  <a:lnTo>
                    <a:pt x="843" y="655"/>
                  </a:lnTo>
                  <a:lnTo>
                    <a:pt x="843" y="258"/>
                  </a:lnTo>
                  <a:close/>
                  <a:moveTo>
                    <a:pt x="1268" y="615"/>
                  </a:moveTo>
                  <a:lnTo>
                    <a:pt x="1402" y="615"/>
                  </a:lnTo>
                  <a:lnTo>
                    <a:pt x="1402" y="655"/>
                  </a:lnTo>
                  <a:lnTo>
                    <a:pt x="1268" y="655"/>
                  </a:lnTo>
                  <a:lnTo>
                    <a:pt x="1268" y="615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7" name="Freeform 26">
              <a:extLst>
                <a:ext uri="{FF2B5EF4-FFF2-40B4-BE49-F238E27FC236}">
                  <a16:creationId xmlns:a16="http://schemas.microsoft.com/office/drawing/2014/main" id="{3B9745F0-C375-45E3-82A3-9B85560348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77995" y="3139131"/>
              <a:ext cx="2225675" cy="1951037"/>
            </a:xfrm>
            <a:custGeom>
              <a:avLst/>
              <a:gdLst>
                <a:gd name="T0" fmla="*/ 0 w 1402"/>
                <a:gd name="T1" fmla="*/ 971 h 1229"/>
                <a:gd name="T2" fmla="*/ 128 w 1402"/>
                <a:gd name="T3" fmla="*/ 971 h 1229"/>
                <a:gd name="T4" fmla="*/ 128 w 1402"/>
                <a:gd name="T5" fmla="*/ 1170 h 1229"/>
                <a:gd name="T6" fmla="*/ 0 w 1402"/>
                <a:gd name="T7" fmla="*/ 1170 h 1229"/>
                <a:gd name="T8" fmla="*/ 0 w 1402"/>
                <a:gd name="T9" fmla="*/ 971 h 1229"/>
                <a:gd name="T10" fmla="*/ 419 w 1402"/>
                <a:gd name="T11" fmla="*/ 0 h 1229"/>
                <a:gd name="T12" fmla="*/ 552 w 1402"/>
                <a:gd name="T13" fmla="*/ 0 h 1229"/>
                <a:gd name="T14" fmla="*/ 552 w 1402"/>
                <a:gd name="T15" fmla="*/ 614 h 1229"/>
                <a:gd name="T16" fmla="*/ 419 w 1402"/>
                <a:gd name="T17" fmla="*/ 614 h 1229"/>
                <a:gd name="T18" fmla="*/ 419 w 1402"/>
                <a:gd name="T19" fmla="*/ 0 h 1229"/>
                <a:gd name="T20" fmla="*/ 843 w 1402"/>
                <a:gd name="T21" fmla="*/ 562 h 1229"/>
                <a:gd name="T22" fmla="*/ 977 w 1402"/>
                <a:gd name="T23" fmla="*/ 562 h 1229"/>
                <a:gd name="T24" fmla="*/ 977 w 1402"/>
                <a:gd name="T25" fmla="*/ 872 h 1229"/>
                <a:gd name="T26" fmla="*/ 843 w 1402"/>
                <a:gd name="T27" fmla="*/ 872 h 1229"/>
                <a:gd name="T28" fmla="*/ 843 w 1402"/>
                <a:gd name="T29" fmla="*/ 562 h 1229"/>
                <a:gd name="T30" fmla="*/ 1268 w 1402"/>
                <a:gd name="T31" fmla="*/ 1170 h 1229"/>
                <a:gd name="T32" fmla="*/ 1402 w 1402"/>
                <a:gd name="T33" fmla="*/ 1170 h 1229"/>
                <a:gd name="T34" fmla="*/ 1402 w 1402"/>
                <a:gd name="T35" fmla="*/ 1229 h 1229"/>
                <a:gd name="T36" fmla="*/ 1268 w 1402"/>
                <a:gd name="T37" fmla="*/ 1229 h 1229"/>
                <a:gd name="T38" fmla="*/ 1268 w 1402"/>
                <a:gd name="T39" fmla="*/ 1170 h 1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02" h="1229">
                  <a:moveTo>
                    <a:pt x="0" y="971"/>
                  </a:moveTo>
                  <a:lnTo>
                    <a:pt x="128" y="971"/>
                  </a:lnTo>
                  <a:lnTo>
                    <a:pt x="128" y="1170"/>
                  </a:lnTo>
                  <a:lnTo>
                    <a:pt x="0" y="1170"/>
                  </a:lnTo>
                  <a:lnTo>
                    <a:pt x="0" y="971"/>
                  </a:lnTo>
                  <a:close/>
                  <a:moveTo>
                    <a:pt x="419" y="0"/>
                  </a:moveTo>
                  <a:lnTo>
                    <a:pt x="552" y="0"/>
                  </a:lnTo>
                  <a:lnTo>
                    <a:pt x="552" y="614"/>
                  </a:lnTo>
                  <a:lnTo>
                    <a:pt x="419" y="614"/>
                  </a:lnTo>
                  <a:lnTo>
                    <a:pt x="419" y="0"/>
                  </a:lnTo>
                  <a:close/>
                  <a:moveTo>
                    <a:pt x="843" y="562"/>
                  </a:moveTo>
                  <a:lnTo>
                    <a:pt x="977" y="562"/>
                  </a:lnTo>
                  <a:lnTo>
                    <a:pt x="977" y="872"/>
                  </a:lnTo>
                  <a:lnTo>
                    <a:pt x="843" y="872"/>
                  </a:lnTo>
                  <a:lnTo>
                    <a:pt x="843" y="562"/>
                  </a:lnTo>
                  <a:close/>
                  <a:moveTo>
                    <a:pt x="1268" y="1170"/>
                  </a:moveTo>
                  <a:lnTo>
                    <a:pt x="1402" y="1170"/>
                  </a:lnTo>
                  <a:lnTo>
                    <a:pt x="1402" y="1229"/>
                  </a:lnTo>
                  <a:lnTo>
                    <a:pt x="1268" y="1229"/>
                  </a:lnTo>
                  <a:lnTo>
                    <a:pt x="1268" y="1170"/>
                  </a:lnTo>
                  <a:close/>
                </a:path>
              </a:pathLst>
            </a:custGeom>
            <a:solidFill>
              <a:srgbClr val="ED7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8" name="Freeform 27">
              <a:extLst>
                <a:ext uri="{FF2B5EF4-FFF2-40B4-BE49-F238E27FC236}">
                  <a16:creationId xmlns:a16="http://schemas.microsoft.com/office/drawing/2014/main" id="{2DE18863-71A5-44AD-A86D-15F6072D49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77995" y="3139131"/>
              <a:ext cx="2225675" cy="1951037"/>
            </a:xfrm>
            <a:custGeom>
              <a:avLst/>
              <a:gdLst>
                <a:gd name="T0" fmla="*/ 0 w 1402"/>
                <a:gd name="T1" fmla="*/ 971 h 1229"/>
                <a:gd name="T2" fmla="*/ 128 w 1402"/>
                <a:gd name="T3" fmla="*/ 971 h 1229"/>
                <a:gd name="T4" fmla="*/ 128 w 1402"/>
                <a:gd name="T5" fmla="*/ 1170 h 1229"/>
                <a:gd name="T6" fmla="*/ 0 w 1402"/>
                <a:gd name="T7" fmla="*/ 1170 h 1229"/>
                <a:gd name="T8" fmla="*/ 0 w 1402"/>
                <a:gd name="T9" fmla="*/ 971 h 1229"/>
                <a:gd name="T10" fmla="*/ 419 w 1402"/>
                <a:gd name="T11" fmla="*/ 0 h 1229"/>
                <a:gd name="T12" fmla="*/ 552 w 1402"/>
                <a:gd name="T13" fmla="*/ 0 h 1229"/>
                <a:gd name="T14" fmla="*/ 552 w 1402"/>
                <a:gd name="T15" fmla="*/ 614 h 1229"/>
                <a:gd name="T16" fmla="*/ 419 w 1402"/>
                <a:gd name="T17" fmla="*/ 614 h 1229"/>
                <a:gd name="T18" fmla="*/ 419 w 1402"/>
                <a:gd name="T19" fmla="*/ 0 h 1229"/>
                <a:gd name="T20" fmla="*/ 843 w 1402"/>
                <a:gd name="T21" fmla="*/ 562 h 1229"/>
                <a:gd name="T22" fmla="*/ 977 w 1402"/>
                <a:gd name="T23" fmla="*/ 562 h 1229"/>
                <a:gd name="T24" fmla="*/ 977 w 1402"/>
                <a:gd name="T25" fmla="*/ 872 h 1229"/>
                <a:gd name="T26" fmla="*/ 843 w 1402"/>
                <a:gd name="T27" fmla="*/ 872 h 1229"/>
                <a:gd name="T28" fmla="*/ 843 w 1402"/>
                <a:gd name="T29" fmla="*/ 562 h 1229"/>
                <a:gd name="T30" fmla="*/ 1268 w 1402"/>
                <a:gd name="T31" fmla="*/ 1170 h 1229"/>
                <a:gd name="T32" fmla="*/ 1402 w 1402"/>
                <a:gd name="T33" fmla="*/ 1170 h 1229"/>
                <a:gd name="T34" fmla="*/ 1402 w 1402"/>
                <a:gd name="T35" fmla="*/ 1229 h 1229"/>
                <a:gd name="T36" fmla="*/ 1268 w 1402"/>
                <a:gd name="T37" fmla="*/ 1229 h 1229"/>
                <a:gd name="T38" fmla="*/ 1268 w 1402"/>
                <a:gd name="T39" fmla="*/ 1170 h 1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02" h="1229">
                  <a:moveTo>
                    <a:pt x="0" y="971"/>
                  </a:moveTo>
                  <a:lnTo>
                    <a:pt x="128" y="971"/>
                  </a:lnTo>
                  <a:lnTo>
                    <a:pt x="128" y="1170"/>
                  </a:lnTo>
                  <a:lnTo>
                    <a:pt x="0" y="1170"/>
                  </a:lnTo>
                  <a:lnTo>
                    <a:pt x="0" y="971"/>
                  </a:lnTo>
                  <a:close/>
                  <a:moveTo>
                    <a:pt x="419" y="0"/>
                  </a:moveTo>
                  <a:lnTo>
                    <a:pt x="552" y="0"/>
                  </a:lnTo>
                  <a:lnTo>
                    <a:pt x="552" y="614"/>
                  </a:lnTo>
                  <a:lnTo>
                    <a:pt x="419" y="614"/>
                  </a:lnTo>
                  <a:lnTo>
                    <a:pt x="419" y="0"/>
                  </a:lnTo>
                  <a:close/>
                  <a:moveTo>
                    <a:pt x="843" y="562"/>
                  </a:moveTo>
                  <a:lnTo>
                    <a:pt x="977" y="562"/>
                  </a:lnTo>
                  <a:lnTo>
                    <a:pt x="977" y="872"/>
                  </a:lnTo>
                  <a:lnTo>
                    <a:pt x="843" y="872"/>
                  </a:lnTo>
                  <a:lnTo>
                    <a:pt x="843" y="562"/>
                  </a:lnTo>
                  <a:close/>
                  <a:moveTo>
                    <a:pt x="1268" y="1170"/>
                  </a:moveTo>
                  <a:lnTo>
                    <a:pt x="1402" y="1170"/>
                  </a:lnTo>
                  <a:lnTo>
                    <a:pt x="1402" y="1229"/>
                  </a:lnTo>
                  <a:lnTo>
                    <a:pt x="1268" y="1229"/>
                  </a:lnTo>
                  <a:lnTo>
                    <a:pt x="1268" y="117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9" name="Line 28">
              <a:extLst>
                <a:ext uri="{FF2B5EF4-FFF2-40B4-BE49-F238E27FC236}">
                  <a16:creationId xmlns:a16="http://schemas.microsoft.com/office/drawing/2014/main" id="{03B3BF2E-BDAA-4799-91AC-B3DED996A1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6220" y="2897831"/>
              <a:ext cx="0" cy="22558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100"/>
            </a:p>
          </p:txBody>
        </p:sp>
        <p:sp>
          <p:nvSpPr>
            <p:cNvPr id="100" name="Line 29">
              <a:extLst>
                <a:ext uri="{FF2B5EF4-FFF2-40B4-BE49-F238E27FC236}">
                  <a16:creationId xmlns:a16="http://schemas.microsoft.com/office/drawing/2014/main" id="{3DC03C7A-EE02-4D39-8C75-4E2FC65EB2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6220" y="5153668"/>
              <a:ext cx="26892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1" name="Rectangle 30">
              <a:extLst>
                <a:ext uri="{FF2B5EF4-FFF2-40B4-BE49-F238E27FC236}">
                  <a16:creationId xmlns:a16="http://schemas.microsoft.com/office/drawing/2014/main" id="{59E53A7A-C1B9-4B30-B894-85AD9AD843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057" y="5080643"/>
              <a:ext cx="72136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0</a:t>
              </a:r>
              <a:endPara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02" name="Rectangle 31">
              <a:extLst>
                <a:ext uri="{FF2B5EF4-FFF2-40B4-BE49-F238E27FC236}">
                  <a16:creationId xmlns:a16="http://schemas.microsoft.com/office/drawing/2014/main" id="{016E1DA5-D809-40C2-B99A-A00901ECE2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495" y="4709168"/>
              <a:ext cx="14427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20</a:t>
              </a:r>
              <a:endPara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03" name="Rectangle 32">
              <a:extLst>
                <a:ext uri="{FF2B5EF4-FFF2-40B4-BE49-F238E27FC236}">
                  <a16:creationId xmlns:a16="http://schemas.microsoft.com/office/drawing/2014/main" id="{D0BAAD68-9FEF-462C-9EA0-8E1440F19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495" y="4328168"/>
              <a:ext cx="14427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40</a:t>
              </a:r>
              <a:endPara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04" name="Rectangle 33">
              <a:extLst>
                <a:ext uri="{FF2B5EF4-FFF2-40B4-BE49-F238E27FC236}">
                  <a16:creationId xmlns:a16="http://schemas.microsoft.com/office/drawing/2014/main" id="{5003034F-8F66-4BAF-8290-9247711689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495" y="3956693"/>
              <a:ext cx="14427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60</a:t>
              </a:r>
              <a:endPara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05" name="Rectangle 34">
              <a:extLst>
                <a:ext uri="{FF2B5EF4-FFF2-40B4-BE49-F238E27FC236}">
                  <a16:creationId xmlns:a16="http://schemas.microsoft.com/office/drawing/2014/main" id="{B3060EE1-C9E8-48C3-9CB8-3D1ABDF032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495" y="3575693"/>
              <a:ext cx="14427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80</a:t>
              </a:r>
              <a:endPara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06" name="Rectangle 35">
              <a:extLst>
                <a:ext uri="{FF2B5EF4-FFF2-40B4-BE49-F238E27FC236}">
                  <a16:creationId xmlns:a16="http://schemas.microsoft.com/office/drawing/2014/main" id="{411B9A52-2700-4E02-8E34-D28E286ED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932" y="3204218"/>
              <a:ext cx="216406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100</a:t>
              </a:r>
              <a:endPara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07" name="Rectangle 36">
              <a:extLst>
                <a:ext uri="{FF2B5EF4-FFF2-40B4-BE49-F238E27FC236}">
                  <a16:creationId xmlns:a16="http://schemas.microsoft.com/office/drawing/2014/main" id="{4D95A46E-6160-46FA-8265-C8ED8E62BF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932" y="2832743"/>
              <a:ext cx="216406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120</a:t>
              </a:r>
              <a:endPara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08" name="Rectangle 37">
              <a:extLst>
                <a:ext uri="{FF2B5EF4-FFF2-40B4-BE49-F238E27FC236}">
                  <a16:creationId xmlns:a16="http://schemas.microsoft.com/office/drawing/2014/main" id="{4E22C72A-FC91-4B0D-8247-DD1C5CB5E9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1020" y="5229868"/>
              <a:ext cx="72136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0</a:t>
              </a:r>
              <a:endPara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09" name="Rectangle 38">
              <a:extLst>
                <a:ext uri="{FF2B5EF4-FFF2-40B4-BE49-F238E27FC236}">
                  <a16:creationId xmlns:a16="http://schemas.microsoft.com/office/drawing/2014/main" id="{05BA8A59-F48B-4006-9D62-6C60A44E5E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5707" y="5229868"/>
              <a:ext cx="72136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1</a:t>
              </a:r>
              <a:endPara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10" name="Rectangle 39">
              <a:extLst>
                <a:ext uri="{FF2B5EF4-FFF2-40B4-BE49-F238E27FC236}">
                  <a16:creationId xmlns:a16="http://schemas.microsoft.com/office/drawing/2014/main" id="{05996E63-BC4E-4DE4-8220-6541A2BAB4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0395" y="5229868"/>
              <a:ext cx="72136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2</a:t>
              </a:r>
              <a:endPara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11" name="Rectangle 40">
              <a:extLst>
                <a:ext uri="{FF2B5EF4-FFF2-40B4-BE49-F238E27FC236}">
                  <a16:creationId xmlns:a16="http://schemas.microsoft.com/office/drawing/2014/main" id="{44382711-01D2-439A-9682-A4040E930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5082" y="5229868"/>
              <a:ext cx="72136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3</a:t>
              </a:r>
              <a:endPara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12" name="Rectangle 66">
              <a:extLst>
                <a:ext uri="{FF2B5EF4-FFF2-40B4-BE49-F238E27FC236}">
                  <a16:creationId xmlns:a16="http://schemas.microsoft.com/office/drawing/2014/main" id="{3CBFB80A-922F-4A2B-9CE5-DBFA6D113C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7529" y="2648776"/>
              <a:ext cx="471476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women</a:t>
              </a:r>
              <a:endPara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13" name="Rectangle 66">
              <a:extLst>
                <a:ext uri="{FF2B5EF4-FFF2-40B4-BE49-F238E27FC236}">
                  <a16:creationId xmlns:a16="http://schemas.microsoft.com/office/drawing/2014/main" id="{C9E9E6E5-784F-46CE-A336-B0370E6744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9188" y="2878288"/>
              <a:ext cx="280526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men</a:t>
              </a:r>
              <a:endPara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096C72E2-5614-4DF8-97CC-032758E7F832}"/>
                </a:ext>
              </a:extLst>
            </p:cNvPr>
            <p:cNvSpPr/>
            <p:nvPr/>
          </p:nvSpPr>
          <p:spPr>
            <a:xfrm>
              <a:off x="3486943" y="2680284"/>
              <a:ext cx="147600" cy="146323"/>
            </a:xfrm>
            <a:prstGeom prst="rect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B776CB58-AE3C-48F0-B765-BEC049E65464}"/>
                </a:ext>
              </a:extLst>
            </p:cNvPr>
            <p:cNvSpPr/>
            <p:nvPr/>
          </p:nvSpPr>
          <p:spPr>
            <a:xfrm>
              <a:off x="3486943" y="2914338"/>
              <a:ext cx="147600" cy="146323"/>
            </a:xfrm>
            <a:prstGeom prst="rect">
              <a:avLst/>
            </a:prstGeom>
            <a:solidFill>
              <a:srgbClr val="ED7D3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2" name="Rectangle 68">
              <a:extLst>
                <a:ext uri="{FF2B5EF4-FFF2-40B4-BE49-F238E27FC236}">
                  <a16:creationId xmlns:a16="http://schemas.microsoft.com/office/drawing/2014/main" id="{BC92DA49-B0C8-458B-BA15-0E0E8D94A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8692" y="5442991"/>
              <a:ext cx="141667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Performance status</a:t>
              </a:r>
              <a:endPara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23" name="Rectangle 66">
              <a:extLst>
                <a:ext uri="{FF2B5EF4-FFF2-40B4-BE49-F238E27FC236}">
                  <a16:creationId xmlns:a16="http://schemas.microsoft.com/office/drawing/2014/main" id="{46A6BF4E-42F1-4BC4-92EB-6A28201D2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9507" y="3790389"/>
              <a:ext cx="9938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n</a:t>
              </a:r>
            </a:p>
          </p:txBody>
        </p:sp>
      </p:grpSp>
      <p:sp>
        <p:nvSpPr>
          <p:cNvPr id="126" name="Rectangle 77">
            <a:extLst>
              <a:ext uri="{FF2B5EF4-FFF2-40B4-BE49-F238E27FC236}">
                <a16:creationId xmlns:a16="http://schemas.microsoft.com/office/drawing/2014/main" id="{9BD42341-0F66-4245-9937-6EC579A3B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234" y="6473333"/>
            <a:ext cx="3012043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102 patients with NSCLC treated with SABR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2816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1B960B-FA94-4143-B1CD-53514EE9AE67}"/>
              </a:ext>
            </a:extLst>
          </p:cNvPr>
          <p:cNvSpPr/>
          <p:nvPr/>
        </p:nvSpPr>
        <p:spPr>
          <a:xfrm>
            <a:off x="280295" y="858920"/>
            <a:ext cx="26382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340">
              <a:spcAft>
                <a:spcPts val="1400"/>
              </a:spcAft>
            </a:pPr>
            <a:r>
              <a:rPr lang="en-US" sz="2800" dirty="0">
                <a:ea typeface="Cambria" panose="02040503050406030204" pitchFamily="18" charset="0"/>
                <a:cs typeface="Times New Roman" panose="02020603050405020304" pitchFamily="18" charset="0"/>
              </a:rPr>
              <a:t>Illustrating data</a:t>
            </a:r>
            <a:endParaRPr lang="en-GB" sz="2800" dirty="0">
              <a:effectLst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CFC760-AA04-459B-9880-D74433C3482C}"/>
              </a:ext>
            </a:extLst>
          </p:cNvPr>
          <p:cNvSpPr/>
          <p:nvPr/>
        </p:nvSpPr>
        <p:spPr>
          <a:xfrm>
            <a:off x="280294" y="1755391"/>
            <a:ext cx="28770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340">
              <a:spcAft>
                <a:spcPts val="1400"/>
              </a:spcAft>
            </a:pPr>
            <a:r>
              <a:rPr lang="en-US" sz="2400" i="1" dirty="0">
                <a:latin typeface="Century Gothic" panose="020B05020202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Continuous data</a:t>
            </a:r>
            <a:endParaRPr lang="en-GB" sz="24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0F37E5-B791-4BD9-B8E0-26C0E4609730}"/>
              </a:ext>
            </a:extLst>
          </p:cNvPr>
          <p:cNvSpPr/>
          <p:nvPr/>
        </p:nvSpPr>
        <p:spPr>
          <a:xfrm>
            <a:off x="871964" y="2651862"/>
            <a:ext cx="70496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340">
              <a:spcAft>
                <a:spcPts val="1400"/>
              </a:spcAft>
            </a:pPr>
            <a:r>
              <a:rPr lang="en-US" sz="2400" dirty="0">
                <a:latin typeface="Century Gothic" panose="020B05020202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Histograms, scatter plots, box-plots, dot plots </a:t>
            </a:r>
            <a:endParaRPr lang="en-GB" sz="24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0C53B6-FB3B-435F-B2A7-84A1AC453F43}"/>
              </a:ext>
            </a:extLst>
          </p:cNvPr>
          <p:cNvSpPr/>
          <p:nvPr/>
        </p:nvSpPr>
        <p:spPr>
          <a:xfrm>
            <a:off x="280294" y="3902439"/>
            <a:ext cx="44945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340">
              <a:spcAft>
                <a:spcPts val="1400"/>
              </a:spcAft>
            </a:pPr>
            <a:r>
              <a:rPr lang="en-US" sz="2400" i="1" dirty="0">
                <a:latin typeface="Century Gothic" panose="020B05020202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Categorical (nominal) data</a:t>
            </a:r>
            <a:endParaRPr lang="en-GB" sz="24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392810-91D1-4BE4-A833-95271318B977}"/>
              </a:ext>
            </a:extLst>
          </p:cNvPr>
          <p:cNvSpPr/>
          <p:nvPr/>
        </p:nvSpPr>
        <p:spPr>
          <a:xfrm>
            <a:off x="871964" y="4624098"/>
            <a:ext cx="62690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340">
              <a:spcAft>
                <a:spcPts val="1400"/>
              </a:spcAft>
            </a:pPr>
            <a:r>
              <a:rPr lang="en-US" sz="2400" dirty="0">
                <a:latin typeface="Century Gothic" panose="020B05020202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Bar charts, pie charts, frequency tables </a:t>
            </a:r>
            <a:endParaRPr lang="en-GB" sz="24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69870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1695" y="741778"/>
            <a:ext cx="39382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180340">
              <a:spcBef>
                <a:spcPts val="2000"/>
              </a:spcBef>
              <a:spcAft>
                <a:spcPts val="500"/>
              </a:spcAft>
            </a:pPr>
            <a:r>
              <a:rPr lang="en-US" sz="3200" kern="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Descriptive measures</a:t>
            </a:r>
            <a:endParaRPr lang="en-GB" sz="3200" b="1" kern="0" dirty="0">
              <a:solidFill>
                <a:srgbClr val="000000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76164" y="1635254"/>
            <a:ext cx="7923336" cy="804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000000"/>
                </a:solidFill>
                <a:latin typeface="Century Gothic" panose="020B0502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 descriptive measure is a numerical value, which </a:t>
            </a:r>
            <a:r>
              <a:rPr lang="en-US" sz="2000" dirty="0" err="1">
                <a:solidFill>
                  <a:srgbClr val="000000"/>
                </a:solidFill>
                <a:latin typeface="Century Gothic" panose="020B0502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summarises</a:t>
            </a:r>
            <a:r>
              <a:rPr lang="en-US" sz="2000" dirty="0">
                <a:solidFill>
                  <a:srgbClr val="000000"/>
                </a:solidFill>
                <a:latin typeface="Century Gothic" panose="020B0502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a set of data</a:t>
            </a:r>
            <a:endParaRPr lang="en-GB" sz="2000" dirty="0"/>
          </a:p>
        </p:txBody>
      </p:sp>
      <p:grpSp>
        <p:nvGrpSpPr>
          <p:cNvPr id="8" name="Group 7"/>
          <p:cNvGrpSpPr/>
          <p:nvPr/>
        </p:nvGrpSpPr>
        <p:grpSpPr>
          <a:xfrm>
            <a:off x="776164" y="2796240"/>
            <a:ext cx="7641695" cy="3268786"/>
            <a:chOff x="776164" y="2796240"/>
            <a:chExt cx="7641695" cy="3268786"/>
          </a:xfrm>
        </p:grpSpPr>
        <p:sp>
          <p:nvSpPr>
            <p:cNvPr id="4" name="Rectangle 3"/>
            <p:cNvSpPr/>
            <p:nvPr/>
          </p:nvSpPr>
          <p:spPr>
            <a:xfrm>
              <a:off x="776164" y="2796240"/>
              <a:ext cx="730623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  <a:latin typeface="Century Gothic" panose="020B0502020202020204" pitchFamily="34" charset="0"/>
                  <a:ea typeface="Cambria" panose="02040503050406030204" pitchFamily="18" charset="0"/>
                  <a:cs typeface="Arial" panose="020B0604020202020204" pitchFamily="34" charset="0"/>
                </a:rPr>
                <a:t>number of patients in a sample is </a:t>
              </a:r>
              <a:r>
                <a:rPr lang="en-US" sz="2000" b="1" dirty="0">
                  <a:solidFill>
                    <a:srgbClr val="000000"/>
                  </a:solidFill>
                  <a:latin typeface="Century Gothic" panose="020B0502020202020204" pitchFamily="34" charset="0"/>
                  <a:ea typeface="Cambria" panose="02040503050406030204" pitchFamily="18" charset="0"/>
                  <a:cs typeface="Arial" panose="020B0604020202020204" pitchFamily="34" charset="0"/>
                </a:rPr>
                <a:t>n</a:t>
              </a:r>
              <a:endParaRPr lang="en-GB" sz="2000" dirty="0"/>
            </a:p>
          </p:txBody>
        </p:sp>
        <p:sp>
          <p:nvSpPr>
            <p:cNvPr id="5" name="Rectangle 4"/>
            <p:cNvSpPr/>
            <p:nvPr/>
          </p:nvSpPr>
          <p:spPr>
            <a:xfrm>
              <a:off x="776164" y="3607331"/>
              <a:ext cx="7641695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  <a:latin typeface="Century Gothic" panose="020B0502020202020204" pitchFamily="34" charset="0"/>
                  <a:ea typeface="Cambria" panose="02040503050406030204" pitchFamily="18" charset="0"/>
                  <a:cs typeface="Arial" panose="020B0604020202020204" pitchFamily="34" charset="0"/>
                </a:rPr>
                <a:t>We represent the individual values of a variable </a:t>
              </a:r>
              <a:r>
                <a:rPr lang="en-US" sz="2000" b="1" dirty="0">
                  <a:solidFill>
                    <a:srgbClr val="000000"/>
                  </a:solidFill>
                  <a:latin typeface="Century Gothic" panose="020B0502020202020204" pitchFamily="34" charset="0"/>
                  <a:ea typeface="Cambria" panose="02040503050406030204" pitchFamily="18" charset="0"/>
                  <a:cs typeface="Arial" panose="020B0604020202020204" pitchFamily="34" charset="0"/>
                </a:rPr>
                <a:t>X</a:t>
              </a:r>
              <a:r>
                <a:rPr lang="en-US" sz="2000" dirty="0">
                  <a:solidFill>
                    <a:srgbClr val="000000"/>
                  </a:solidFill>
                  <a:latin typeface="Century Gothic" panose="020B0502020202020204" pitchFamily="34" charset="0"/>
                  <a:ea typeface="Cambria" panose="02040503050406030204" pitchFamily="18" charset="0"/>
                  <a:cs typeface="Arial" panose="020B0604020202020204" pitchFamily="34" charset="0"/>
                </a:rPr>
                <a:t> with a small letter </a:t>
              </a:r>
              <a:r>
                <a:rPr lang="en-US" sz="2000" b="1" dirty="0">
                  <a:solidFill>
                    <a:srgbClr val="000000"/>
                  </a:solidFill>
                  <a:latin typeface="Century Gothic" panose="020B0502020202020204" pitchFamily="34" charset="0"/>
                  <a:ea typeface="Cambria" panose="02040503050406030204" pitchFamily="18" charset="0"/>
                  <a:cs typeface="Arial" panose="020B0604020202020204" pitchFamily="34" charset="0"/>
                </a:rPr>
                <a:t>x</a:t>
              </a:r>
              <a:r>
                <a:rPr lang="en-US" sz="2000" dirty="0">
                  <a:solidFill>
                    <a:srgbClr val="000000"/>
                  </a:solidFill>
                  <a:latin typeface="Century Gothic" panose="020B0502020202020204" pitchFamily="34" charset="0"/>
                  <a:ea typeface="Cambria" panose="02040503050406030204" pitchFamily="18" charset="0"/>
                  <a:cs typeface="Arial" panose="020B0604020202020204" pitchFamily="34" charset="0"/>
                </a:rPr>
                <a:t>.</a:t>
              </a:r>
              <a:endParaRPr lang="en-GB" sz="20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2610824" y="4726198"/>
              <a:ext cx="4620589" cy="13388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R="188595">
                <a:lnSpc>
                  <a:spcPct val="150000"/>
                </a:lnSpc>
              </a:pPr>
              <a:r>
                <a:rPr lang="en-US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the value for patient 1 is </a:t>
              </a:r>
              <a:r>
                <a:rPr lang="en-US" b="1" i="1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x</a:t>
              </a:r>
              <a:r>
                <a:rPr lang="en-US" b="1" kern="1400" baseline="-250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1</a:t>
              </a:r>
            </a:p>
            <a:p>
              <a:pPr marR="188595">
                <a:lnSpc>
                  <a:spcPct val="150000"/>
                </a:lnSpc>
              </a:pPr>
              <a:r>
                <a:rPr lang="en-US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the value for patient 2 is </a:t>
              </a:r>
              <a:r>
                <a:rPr lang="en-US" b="1" i="1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x</a:t>
              </a:r>
              <a:r>
                <a:rPr lang="en-US" b="1" kern="1400" baseline="-250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2</a:t>
              </a:r>
              <a:endPara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  <a:p>
              <a:pPr marR="188595">
                <a:lnSpc>
                  <a:spcPct val="150000"/>
                </a:lnSpc>
              </a:pPr>
              <a:r>
                <a:rPr lang="en-US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the value for patient n is </a:t>
              </a:r>
              <a:r>
                <a:rPr lang="en-US" b="1" i="1" kern="1400" dirty="0" err="1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x</a:t>
              </a:r>
              <a:r>
                <a:rPr lang="en-US" b="1" kern="1400" baseline="-25000" dirty="0" err="1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n</a:t>
              </a:r>
              <a:endParaRPr lang="en-GB" sz="5400" kern="1400" dirty="0">
                <a:solidFill>
                  <a:srgbClr val="2A7B88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706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7961" y="943474"/>
            <a:ext cx="8307295" cy="6438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88595">
              <a:lnSpc>
                <a:spcPct val="120000"/>
              </a:lnSpc>
            </a:pPr>
            <a:r>
              <a:rPr lang="en-US" sz="3200" kern="14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Measures of Location or Central Tendency</a:t>
            </a:r>
            <a:endParaRPr lang="en-GB" sz="3200" kern="1400" dirty="0">
              <a:solidFill>
                <a:srgbClr val="2A7B88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23474" y="2582956"/>
            <a:ext cx="47700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entury Gothic" panose="020B0502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Referred to as ‘average’ values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23474" y="3376935"/>
            <a:ext cx="43075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i="1" dirty="0">
                <a:solidFill>
                  <a:srgbClr val="000000"/>
                </a:solidFill>
                <a:latin typeface="Century Gothic" panose="020B0502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mean, median, </a:t>
            </a:r>
            <a:r>
              <a:rPr lang="en-US" sz="2400" dirty="0">
                <a:solidFill>
                  <a:srgbClr val="000000"/>
                </a:solidFill>
                <a:latin typeface="Century Gothic" panose="020B0502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and</a:t>
            </a:r>
            <a:r>
              <a:rPr lang="en-US" sz="2400" b="1" i="1" dirty="0">
                <a:solidFill>
                  <a:srgbClr val="000000"/>
                </a:solidFill>
                <a:latin typeface="Century Gothic" panose="020B0502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mode</a:t>
            </a:r>
            <a:r>
              <a:rPr lang="en-US" sz="2400" dirty="0">
                <a:solidFill>
                  <a:srgbClr val="000000"/>
                </a:solidFill>
                <a:latin typeface="Century Gothic" panose="020B0502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2447720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817563" y="2205102"/>
                <a:ext cx="7581900" cy="14187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80340" marR="188595">
                  <a:lnSpc>
                    <a:spcPct val="15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kern="14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𝑚𝑒𝑎𝑛</m:t>
                      </m:r>
                      <m:r>
                        <a:rPr lang="en-US" sz="2800" i="1" kern="14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GB" sz="2800" i="1" kern="14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GB" sz="2800" i="1" kern="14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2800" i="1" kern="14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</m:nary>
                        </m:num>
                        <m:den>
                          <m:r>
                            <a:rPr lang="en-US" sz="2800" i="1" kern="14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GB" sz="5400" kern="1400" dirty="0">
                  <a:solidFill>
                    <a:srgbClr val="2A7B88"/>
                  </a:solidFill>
                  <a:effectLst/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563" y="2205102"/>
                <a:ext cx="7581900" cy="141878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849926" y="1449388"/>
                <a:ext cx="4787529" cy="553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180340" marR="188595"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en-US" sz="2000" b="1" kern="1400" dirty="0">
                    <a:latin typeface="Century Gothic" panose="020B0502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Sample mean</a:t>
                </a:r>
                <a:r>
                  <a:rPr lang="en-US" sz="2000" b="1" kern="1400" dirty="0">
                    <a:latin typeface="Century Gothic" panose="020B0502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000" kern="1400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sz="2000" b="1" i="1" kern="1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000" b="1" i="1" kern="1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sz="2000" kern="1400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) is calculated as </a:t>
                </a:r>
                <a:endParaRPr lang="en-GB" sz="2000" kern="1400" dirty="0">
                  <a:solidFill>
                    <a:srgbClr val="2A7B88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926" y="1449388"/>
                <a:ext cx="4787529" cy="553998"/>
              </a:xfrm>
              <a:prstGeom prst="rect">
                <a:avLst/>
              </a:prstGeom>
              <a:blipFill rotWithShape="0">
                <a:blip r:embed="rId3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4072924" y="3958070"/>
            <a:ext cx="4572000" cy="1420004"/>
          </a:xfrm>
          <a:prstGeom prst="rect">
            <a:avLst/>
          </a:prstGeom>
        </p:spPr>
        <p:txBody>
          <a:bodyPr>
            <a:spAutoFit/>
          </a:bodyPr>
          <a:lstStyle/>
          <a:p>
            <a:pPr marL="180340" marR="188595">
              <a:lnSpc>
                <a:spcPct val="150000"/>
              </a:lnSpc>
              <a:spcAft>
                <a:spcPts val="600"/>
              </a:spcAft>
            </a:pPr>
            <a:r>
              <a:rPr lang="en-US" sz="2000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is the sum of all values across the subjects, and n is the total number of subjects.</a:t>
            </a:r>
            <a:endParaRPr lang="en-GB" sz="2000" kern="1400" dirty="0">
              <a:solidFill>
                <a:srgbClr val="2A7B88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49926" y="3756354"/>
            <a:ext cx="3222998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340" marR="188595">
              <a:lnSpc>
                <a:spcPct val="150000"/>
              </a:lnSpc>
              <a:spcAft>
                <a:spcPts val="600"/>
              </a:spcAft>
            </a:pPr>
            <a:r>
              <a:rPr lang="en-US" sz="2800" kern="1400" dirty="0" err="1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Σ</a:t>
            </a:r>
            <a:r>
              <a:rPr lang="en-US" sz="2400" kern="1400" dirty="0" err="1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</a:t>
            </a:r>
            <a:r>
              <a:rPr lang="en-US" sz="2400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en-US" kern="1400" baseline="-250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 </a:t>
            </a: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+ </a:t>
            </a:r>
            <a:r>
              <a:rPr lang="en-US" sz="2400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en-US" kern="1400" baseline="-250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 </a:t>
            </a: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+ </a:t>
            </a:r>
            <a:r>
              <a:rPr lang="en-US" sz="2400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en-US" kern="1400" baseline="-250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</a:t>
            </a: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+ …+ </a:t>
            </a:r>
            <a:r>
              <a:rPr lang="en-US" sz="2400" kern="1400" dirty="0" err="1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en-US" kern="1400" baseline="-25000" dirty="0" err="1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</a:t>
            </a:r>
            <a:endParaRPr lang="en-GB" sz="5400" kern="1400" dirty="0">
              <a:solidFill>
                <a:srgbClr val="2A7B88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755AF9-F8CD-BE30-5FEC-E80803538D6A}"/>
              </a:ext>
            </a:extLst>
          </p:cNvPr>
          <p:cNvGrpSpPr/>
          <p:nvPr/>
        </p:nvGrpSpPr>
        <p:grpSpPr>
          <a:xfrm>
            <a:off x="5123354" y="2115233"/>
            <a:ext cx="1752556" cy="444669"/>
            <a:chOff x="5331725" y="2968580"/>
            <a:chExt cx="1752556" cy="444669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2537D786-5402-5846-D88C-5A91A7B65E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31725" y="3188412"/>
              <a:ext cx="344798" cy="22483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011729B-C8FD-886A-E7A3-89DA139AA457}"/>
                </a:ext>
              </a:extLst>
            </p:cNvPr>
            <p:cNvSpPr txBox="1"/>
            <p:nvPr/>
          </p:nvSpPr>
          <p:spPr>
            <a:xfrm>
              <a:off x="5676523" y="2968580"/>
              <a:ext cx="14077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i="1" dirty="0">
                  <a:solidFill>
                    <a:srgbClr val="FF0000"/>
                  </a:solidFill>
                </a:rPr>
                <a:t>Sum of all values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4432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4748" y="3762692"/>
            <a:ext cx="8247529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8595">
              <a:lnSpc>
                <a:spcPct val="150000"/>
              </a:lnSpc>
              <a:spcAft>
                <a:spcPts val="600"/>
              </a:spcAft>
            </a:pP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GB" sz="5400" kern="1400" dirty="0">
              <a:solidFill>
                <a:srgbClr val="2A7B88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0340" marR="188595">
              <a:lnSpc>
                <a:spcPct val="150000"/>
              </a:lnSpc>
              <a:spcAft>
                <a:spcPts val="600"/>
              </a:spcAft>
            </a:pP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</a:t>
            </a:r>
            <a:r>
              <a:rPr lang="en-US" b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mean</a:t>
            </a: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kern="1400" dirty="0" err="1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SUV</a:t>
            </a:r>
            <a:r>
              <a:rPr lang="en-US" kern="1400" baseline="-25000" dirty="0" err="1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max</a:t>
            </a:r>
            <a:r>
              <a:rPr lang="en-US" kern="1400" baseline="-250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 </a:t>
            </a:r>
            <a:r>
              <a:rPr lang="en-US" u="sng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1.8+8.9+2.7+9.4+5.4+16.0+5.8+17.9+13.1+6.6</a:t>
            </a: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 8.8</a:t>
            </a:r>
            <a:endParaRPr lang="en-GB" sz="5400" kern="1400" dirty="0">
              <a:solidFill>
                <a:srgbClr val="2A7B88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0340" marR="188595">
              <a:spcAft>
                <a:spcPts val="600"/>
              </a:spcAft>
            </a:pP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									10</a:t>
            </a:r>
            <a:endParaRPr lang="en-GB" sz="5400" kern="1400" dirty="0">
              <a:solidFill>
                <a:srgbClr val="2A7B88"/>
              </a:solidFill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49086" y="1449388"/>
            <a:ext cx="76998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88595">
              <a:lnSpc>
                <a:spcPct val="120000"/>
              </a:lnSpc>
            </a:pPr>
            <a:r>
              <a:rPr lang="en-US" sz="2000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10 patients with lung cancer had a pretreatment PET scan and </a:t>
            </a:r>
            <a:r>
              <a:rPr lang="en-US" sz="2000" kern="1400" dirty="0" err="1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SUV</a:t>
            </a:r>
            <a:r>
              <a:rPr lang="en-US" sz="2000" kern="1400" baseline="-25000" dirty="0" err="1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max</a:t>
            </a:r>
            <a:r>
              <a:rPr lang="en-US" sz="2000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was measured.</a:t>
            </a:r>
            <a:endParaRPr lang="en-GB" sz="2000" kern="1400" dirty="0">
              <a:solidFill>
                <a:srgbClr val="2A7B88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3400" y="2905121"/>
            <a:ext cx="760548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8595" algn="ctr">
              <a:lnSpc>
                <a:spcPct val="150000"/>
              </a:lnSpc>
              <a:spcAft>
                <a:spcPts val="600"/>
              </a:spcAft>
            </a:pPr>
            <a:r>
              <a:rPr lang="en-US" sz="2000" i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Original Data:</a:t>
            </a:r>
            <a:r>
              <a:rPr lang="en-US" sz="2000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1.8, 8.9, 2.7, 9.4, 5.4, 16.0, 5.8, 17.9, 13.1, 6.6</a:t>
            </a:r>
            <a:endParaRPr lang="en-GB" sz="2000" kern="1400" dirty="0">
              <a:solidFill>
                <a:srgbClr val="2A7B88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0371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519953" y="815788"/>
            <a:ext cx="8135471" cy="3550024"/>
            <a:chOff x="753035" y="815788"/>
            <a:chExt cx="8135471" cy="355002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Rectangle 5"/>
            <p:cNvSpPr/>
            <p:nvPr/>
          </p:nvSpPr>
          <p:spPr>
            <a:xfrm>
              <a:off x="753035" y="815788"/>
              <a:ext cx="8135471" cy="355002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" name="Rectangle 1"/>
            <p:cNvSpPr/>
            <p:nvPr/>
          </p:nvSpPr>
          <p:spPr>
            <a:xfrm>
              <a:off x="990600" y="1051009"/>
              <a:ext cx="7897906" cy="7967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R="188595">
                <a:lnSpc>
                  <a:spcPct val="120000"/>
                </a:lnSpc>
              </a:pPr>
              <a:r>
                <a:rPr lang="en-US" sz="2000" b="1" kern="1400" dirty="0">
                  <a:latin typeface="Century Gothic" panose="020B0502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Sample median</a:t>
              </a:r>
              <a:r>
                <a:rPr lang="en-US" sz="2000" b="1" kern="1400" dirty="0"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</a:t>
              </a:r>
              <a:r>
                <a:rPr lang="en-US" sz="2000" kern="1400" dirty="0"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is the </a:t>
              </a:r>
              <a:r>
                <a:rPr lang="en-US" sz="2000" i="1" u="sng" kern="1400" dirty="0"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middle value</a:t>
              </a:r>
              <a:r>
                <a:rPr lang="en-US" sz="2000" kern="1400" dirty="0"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when the observations are ranked from lowest to highest. </a:t>
              </a:r>
              <a:endParaRPr lang="en-GB" sz="2000" kern="1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990600" y="2358035"/>
              <a:ext cx="73787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If n is even, it is the mean of the middle two values</a:t>
              </a:r>
              <a:r>
                <a:rPr lang="en-US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. </a:t>
              </a:r>
              <a:endParaRPr lang="en-GB" dirty="0"/>
            </a:p>
          </p:txBody>
        </p:sp>
        <p:sp>
          <p:nvSpPr>
            <p:cNvPr id="4" name="Rectangle 3"/>
            <p:cNvSpPr/>
            <p:nvPr/>
          </p:nvSpPr>
          <p:spPr>
            <a:xfrm>
              <a:off x="990600" y="3268414"/>
              <a:ext cx="7480300" cy="8040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2000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Its interpretation is that 50% of data values are above the median; 50% are below the median.</a:t>
              </a:r>
              <a:endParaRPr lang="en-GB" sz="2000" dirty="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519952" y="4928235"/>
            <a:ext cx="8135471" cy="1352706"/>
            <a:chOff x="753034" y="4928235"/>
            <a:chExt cx="8135471" cy="135270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" name="Rectangle 12"/>
            <p:cNvSpPr/>
            <p:nvPr/>
          </p:nvSpPr>
          <p:spPr>
            <a:xfrm>
              <a:off x="753034" y="4928235"/>
              <a:ext cx="8135471" cy="135270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274480" y="5191711"/>
              <a:ext cx="7092577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R="188595">
                <a:lnSpc>
                  <a:spcPct val="120000"/>
                </a:lnSpc>
              </a:pPr>
              <a:r>
                <a:rPr lang="en-US" sz="2000" b="1" kern="1400" dirty="0">
                  <a:latin typeface="Century Gothic" panose="020B0502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Sample mode</a:t>
              </a:r>
              <a:r>
                <a:rPr lang="en-US" sz="2000" b="1" kern="1400" dirty="0"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</a:t>
              </a:r>
              <a:r>
                <a:rPr lang="en-US" sz="2000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is the </a:t>
              </a:r>
              <a:r>
                <a:rPr lang="en-US" sz="2000" i="1" u="sng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most frequently</a:t>
              </a:r>
              <a:r>
                <a:rPr lang="en-US" sz="2000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occurring value. This term is seldom used.</a:t>
              </a:r>
              <a:endParaRPr lang="en-GB" sz="2000" kern="1400" dirty="0">
                <a:solidFill>
                  <a:srgbClr val="2A7B88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6869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56772" y="2087758"/>
            <a:ext cx="75982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88595">
              <a:lnSpc>
                <a:spcPct val="120000"/>
              </a:lnSpc>
            </a:pPr>
            <a:r>
              <a:rPr lang="en-US" sz="2000" i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Ordered Data: </a:t>
            </a:r>
            <a:r>
              <a:rPr lang="en-US" sz="2000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1.8, 2.7, 5.4, 5.8, 6.6, 8.9, 9.4, 13.1, 16.0, 17.9</a:t>
            </a:r>
            <a:endParaRPr lang="en-GB" sz="2000" kern="1400" dirty="0">
              <a:solidFill>
                <a:srgbClr val="2A7B88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6772" y="1449388"/>
            <a:ext cx="7507513" cy="427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88595" algn="ctr">
              <a:lnSpc>
                <a:spcPct val="120000"/>
              </a:lnSpc>
            </a:pPr>
            <a:r>
              <a:rPr lang="en-US" sz="2000" i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Original Data:</a:t>
            </a:r>
            <a:r>
              <a:rPr lang="en-US" sz="2000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1.8, 8.9, 2.7, 9.4, 5.4, 16.0, 5.8, 17.9, 13.1, 6.6</a:t>
            </a:r>
            <a:endParaRPr lang="en-GB" sz="2000" kern="1400" dirty="0">
              <a:solidFill>
                <a:srgbClr val="2A7B88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716643" y="2048779"/>
            <a:ext cx="7072085" cy="1348547"/>
            <a:chOff x="716643" y="2048779"/>
            <a:chExt cx="7072085" cy="1348547"/>
          </a:xfrm>
        </p:grpSpPr>
        <p:sp>
          <p:nvSpPr>
            <p:cNvPr id="6" name="Rectangle 5"/>
            <p:cNvSpPr/>
            <p:nvPr/>
          </p:nvSpPr>
          <p:spPr>
            <a:xfrm>
              <a:off x="716643" y="2971312"/>
              <a:ext cx="7072085" cy="4260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R="188595">
                <a:lnSpc>
                  <a:spcPct val="120000"/>
                </a:lnSpc>
              </a:pPr>
              <a:r>
                <a:rPr lang="en-US" sz="2000" b="1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median</a:t>
              </a:r>
              <a:r>
                <a:rPr lang="en-US" sz="2000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</a:t>
              </a:r>
              <a:r>
                <a:rPr lang="en-US" sz="2000" kern="1400" dirty="0" err="1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SUV</a:t>
              </a:r>
              <a:r>
                <a:rPr lang="en-US" sz="2000" kern="1400" baseline="-25000" dirty="0" err="1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max</a:t>
              </a:r>
              <a:r>
                <a:rPr lang="en-US" sz="2000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= (6.6+8.9)/2 =7.75</a:t>
              </a:r>
              <a:r>
                <a:rPr lang="en-US" sz="2000" b="1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3" name="Oval 2"/>
            <p:cNvSpPr/>
            <p:nvPr/>
          </p:nvSpPr>
          <p:spPr>
            <a:xfrm>
              <a:off x="4537392" y="2048779"/>
              <a:ext cx="1020127" cy="53962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86A094C-7215-96F8-5CF7-CEE3FB44CCBA}"/>
              </a:ext>
            </a:extLst>
          </p:cNvPr>
          <p:cNvSpPr txBox="1"/>
          <p:nvPr/>
        </p:nvSpPr>
        <p:spPr>
          <a:xfrm>
            <a:off x="7869544" y="2109526"/>
            <a:ext cx="968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  <a:latin typeface="Century Gothic" panose="020B0502020202020204" pitchFamily="34" charset="0"/>
              </a:rPr>
              <a:t>1000.0</a:t>
            </a:r>
          </a:p>
        </p:txBody>
      </p:sp>
    </p:spTree>
    <p:extLst>
      <p:ext uri="{BB962C8B-B14F-4D97-AF65-F5344CB8AC3E}">
        <p14:creationId xmlns:p14="http://schemas.microsoft.com/office/powerpoint/2010/main" val="410928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E56C76B-90DE-3ACE-B6E9-351A74A10DF8}"/>
              </a:ext>
            </a:extLst>
          </p:cNvPr>
          <p:cNvGrpSpPr/>
          <p:nvPr/>
        </p:nvGrpSpPr>
        <p:grpSpPr>
          <a:xfrm>
            <a:off x="1561234" y="3173003"/>
            <a:ext cx="6138053" cy="597582"/>
            <a:chOff x="1636648" y="4021416"/>
            <a:chExt cx="6138053" cy="59758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290E2B0-EC4A-6392-2587-472DA6C12E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951" t="77484" b="8969"/>
            <a:stretch/>
          </p:blipFill>
          <p:spPr>
            <a:xfrm>
              <a:off x="2474680" y="4021416"/>
              <a:ext cx="5300021" cy="566199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70B3247-F380-3C8E-26C5-984D49F386A5}"/>
                </a:ext>
              </a:extLst>
            </p:cNvPr>
            <p:cNvSpPr txBox="1"/>
            <p:nvPr/>
          </p:nvSpPr>
          <p:spPr>
            <a:xfrm>
              <a:off x="1636648" y="4249666"/>
              <a:ext cx="7361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dirty="0"/>
                <a:t>Set A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5644C675-083E-1F04-0ED6-5DE1F6AB9F46}"/>
              </a:ext>
            </a:extLst>
          </p:cNvPr>
          <p:cNvGrpSpPr/>
          <p:nvPr/>
        </p:nvGrpSpPr>
        <p:grpSpPr>
          <a:xfrm>
            <a:off x="1561234" y="3739202"/>
            <a:ext cx="6138054" cy="941070"/>
            <a:chOff x="1636648" y="4587615"/>
            <a:chExt cx="6138054" cy="94107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9D5BA3E-FABE-C278-67EE-78046A33BB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951" t="77484"/>
            <a:stretch/>
          </p:blipFill>
          <p:spPr>
            <a:xfrm>
              <a:off x="2474680" y="4587615"/>
              <a:ext cx="5300022" cy="94107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9DDD5DE-73C1-784C-BA0F-5EF8C88749F5}"/>
                </a:ext>
              </a:extLst>
            </p:cNvPr>
            <p:cNvSpPr txBox="1"/>
            <p:nvPr/>
          </p:nvSpPr>
          <p:spPr>
            <a:xfrm>
              <a:off x="1636648" y="4816403"/>
              <a:ext cx="7489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dirty="0"/>
                <a:t>Set B</a:t>
              </a:r>
            </a:p>
          </p:txBody>
        </p:sp>
      </p:grpSp>
      <p:sp>
        <p:nvSpPr>
          <p:cNvPr id="8" name="Text Box 6">
            <a:extLst>
              <a:ext uri="{FF2B5EF4-FFF2-40B4-BE49-F238E27FC236}">
                <a16:creationId xmlns:a16="http://schemas.microsoft.com/office/drawing/2014/main" id="{0178D26D-FE60-55B1-9F64-11429241DB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576" y="676676"/>
            <a:ext cx="9906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30000"/>
              </a:spcBef>
              <a:buChar char="•"/>
              <a:defRPr sz="2800" b="1">
                <a:solidFill>
                  <a:srgbClr val="00213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buClr>
                <a:schemeClr val="tx2"/>
              </a:buClr>
              <a:buSzPct val="80000"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2000" i="1" u="sng" dirty="0">
                <a:solidFill>
                  <a:schemeClr val="tx1"/>
                </a:solidFill>
                <a:latin typeface="Century Gothic" panose="020B0502020202020204" pitchFamily="34" charset="0"/>
              </a:rPr>
              <a:t>Neither</a:t>
            </a:r>
            <a:r>
              <a:rPr lang="en-GB" altLang="en-US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 the mean nor the median is sufficient as a numerical summary.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8D7160A-7CCE-952C-8D77-9DCBE3BF7598}"/>
              </a:ext>
            </a:extLst>
          </p:cNvPr>
          <p:cNvGrpSpPr/>
          <p:nvPr/>
        </p:nvGrpSpPr>
        <p:grpSpPr>
          <a:xfrm>
            <a:off x="353211" y="1890848"/>
            <a:ext cx="7578467" cy="1253448"/>
            <a:chOff x="428625" y="2739261"/>
            <a:chExt cx="7578467" cy="125344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44AC62A-A845-F75E-D03F-5AC82653CAE2}"/>
                </a:ext>
              </a:extLst>
            </p:cNvPr>
            <p:cNvSpPr txBox="1"/>
            <p:nvPr/>
          </p:nvSpPr>
          <p:spPr>
            <a:xfrm>
              <a:off x="428625" y="2739261"/>
              <a:ext cx="24160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dirty="0"/>
                <a:t>Example: - 2 datasets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8CFDA47-DD16-3941-0000-9D6448FA6E66}"/>
                </a:ext>
              </a:extLst>
            </p:cNvPr>
            <p:cNvSpPr txBox="1"/>
            <p:nvPr/>
          </p:nvSpPr>
          <p:spPr>
            <a:xfrm>
              <a:off x="2474680" y="3152842"/>
              <a:ext cx="5532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dirty="0"/>
                <a:t>Set A : 9.2 9.3 9.5 9.7 9.8 10.0 10.1 10.4 10.5 11.8  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9EC1BE7-05FD-784E-6A40-0E2D63786791}"/>
                </a:ext>
              </a:extLst>
            </p:cNvPr>
            <p:cNvSpPr txBox="1"/>
            <p:nvPr/>
          </p:nvSpPr>
          <p:spPr>
            <a:xfrm>
              <a:off x="2473967" y="3623377"/>
              <a:ext cx="44977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dirty="0"/>
                <a:t>Set B : 6 7 7 8 8 9 9 10 11 11 12 13 14 15 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1D4734-51E8-6FE6-BBF5-76E0DA7F63C5}"/>
              </a:ext>
            </a:extLst>
          </p:cNvPr>
          <p:cNvGrpSpPr/>
          <p:nvPr/>
        </p:nvGrpSpPr>
        <p:grpSpPr>
          <a:xfrm>
            <a:off x="2811038" y="3380110"/>
            <a:ext cx="3672800" cy="1793865"/>
            <a:chOff x="2886452" y="4228523"/>
            <a:chExt cx="3672800" cy="1793865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5E652D-692B-1C02-3922-CA36A1E753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38929" y="4228523"/>
              <a:ext cx="0" cy="101499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042AEC3-5682-06C8-4950-FD2D263ACA51}"/>
                </a:ext>
              </a:extLst>
            </p:cNvPr>
            <p:cNvSpPr txBox="1"/>
            <p:nvPr/>
          </p:nvSpPr>
          <p:spPr>
            <a:xfrm>
              <a:off x="2886452" y="5653056"/>
              <a:ext cx="36728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dirty="0"/>
                <a:t>Each set has a mean of 10.0 units</a:t>
              </a:r>
            </a:p>
          </p:txBody>
        </p:sp>
      </p:grpSp>
      <p:sp>
        <p:nvSpPr>
          <p:cNvPr id="16" name="Text Box 6">
            <a:extLst>
              <a:ext uri="{FF2B5EF4-FFF2-40B4-BE49-F238E27FC236}">
                <a16:creationId xmlns:a16="http://schemas.microsoft.com/office/drawing/2014/main" id="{1CB041F2-7358-88C6-68BC-F1CC78F6F2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761" y="5447012"/>
            <a:ext cx="478631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30000"/>
              </a:spcBef>
              <a:buChar char="•"/>
              <a:defRPr sz="2800" b="1">
                <a:solidFill>
                  <a:srgbClr val="00213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buClr>
                <a:schemeClr val="tx2"/>
              </a:buClr>
              <a:buSzPct val="80000"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1800" i="1" u="sng" dirty="0">
                <a:solidFill>
                  <a:schemeClr val="tx1"/>
                </a:solidFill>
              </a:rPr>
              <a:t>Spread of values is different</a:t>
            </a:r>
            <a:r>
              <a:rPr lang="en-GB" altLang="en-US" sz="18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6E0D5D-2E1D-47E6-37E2-C3D75A7A904A}"/>
              </a:ext>
            </a:extLst>
          </p:cNvPr>
          <p:cNvSpPr txBox="1"/>
          <p:nvPr/>
        </p:nvSpPr>
        <p:spPr>
          <a:xfrm>
            <a:off x="4968074" y="5447012"/>
            <a:ext cx="5168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en-US" dirty="0">
                <a:solidFill>
                  <a:schemeClr val="tx1"/>
                </a:solidFill>
              </a:rPr>
              <a:t>How should spread be measure?</a:t>
            </a:r>
            <a:endParaRPr lang="en-GB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435FA5E-8D2B-F13E-34DD-19B5B9CAF52C}"/>
              </a:ext>
            </a:extLst>
          </p:cNvPr>
          <p:cNvCxnSpPr>
            <a:cxnSpLocks/>
          </p:cNvCxnSpPr>
          <p:nvPr/>
        </p:nvCxnSpPr>
        <p:spPr>
          <a:xfrm>
            <a:off x="2458236" y="4593537"/>
            <a:ext cx="5035550" cy="0"/>
          </a:xfrm>
          <a:prstGeom prst="straightConnector1">
            <a:avLst/>
          </a:prstGeom>
          <a:ln w="28575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3B57246-5FFF-56A8-B66B-353AC4C481DF}"/>
              </a:ext>
            </a:extLst>
          </p:cNvPr>
          <p:cNvCxnSpPr>
            <a:cxnSpLocks/>
          </p:cNvCxnSpPr>
          <p:nvPr/>
        </p:nvCxnSpPr>
        <p:spPr>
          <a:xfrm>
            <a:off x="4160036" y="3770585"/>
            <a:ext cx="1631950" cy="0"/>
          </a:xfrm>
          <a:prstGeom prst="straightConnector1">
            <a:avLst/>
          </a:prstGeom>
          <a:ln w="28575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9775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54741" y="994386"/>
            <a:ext cx="4093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40404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Measures of Dispersion</a:t>
            </a:r>
            <a:endParaRPr lang="en-GB" sz="3200" dirty="0">
              <a:solidFill>
                <a:srgbClr val="404040"/>
              </a:solidFill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54741" y="2031243"/>
            <a:ext cx="6845300" cy="426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88595">
              <a:lnSpc>
                <a:spcPct val="120000"/>
              </a:lnSpc>
            </a:pPr>
            <a:r>
              <a:rPr lang="en-US" sz="2000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How “concentrated” or “spread out” are the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954741" y="3034756"/>
            <a:ext cx="7790329" cy="796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88595">
              <a:lnSpc>
                <a:spcPct val="120000"/>
              </a:lnSpc>
            </a:pPr>
            <a:r>
              <a:rPr lang="en-US" sz="2000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They describe the degree to which the data vary about their average value. </a:t>
            </a:r>
            <a:endParaRPr lang="en-GB" sz="2000" kern="1400" dirty="0">
              <a:solidFill>
                <a:srgbClr val="2A7B88"/>
              </a:solidFill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54741" y="4408819"/>
            <a:ext cx="70739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000" b="1" i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range, standard deviation,</a:t>
            </a:r>
            <a:r>
              <a:rPr lang="en-US" sz="2000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and </a:t>
            </a:r>
            <a:r>
              <a:rPr lang="en-US" sz="2000" b="1" i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interquartile range</a:t>
            </a:r>
            <a:r>
              <a:rPr lang="en-US" sz="2000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40714640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4741" y="2044555"/>
            <a:ext cx="7661408" cy="796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88595">
              <a:lnSpc>
                <a:spcPct val="120000"/>
              </a:lnSpc>
            </a:pPr>
            <a:r>
              <a:rPr lang="en-US" sz="2000" b="1" kern="1400" dirty="0"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r>
              <a:rPr lang="en-US" sz="2000" kern="1400" dirty="0"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400" dirty="0"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is the difference between the smallest (minimum) and largest (maximum) values</a:t>
            </a:r>
            <a:endParaRPr lang="en-GB" sz="2000" kern="1400" dirty="0"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54741" y="3379672"/>
            <a:ext cx="795169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88595">
              <a:lnSpc>
                <a:spcPct val="120000"/>
              </a:lnSpc>
            </a:pPr>
            <a:r>
              <a:rPr lang="en-US" sz="2000" b="1" kern="1400" dirty="0"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Interquartile range (IQR)</a:t>
            </a:r>
            <a:r>
              <a:rPr lang="en-US" sz="2000" b="1" kern="1400" dirty="0"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000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is simply the lower quartile and upper quartile (Q1, Q3). Sometimes it is expressed as the value of Q3-Q1. </a:t>
            </a:r>
            <a:endParaRPr lang="en-GB" sz="2000" kern="1400" dirty="0">
              <a:solidFill>
                <a:srgbClr val="2A7B88"/>
              </a:solidFill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54741" y="994386"/>
            <a:ext cx="4093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40404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Measures of Dispersion</a:t>
            </a:r>
            <a:endParaRPr lang="en-GB" sz="3200" dirty="0">
              <a:solidFill>
                <a:srgbClr val="404040"/>
              </a:solidFill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654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6643" y="4701097"/>
            <a:ext cx="70720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88595">
              <a:lnSpc>
                <a:spcPct val="120000"/>
              </a:lnSpc>
            </a:pPr>
            <a:r>
              <a:rPr lang="en-US" sz="2000" b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Interquartile range (IQR)</a:t>
            </a:r>
            <a:r>
              <a:rPr lang="en-US" sz="2000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is (5.4 to 13.1) </a:t>
            </a:r>
            <a:r>
              <a:rPr lang="en-US" sz="2000" i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or</a:t>
            </a:r>
            <a:r>
              <a:rPr lang="en-US" sz="2000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13.1-5.4 =7.7</a:t>
            </a:r>
            <a:endParaRPr lang="en-GB" sz="2000" kern="1400" dirty="0">
              <a:solidFill>
                <a:srgbClr val="2A7B88"/>
              </a:solidFill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6772" y="2087758"/>
            <a:ext cx="75982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88595">
              <a:lnSpc>
                <a:spcPct val="120000"/>
              </a:lnSpc>
            </a:pPr>
            <a:r>
              <a:rPr lang="en-US" sz="2000" i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Ordered Data: </a:t>
            </a:r>
            <a:r>
              <a:rPr lang="en-US" sz="2000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1.8, 2.7, 5.4, 5.8, 6.6, 8.9, 9.4, 13.1, 16.0, 17.9</a:t>
            </a:r>
            <a:endParaRPr lang="en-GB" sz="2000" kern="1400" dirty="0">
              <a:solidFill>
                <a:srgbClr val="2A7B88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6772" y="1449388"/>
            <a:ext cx="7507513" cy="427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88595" algn="ctr">
              <a:lnSpc>
                <a:spcPct val="120000"/>
              </a:lnSpc>
            </a:pPr>
            <a:r>
              <a:rPr lang="en-US" sz="2000" i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Original Data:</a:t>
            </a:r>
            <a:r>
              <a:rPr lang="en-US" sz="2000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1.8, 8.9, 2.7, 9.4, 5.4, 16.0, 5.8, 17.9, 13.1, 6.6</a:t>
            </a:r>
            <a:endParaRPr lang="en-GB" sz="2000" kern="1400" dirty="0">
              <a:solidFill>
                <a:srgbClr val="2A7B88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716643" y="2048779"/>
            <a:ext cx="7072085" cy="1348547"/>
            <a:chOff x="716643" y="2048779"/>
            <a:chExt cx="7072085" cy="1348547"/>
          </a:xfrm>
        </p:grpSpPr>
        <p:sp>
          <p:nvSpPr>
            <p:cNvPr id="6" name="Rectangle 5"/>
            <p:cNvSpPr/>
            <p:nvPr/>
          </p:nvSpPr>
          <p:spPr>
            <a:xfrm>
              <a:off x="716643" y="2971312"/>
              <a:ext cx="7072085" cy="4260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R="188595">
                <a:lnSpc>
                  <a:spcPct val="120000"/>
                </a:lnSpc>
              </a:pPr>
              <a:r>
                <a:rPr lang="en-US" sz="2000" b="1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median</a:t>
              </a:r>
              <a:r>
                <a:rPr lang="en-US" sz="2000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</a:t>
              </a:r>
              <a:r>
                <a:rPr lang="en-US" sz="2000" kern="1400" dirty="0" err="1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SUV</a:t>
              </a:r>
              <a:r>
                <a:rPr lang="en-US" sz="2000" kern="1400" baseline="-25000" dirty="0" err="1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max</a:t>
              </a:r>
              <a:r>
                <a:rPr lang="en-US" sz="2000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= (6.6+8.9)/2 =7.75</a:t>
              </a:r>
              <a:r>
                <a:rPr lang="en-US" sz="2000" b="1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3" name="Oval 2"/>
            <p:cNvSpPr/>
            <p:nvPr/>
          </p:nvSpPr>
          <p:spPr>
            <a:xfrm>
              <a:off x="4537392" y="2048779"/>
              <a:ext cx="1020127" cy="53962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716643" y="2066399"/>
            <a:ext cx="5898710" cy="2212809"/>
            <a:chOff x="716643" y="2066399"/>
            <a:chExt cx="5898710" cy="2212809"/>
          </a:xfrm>
        </p:grpSpPr>
        <p:sp>
          <p:nvSpPr>
            <p:cNvPr id="7" name="Rectangle 6"/>
            <p:cNvSpPr/>
            <p:nvPr/>
          </p:nvSpPr>
          <p:spPr>
            <a:xfrm>
              <a:off x="716643" y="3851975"/>
              <a:ext cx="2907847" cy="42723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R="188595">
                <a:lnSpc>
                  <a:spcPct val="120000"/>
                </a:lnSpc>
              </a:pPr>
              <a:r>
                <a:rPr lang="en-US" sz="2000" b="1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Q1</a:t>
              </a:r>
              <a:r>
                <a:rPr lang="en-US" sz="2000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=5.4 and </a:t>
              </a:r>
              <a:r>
                <a:rPr lang="en-US" sz="2000" b="1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Q3</a:t>
              </a:r>
              <a:r>
                <a:rPr lang="en-US" sz="2000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=13.1</a:t>
              </a:r>
              <a:endParaRPr lang="en-GB" sz="2000" kern="1400" dirty="0">
                <a:solidFill>
                  <a:srgbClr val="2A7B88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3479558" y="2087758"/>
              <a:ext cx="617314" cy="462646"/>
            </a:xfrm>
            <a:prstGeom prst="ellipse">
              <a:avLst/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Oval 9"/>
            <p:cNvSpPr/>
            <p:nvPr/>
          </p:nvSpPr>
          <p:spPr>
            <a:xfrm>
              <a:off x="5998039" y="2066399"/>
              <a:ext cx="617314" cy="462646"/>
            </a:xfrm>
            <a:prstGeom prst="ellipse">
              <a:avLst/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550009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54741" y="2051218"/>
            <a:ext cx="7074207" cy="796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88595">
              <a:lnSpc>
                <a:spcPct val="120000"/>
              </a:lnSpc>
            </a:pPr>
            <a:r>
              <a:rPr lang="en-US" sz="2000" b="1" kern="1400" dirty="0"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Standard deviation</a:t>
            </a:r>
            <a:r>
              <a:rPr lang="en-US" sz="2000" b="1" kern="1400" dirty="0"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000" kern="1400" dirty="0"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000" b="1" kern="1400" dirty="0"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SD or </a:t>
            </a:r>
            <a:r>
              <a:rPr lang="en-US" sz="2000" b="1" kern="1400" dirty="0" err="1"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sd</a:t>
            </a:r>
            <a:r>
              <a:rPr lang="en-US" sz="2000" kern="1400" dirty="0"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is a measure of how far away observations are from the sample mean.</a:t>
            </a:r>
            <a:endParaRPr lang="en-GB" sz="2000" kern="1400" dirty="0"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068306" y="3188412"/>
                <a:ext cx="6615953" cy="15333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80340" marR="188595">
                  <a:lnSpc>
                    <a:spcPct val="15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kern="1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𝑆𝐷</m:t>
                      </m:r>
                      <m:r>
                        <a:rPr lang="en-US" sz="2000" i="1" kern="1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2000" i="1" kern="1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sz="2000" i="1" kern="1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en-GB" sz="2000" i="1" kern="1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GB" sz="2000" i="1" kern="14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 kern="14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(</m:t>
                                      </m:r>
                                      <m:r>
                                        <a:rPr lang="en-US" sz="2000" i="1" kern="14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𝑥</m:t>
                                      </m:r>
                                      <m:r>
                                        <a:rPr lang="en-US" sz="2000" i="1" kern="14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−</m:t>
                                      </m:r>
                                      <m:r>
                                        <a:rPr lang="en-US" sz="2000" i="1" kern="14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𝑚𝑒𝑎𝑛</m:t>
                                      </m:r>
                                      <m:r>
                                        <a:rPr lang="en-US" sz="2000" i="1" kern="14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2000" i="1" kern="14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en-US" sz="2000" i="1" kern="1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  <m:r>
                                <a:rPr lang="en-US" sz="2000" i="1" kern="1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−1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GB" sz="2000" kern="1400" dirty="0">
                  <a:solidFill>
                    <a:srgbClr val="2A7B88"/>
                  </a:solidFill>
                  <a:effectLst/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306" y="3188412"/>
                <a:ext cx="6615953" cy="153330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954741" y="994386"/>
            <a:ext cx="4093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40404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Measures of Dispersion</a:t>
            </a:r>
            <a:endParaRPr lang="en-GB" sz="3200" dirty="0">
              <a:solidFill>
                <a:srgbClr val="404040"/>
              </a:solidFill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D5CC686-4CF3-389B-6828-30F0B1FCD066}"/>
              </a:ext>
            </a:extLst>
          </p:cNvPr>
          <p:cNvGrpSpPr/>
          <p:nvPr/>
        </p:nvGrpSpPr>
        <p:grpSpPr>
          <a:xfrm>
            <a:off x="4572000" y="2968580"/>
            <a:ext cx="3045439" cy="806715"/>
            <a:chOff x="4572000" y="2968580"/>
            <a:chExt cx="3045439" cy="806715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7AB57E7-961B-3C47-88ED-19CFA334B4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2000" y="3188412"/>
              <a:ext cx="1104523" cy="58688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388C609-FB18-055C-6848-60201B6C91E7}"/>
                </a:ext>
              </a:extLst>
            </p:cNvPr>
            <p:cNvSpPr txBox="1"/>
            <p:nvPr/>
          </p:nvSpPr>
          <p:spPr>
            <a:xfrm>
              <a:off x="5676523" y="2968580"/>
              <a:ext cx="19409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i="1" dirty="0">
                  <a:solidFill>
                    <a:srgbClr val="FF0000"/>
                  </a:solidFill>
                </a:rPr>
                <a:t>distance from the mean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40617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780178" y="836507"/>
            <a:ext cx="8113486" cy="1621687"/>
            <a:chOff x="798285" y="465315"/>
            <a:chExt cx="8113486" cy="1621687"/>
          </a:xfrm>
        </p:grpSpPr>
        <p:sp>
          <p:nvSpPr>
            <p:cNvPr id="2" name="Rectangle 1"/>
            <p:cNvSpPr/>
            <p:nvPr/>
          </p:nvSpPr>
          <p:spPr>
            <a:xfrm>
              <a:off x="798285" y="465315"/>
              <a:ext cx="8113486" cy="8717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80340" marR="188595">
                <a:lnSpc>
                  <a:spcPct val="150000"/>
                </a:lnSpc>
                <a:spcAft>
                  <a:spcPts val="600"/>
                </a:spcAft>
              </a:pPr>
              <a:r>
                <a:rPr lang="en-US" b="1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standard deviation</a:t>
              </a:r>
              <a:r>
                <a:rPr lang="en-US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involves subtracting the mean </a:t>
              </a:r>
              <a:r>
                <a:rPr lang="en-US" kern="1400" dirty="0" err="1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SUVmax</a:t>
              </a:r>
              <a:r>
                <a:rPr lang="en-US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(8.8) from each observation</a:t>
              </a:r>
              <a:endParaRPr lang="en-GB" kern="1400" dirty="0">
                <a:solidFill>
                  <a:srgbClr val="2A7B88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1469800" y="1579171"/>
              <a:ext cx="6277429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80340" marR="188595" algn="ctr">
                <a:lnSpc>
                  <a:spcPct val="150000"/>
                </a:lnSpc>
                <a:spcAft>
                  <a:spcPts val="600"/>
                </a:spcAft>
              </a:pPr>
              <a:r>
                <a:rPr lang="en-US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-7, 0.1, -6.1, 0.6, -3.4, 7.2, -3.0, 9.1, 4.3, -2.2</a:t>
              </a:r>
              <a:endParaRPr lang="en-GB" sz="5400" kern="1400" dirty="0">
                <a:solidFill>
                  <a:srgbClr val="2A7B88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780178" y="2707998"/>
            <a:ext cx="7547429" cy="1292056"/>
            <a:chOff x="798285" y="2336806"/>
            <a:chExt cx="7547429" cy="1292056"/>
          </a:xfrm>
        </p:grpSpPr>
        <p:sp>
          <p:nvSpPr>
            <p:cNvPr id="4" name="Rectangle 3"/>
            <p:cNvSpPr/>
            <p:nvPr/>
          </p:nvSpPr>
          <p:spPr>
            <a:xfrm>
              <a:off x="3851415" y="2336806"/>
              <a:ext cx="1514197" cy="4562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180340" marR="188595">
                <a:lnSpc>
                  <a:spcPct val="150000"/>
                </a:lnSpc>
                <a:spcAft>
                  <a:spcPts val="600"/>
                </a:spcAft>
              </a:pPr>
              <a:r>
                <a:rPr lang="en-US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squaring</a:t>
              </a:r>
              <a:endParaRPr lang="en-GB" sz="5400" kern="1400" dirty="0">
                <a:solidFill>
                  <a:srgbClr val="2A7B88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798285" y="3121031"/>
              <a:ext cx="7547429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80340" marR="188595" algn="ctr">
                <a:lnSpc>
                  <a:spcPct val="150000"/>
                </a:lnSpc>
                <a:spcAft>
                  <a:spcPts val="600"/>
                </a:spcAft>
              </a:pPr>
              <a:r>
                <a:rPr lang="en-US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49.0, 0.01, 37.21, 0.36, 11.56, 51.84, 9.0, 82.81, 18.49, 4.84</a:t>
              </a:r>
              <a:endParaRPr lang="en-GB" sz="5400" kern="1400" dirty="0">
                <a:solidFill>
                  <a:srgbClr val="2A7B88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706519" y="4206799"/>
            <a:ext cx="1563890" cy="1081199"/>
            <a:chOff x="3724626" y="3835607"/>
            <a:chExt cx="1563890" cy="1081199"/>
          </a:xfrm>
        </p:grpSpPr>
        <p:sp>
          <p:nvSpPr>
            <p:cNvPr id="6" name="Rectangle 5"/>
            <p:cNvSpPr/>
            <p:nvPr/>
          </p:nvSpPr>
          <p:spPr>
            <a:xfrm>
              <a:off x="3724626" y="3835607"/>
              <a:ext cx="1563890" cy="45518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180340" marR="188595">
                <a:lnSpc>
                  <a:spcPct val="150000"/>
                </a:lnSpc>
                <a:spcAft>
                  <a:spcPts val="600"/>
                </a:spcAft>
              </a:pPr>
              <a:r>
                <a:rPr lang="en-US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summing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940736" y="4408975"/>
              <a:ext cx="1262525" cy="5078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180340" marR="188595">
                <a:lnSpc>
                  <a:spcPct val="150000"/>
                </a:lnSpc>
                <a:spcAft>
                  <a:spcPts val="600"/>
                </a:spcAft>
              </a:pPr>
              <a:r>
                <a:rPr lang="en-US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265.12</a:t>
              </a:r>
              <a:endParaRPr lang="en-GB" sz="5400" kern="1400" dirty="0">
                <a:solidFill>
                  <a:srgbClr val="2A7B88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2342619" y="5243904"/>
            <a:ext cx="4102919" cy="730906"/>
            <a:chOff x="2360726" y="4872712"/>
            <a:chExt cx="4102919" cy="730906"/>
          </a:xfrm>
        </p:grpSpPr>
        <p:sp>
          <p:nvSpPr>
            <p:cNvPr id="8" name="Rectangle 7"/>
            <p:cNvSpPr/>
            <p:nvPr/>
          </p:nvSpPr>
          <p:spPr>
            <a:xfrm>
              <a:off x="2360726" y="5006296"/>
              <a:ext cx="2247789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80340" marR="188595">
                <a:lnSpc>
                  <a:spcPct val="150000"/>
                </a:lnSpc>
                <a:spcAft>
                  <a:spcPts val="600"/>
                </a:spcAft>
              </a:pPr>
              <a:r>
                <a:rPr lang="en-US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dividing by </a:t>
              </a:r>
              <a:r>
                <a:rPr lang="en-US" b="1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n-1</a:t>
              </a:r>
              <a:endParaRPr lang="en-GB" sz="5400" b="1" kern="1400" dirty="0">
                <a:solidFill>
                  <a:srgbClr val="2A7B88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/>
                <p:cNvSpPr/>
                <p:nvPr/>
              </p:nvSpPr>
              <p:spPr>
                <a:xfrm>
                  <a:off x="4506571" y="4872712"/>
                  <a:ext cx="1957074" cy="73090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180340" marR="188595" algn="ctr">
                    <a:lnSpc>
                      <a:spcPct val="150000"/>
                    </a:lnSpc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f>
                        <m:fPr>
                          <m:ctrlPr>
                            <a:rPr lang="en-GB" i="1" kern="1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kern="1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265.12</m:t>
                          </m:r>
                        </m:num>
                        <m:den>
                          <m:d>
                            <m:dPr>
                              <m:ctrlPr>
                                <a:rPr lang="en-GB" i="1" kern="1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kern="1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10</m:t>
                              </m:r>
                              <m:r>
                                <a:rPr lang="en-US" i="1" kern="1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n-US" kern="1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</m:d>
                        </m:den>
                      </m:f>
                    </m:oMath>
                  </a14:m>
                  <a:r>
                    <a:rPr lang="en-US" kern="1400" dirty="0">
                      <a:solidFill>
                        <a:srgbClr val="000000"/>
                      </a:solidFill>
                      <a:latin typeface="Century Gothic" panose="020B0502020202020204" pitchFamily="34" charset="0"/>
                      <a:ea typeface="Times New Roman" panose="02020603050405020304" pitchFamily="18" charset="0"/>
                      <a:cs typeface="Arial" panose="020B0604020202020204" pitchFamily="34" charset="0"/>
                    </a:rPr>
                    <a:t> = 29.46</a:t>
                  </a:r>
                  <a:endParaRPr lang="en-GB" kern="1400" dirty="0">
                    <a:solidFill>
                      <a:srgbClr val="2A7B88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" name="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6571" y="4872712"/>
                  <a:ext cx="1957074" cy="73090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Group 15"/>
          <p:cNvGrpSpPr/>
          <p:nvPr/>
        </p:nvGrpSpPr>
        <p:grpSpPr>
          <a:xfrm>
            <a:off x="1115935" y="6121677"/>
            <a:ext cx="9157696" cy="521709"/>
            <a:chOff x="1134042" y="5750485"/>
            <a:chExt cx="9157696" cy="521709"/>
          </a:xfrm>
        </p:grpSpPr>
        <p:sp>
          <p:nvSpPr>
            <p:cNvPr id="9" name="Rectangle 8"/>
            <p:cNvSpPr/>
            <p:nvPr/>
          </p:nvSpPr>
          <p:spPr>
            <a:xfrm>
              <a:off x="1134042" y="5764363"/>
              <a:ext cx="2835071" cy="5078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180340" marR="188595">
                <a:lnSpc>
                  <a:spcPct val="150000"/>
                </a:lnSpc>
                <a:spcAft>
                  <a:spcPts val="600"/>
                </a:spcAft>
              </a:pPr>
              <a:r>
                <a:rPr lang="en-US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take the square root</a:t>
              </a:r>
              <a:endParaRPr lang="en-GB" sz="5400" kern="1400" dirty="0">
                <a:solidFill>
                  <a:srgbClr val="2A7B88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91809" y="5750485"/>
              <a:ext cx="8399929" cy="4560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80340" marR="188595" algn="ctr">
                <a:lnSpc>
                  <a:spcPct val="150000"/>
                </a:lnSpc>
                <a:spcAft>
                  <a:spcPts val="600"/>
                </a:spcAft>
              </a:pPr>
              <a:r>
                <a:rPr lang="en-US" b="1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standard deviation</a:t>
              </a:r>
              <a:r>
                <a:rPr lang="en-US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= √29.46 = 5.43</a:t>
              </a:r>
              <a:endParaRPr lang="en-GB" sz="5400" kern="1400" dirty="0">
                <a:solidFill>
                  <a:srgbClr val="2A7B88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9401AA59-E075-4CCB-9747-9C4DD8748F7A}"/>
              </a:ext>
            </a:extLst>
          </p:cNvPr>
          <p:cNvSpPr/>
          <p:nvPr/>
        </p:nvSpPr>
        <p:spPr>
          <a:xfrm>
            <a:off x="578667" y="244781"/>
            <a:ext cx="7605485" cy="456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8595" algn="ctr">
              <a:lnSpc>
                <a:spcPct val="150000"/>
              </a:lnSpc>
              <a:spcAft>
                <a:spcPts val="600"/>
              </a:spcAft>
            </a:pPr>
            <a:r>
              <a:rPr lang="en-US" i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Original Data:</a:t>
            </a: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1.8, 8.9, 2.7, 9.4, 5.4, 16.0, 5.8, 17.9, 13.1, 6.6</a:t>
            </a:r>
            <a:endParaRPr lang="en-GB" kern="1400" dirty="0">
              <a:solidFill>
                <a:srgbClr val="2A7B88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8E4C75D-CCED-1E08-E0CB-9D551C9EEBDE}"/>
              </a:ext>
            </a:extLst>
          </p:cNvPr>
          <p:cNvGrpSpPr/>
          <p:nvPr/>
        </p:nvGrpSpPr>
        <p:grpSpPr>
          <a:xfrm>
            <a:off x="5390865" y="1478224"/>
            <a:ext cx="2285714" cy="444669"/>
            <a:chOff x="5331725" y="2968580"/>
            <a:chExt cx="2285714" cy="444669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5FCAC2A-0778-CA67-AF34-68E9D67BBF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31725" y="3188412"/>
              <a:ext cx="344798" cy="22483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298CBCC-FEDE-0FC6-639B-DA9F5A98E963}"/>
                </a:ext>
              </a:extLst>
            </p:cNvPr>
            <p:cNvSpPr txBox="1"/>
            <p:nvPr/>
          </p:nvSpPr>
          <p:spPr>
            <a:xfrm>
              <a:off x="5676523" y="2968580"/>
              <a:ext cx="19409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i="1" dirty="0">
                  <a:solidFill>
                    <a:srgbClr val="FF0000"/>
                  </a:solidFill>
                </a:rPr>
                <a:t>distance from the mean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C564829-DEE3-2E3A-761F-B2614C613638}"/>
              </a:ext>
            </a:extLst>
          </p:cNvPr>
          <p:cNvGrpSpPr/>
          <p:nvPr/>
        </p:nvGrpSpPr>
        <p:grpSpPr>
          <a:xfrm>
            <a:off x="5467001" y="3041713"/>
            <a:ext cx="2886712" cy="444669"/>
            <a:chOff x="5331725" y="2968580"/>
            <a:chExt cx="2886712" cy="444669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6823C8C-0278-1A50-5360-2289EAA5D7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31725" y="3188412"/>
              <a:ext cx="344798" cy="22483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618ABCA-F4C3-E8F8-982F-F04015702D6B}"/>
                </a:ext>
              </a:extLst>
            </p:cNvPr>
            <p:cNvSpPr txBox="1"/>
            <p:nvPr/>
          </p:nvSpPr>
          <p:spPr>
            <a:xfrm>
              <a:off x="5676523" y="2968580"/>
              <a:ext cx="25419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i="1" dirty="0">
                  <a:solidFill>
                    <a:srgbClr val="FF0000"/>
                  </a:solidFill>
                </a:rPr>
                <a:t>Squared distance from the mean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D878873-E55E-84D1-CC8C-6DC5D03E52BD}"/>
              </a:ext>
            </a:extLst>
          </p:cNvPr>
          <p:cNvGrpSpPr/>
          <p:nvPr/>
        </p:nvGrpSpPr>
        <p:grpSpPr>
          <a:xfrm>
            <a:off x="5045469" y="4424064"/>
            <a:ext cx="3441351" cy="444669"/>
            <a:chOff x="5331725" y="2968580"/>
            <a:chExt cx="3441351" cy="444669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ABB254E7-A97E-5EC7-0165-9BA6050198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31725" y="3188412"/>
              <a:ext cx="344798" cy="22483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5DC55AE-F17A-7029-33A4-024320E0E9FD}"/>
                </a:ext>
              </a:extLst>
            </p:cNvPr>
            <p:cNvSpPr txBox="1"/>
            <p:nvPr/>
          </p:nvSpPr>
          <p:spPr>
            <a:xfrm>
              <a:off x="5676523" y="2968580"/>
              <a:ext cx="30965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i="1" dirty="0">
                  <a:solidFill>
                    <a:srgbClr val="FF0000"/>
                  </a:solidFill>
                </a:rPr>
                <a:t>Sum of Squared distance from the mean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6206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4064" y="1160463"/>
            <a:ext cx="6866965" cy="494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88595">
              <a:lnSpc>
                <a:spcPct val="120000"/>
              </a:lnSpc>
            </a:pPr>
            <a:r>
              <a:rPr lang="en-US" sz="2400" b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Reporting means and medians</a:t>
            </a:r>
            <a:endParaRPr lang="en-GB" sz="2400" b="1" kern="1400" dirty="0">
              <a:solidFill>
                <a:srgbClr val="2A7B88"/>
              </a:solidFill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170725" y="2252794"/>
            <a:ext cx="25982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88595">
              <a:lnSpc>
                <a:spcPct val="120000"/>
              </a:lnSpc>
            </a:pPr>
            <a:r>
              <a:rPr lang="en-US" sz="2000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Means with SD</a:t>
            </a:r>
            <a:endParaRPr lang="en-GB" sz="2000" kern="1400" dirty="0">
              <a:solidFill>
                <a:srgbClr val="2A7B88"/>
              </a:solidFill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04064" y="4663846"/>
            <a:ext cx="6866965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88595">
              <a:lnSpc>
                <a:spcPct val="120000"/>
              </a:lnSpc>
            </a:pPr>
            <a:r>
              <a:rPr lang="en-US" sz="2000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Do not mix medians with SD, or means with IQR</a:t>
            </a:r>
            <a:endParaRPr lang="en-GB" sz="2000" kern="1400" dirty="0">
              <a:solidFill>
                <a:srgbClr val="2A7B88"/>
              </a:solidFill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08513" y="2272394"/>
            <a:ext cx="3274935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188595">
              <a:lnSpc>
                <a:spcPct val="120000"/>
              </a:lnSpc>
            </a:pP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mean </a:t>
            </a:r>
            <a:r>
              <a:rPr lang="en-US" kern="1400" dirty="0" err="1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SUV</a:t>
            </a:r>
            <a:r>
              <a:rPr lang="en-US" kern="1400" baseline="-25000" dirty="0" err="1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max</a:t>
            </a: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8.8 (SD 5.43)</a:t>
            </a:r>
            <a:endParaRPr lang="en-GB" sz="5400" kern="1400" dirty="0">
              <a:solidFill>
                <a:srgbClr val="2A7B88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154507" y="3140775"/>
            <a:ext cx="6846234" cy="461665"/>
            <a:chOff x="2154507" y="3140775"/>
            <a:chExt cx="6846234" cy="461665"/>
          </a:xfrm>
        </p:grpSpPr>
        <p:sp>
          <p:nvSpPr>
            <p:cNvPr id="4" name="Rectangle 3"/>
            <p:cNvSpPr/>
            <p:nvPr/>
          </p:nvSpPr>
          <p:spPr>
            <a:xfrm>
              <a:off x="2154507" y="3140775"/>
              <a:ext cx="336607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R="188595">
                <a:lnSpc>
                  <a:spcPct val="120000"/>
                </a:lnSpc>
              </a:pPr>
              <a:r>
                <a:rPr lang="en-US" sz="2000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Medians with IQR</a:t>
              </a:r>
              <a:r>
                <a:rPr lang="en-US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	  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4608513" y="3159241"/>
              <a:ext cx="4392228" cy="4247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R="188595">
                <a:lnSpc>
                  <a:spcPct val="120000"/>
                </a:lnSpc>
              </a:pPr>
              <a:r>
                <a:rPr lang="en-US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median </a:t>
              </a:r>
              <a:r>
                <a:rPr lang="en-US" kern="1400" dirty="0" err="1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SUV</a:t>
              </a:r>
              <a:r>
                <a:rPr lang="en-US" kern="1400" baseline="-25000" dirty="0" err="1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max</a:t>
              </a:r>
              <a:r>
                <a:rPr lang="en-US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7.75 (IQR 5.4 to 13.1)</a:t>
              </a:r>
              <a:endParaRPr lang="en-GB" sz="5400" kern="1400" dirty="0">
                <a:solidFill>
                  <a:srgbClr val="2A7B88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22404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37465" y="1889539"/>
            <a:ext cx="6866965" cy="796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88595">
              <a:lnSpc>
                <a:spcPct val="120000"/>
              </a:lnSpc>
            </a:pPr>
            <a:r>
              <a:rPr lang="en-US" sz="2000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</a:t>
            </a:r>
            <a:r>
              <a:rPr lang="en-US" sz="2000" b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mode</a:t>
            </a:r>
            <a:r>
              <a:rPr lang="en-US" sz="2000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should be used when describing nominal categorical variables. </a:t>
            </a:r>
            <a:endParaRPr lang="en-GB" sz="2000" kern="1400" dirty="0">
              <a:solidFill>
                <a:srgbClr val="2A7B88"/>
              </a:solidFill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37465" y="3035781"/>
            <a:ext cx="722179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000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When the variable is numeric with a symmetric distribution, then the </a:t>
            </a:r>
            <a:r>
              <a:rPr lang="en-US" sz="2000" b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mean</a:t>
            </a:r>
            <a:r>
              <a:rPr lang="en-US" sz="2000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is proper measure of center</a:t>
            </a:r>
            <a:endParaRPr lang="en-GB" sz="2000" dirty="0"/>
          </a:p>
        </p:txBody>
      </p:sp>
      <p:grpSp>
        <p:nvGrpSpPr>
          <p:cNvPr id="7" name="Group 6"/>
          <p:cNvGrpSpPr/>
          <p:nvPr/>
        </p:nvGrpSpPr>
        <p:grpSpPr>
          <a:xfrm>
            <a:off x="937465" y="4307181"/>
            <a:ext cx="7342095" cy="1541158"/>
            <a:chOff x="937465" y="4096165"/>
            <a:chExt cx="7342095" cy="1541158"/>
          </a:xfrm>
        </p:grpSpPr>
        <p:sp>
          <p:nvSpPr>
            <p:cNvPr id="4" name="Rectangle 3"/>
            <p:cNvSpPr/>
            <p:nvPr/>
          </p:nvSpPr>
          <p:spPr>
            <a:xfrm>
              <a:off x="937465" y="4096165"/>
              <a:ext cx="7221797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2000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In the case of skewed distributions, the </a:t>
              </a:r>
              <a:r>
                <a:rPr lang="en-US" sz="2000" b="1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median</a:t>
              </a:r>
              <a:r>
                <a:rPr lang="en-US" sz="2000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is better choice for the measure of center. </a:t>
              </a:r>
              <a:endParaRPr lang="en-GB" sz="2000" dirty="0"/>
            </a:p>
          </p:txBody>
        </p:sp>
        <p:sp>
          <p:nvSpPr>
            <p:cNvPr id="5" name="Rectangle 4"/>
            <p:cNvSpPr/>
            <p:nvPr/>
          </p:nvSpPr>
          <p:spPr>
            <a:xfrm>
              <a:off x="937465" y="5202780"/>
              <a:ext cx="7342095" cy="4345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2000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The </a:t>
              </a:r>
              <a:r>
                <a:rPr lang="en-US" sz="2000" b="1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median </a:t>
              </a:r>
              <a:r>
                <a:rPr lang="en-US" sz="2000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is less influenced by </a:t>
              </a:r>
              <a:r>
                <a:rPr lang="en-US" sz="2000" b="1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outliers</a:t>
              </a:r>
              <a:r>
                <a:rPr lang="en-US" sz="2000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(extreme values).</a:t>
              </a:r>
              <a:endParaRPr lang="en-GB" sz="2000" dirty="0"/>
            </a:p>
          </p:txBody>
        </p:sp>
      </p:grpSp>
      <p:sp>
        <p:nvSpPr>
          <p:cNvPr id="6" name="Rectangle 5"/>
          <p:cNvSpPr/>
          <p:nvPr/>
        </p:nvSpPr>
        <p:spPr>
          <a:xfrm>
            <a:off x="937465" y="1055498"/>
            <a:ext cx="6866965" cy="494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88595">
              <a:lnSpc>
                <a:spcPct val="120000"/>
              </a:lnSpc>
            </a:pPr>
            <a:r>
              <a:rPr lang="en-US" sz="2400" b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Which measure to use</a:t>
            </a:r>
            <a:endParaRPr lang="en-GB" sz="2400" b="1" kern="1400" dirty="0">
              <a:solidFill>
                <a:srgbClr val="2A7B88"/>
              </a:solidFill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641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A7A855-1AC0-4195-A9EE-10D2D9402B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4997" b="3717"/>
          <a:stretch/>
        </p:blipFill>
        <p:spPr>
          <a:xfrm>
            <a:off x="891005" y="1105708"/>
            <a:ext cx="4470951" cy="21841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C2F0CC-BD86-493B-9D73-B266B0AB5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005" y="3914382"/>
            <a:ext cx="9565470" cy="2184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28915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72D402-3162-A0E8-5710-ACA589AB9A4E}"/>
              </a:ext>
            </a:extLst>
          </p:cNvPr>
          <p:cNvSpPr txBox="1"/>
          <p:nvPr/>
        </p:nvSpPr>
        <p:spPr>
          <a:xfrm>
            <a:off x="2507904" y="2705519"/>
            <a:ext cx="44887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The Normal Distribution</a:t>
            </a:r>
          </a:p>
        </p:txBody>
      </p:sp>
    </p:spTree>
    <p:extLst>
      <p:ext uri="{BB962C8B-B14F-4D97-AF65-F5344CB8AC3E}">
        <p14:creationId xmlns:p14="http://schemas.microsoft.com/office/powerpoint/2010/main" val="427650999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5879074" y="2240079"/>
            <a:ext cx="2972466" cy="2848748"/>
            <a:chOff x="5879074" y="2240079"/>
            <a:chExt cx="2972466" cy="2848748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79074" y="2786789"/>
              <a:ext cx="2898672" cy="2302038"/>
            </a:xfrm>
            <a:prstGeom prst="rect">
              <a:avLst/>
            </a:prstGeom>
          </p:spPr>
        </p:pic>
        <p:sp>
          <p:nvSpPr>
            <p:cNvPr id="13" name="Text Box 5"/>
            <p:cNvSpPr txBox="1">
              <a:spLocks noChangeArrowheads="1"/>
            </p:cNvSpPr>
            <p:nvPr/>
          </p:nvSpPr>
          <p:spPr bwMode="auto">
            <a:xfrm>
              <a:off x="6186721" y="2240079"/>
              <a:ext cx="2664819" cy="433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GB" altLang="en-US" sz="1108" dirty="0">
                  <a:latin typeface="Comic Sans MS" panose="030F0702030302020204" pitchFamily="66" charset="0"/>
                </a:rPr>
                <a:t>Positively skewed</a:t>
              </a:r>
            </a:p>
            <a:p>
              <a:pPr algn="ctr"/>
              <a:r>
                <a:rPr lang="en-GB" altLang="en-US" sz="1108" dirty="0">
                  <a:latin typeface="Comic Sans MS" panose="030F0702030302020204" pitchFamily="66" charset="0"/>
                </a:rPr>
                <a:t>(long tail to the right)</a:t>
              </a:r>
            </a:p>
          </p:txBody>
        </p:sp>
        <p:sp>
          <p:nvSpPr>
            <p:cNvPr id="14" name="Line 8"/>
            <p:cNvSpPr>
              <a:spLocks noChangeShapeType="1"/>
            </p:cNvSpPr>
            <p:nvPr/>
          </p:nvSpPr>
          <p:spPr bwMode="auto">
            <a:xfrm flipV="1">
              <a:off x="7038814" y="2746733"/>
              <a:ext cx="1452252" cy="1461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1662"/>
            </a:p>
          </p:txBody>
        </p:sp>
        <p:sp>
          <p:nvSpPr>
            <p:cNvPr id="15" name="Text Box 9"/>
            <p:cNvSpPr txBox="1">
              <a:spLocks noChangeArrowheads="1"/>
            </p:cNvSpPr>
            <p:nvPr/>
          </p:nvSpPr>
          <p:spPr bwMode="auto">
            <a:xfrm>
              <a:off x="7295176" y="2841852"/>
              <a:ext cx="1213794" cy="2485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1015" dirty="0">
                  <a:latin typeface="Comic Sans MS" panose="030F0702030302020204" pitchFamily="66" charset="0"/>
                </a:rPr>
                <a:t>Long tail to right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146464" y="2170758"/>
            <a:ext cx="3156439" cy="2883285"/>
            <a:chOff x="146464" y="2170758"/>
            <a:chExt cx="3156439" cy="2883285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6464" y="3037410"/>
              <a:ext cx="2713254" cy="2016633"/>
            </a:xfrm>
            <a:prstGeom prst="rect">
              <a:avLst/>
            </a:prstGeom>
          </p:spPr>
        </p:pic>
        <p:sp>
          <p:nvSpPr>
            <p:cNvPr id="16" name="Text Box 5"/>
            <p:cNvSpPr txBox="1">
              <a:spLocks noChangeArrowheads="1"/>
            </p:cNvSpPr>
            <p:nvPr/>
          </p:nvSpPr>
          <p:spPr bwMode="auto">
            <a:xfrm>
              <a:off x="350013" y="2170758"/>
              <a:ext cx="2952890" cy="433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GB" altLang="en-US" sz="1108" dirty="0">
                  <a:latin typeface="Comic Sans MS" panose="030F0702030302020204" pitchFamily="66" charset="0"/>
                </a:rPr>
                <a:t>Negatively skewed</a:t>
              </a:r>
            </a:p>
            <a:p>
              <a:pPr algn="ctr"/>
              <a:r>
                <a:rPr lang="en-GB" altLang="en-US" sz="1108" dirty="0">
                  <a:latin typeface="Comic Sans MS" panose="030F0702030302020204" pitchFamily="66" charset="0"/>
                </a:rPr>
                <a:t>(long tail to the left)</a:t>
              </a:r>
            </a:p>
          </p:txBody>
        </p:sp>
        <p:sp>
          <p:nvSpPr>
            <p:cNvPr id="17" name="Line 8"/>
            <p:cNvSpPr>
              <a:spLocks noChangeShapeType="1"/>
            </p:cNvSpPr>
            <p:nvPr/>
          </p:nvSpPr>
          <p:spPr bwMode="auto">
            <a:xfrm flipH="1">
              <a:off x="1151249" y="2741304"/>
              <a:ext cx="1313269" cy="607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1662"/>
            </a:p>
          </p:txBody>
        </p:sp>
        <p:sp>
          <p:nvSpPr>
            <p:cNvPr id="18" name="Text Box 9"/>
            <p:cNvSpPr txBox="1">
              <a:spLocks noChangeArrowheads="1"/>
            </p:cNvSpPr>
            <p:nvPr/>
          </p:nvSpPr>
          <p:spPr bwMode="auto">
            <a:xfrm>
              <a:off x="1363734" y="2807480"/>
              <a:ext cx="1141659" cy="2485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1015" dirty="0">
                  <a:latin typeface="Comic Sans MS" panose="030F0702030302020204" pitchFamily="66" charset="0"/>
                </a:rPr>
                <a:t>Long tail to left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3048067" y="2341219"/>
            <a:ext cx="2809588" cy="2712824"/>
            <a:chOff x="3048067" y="2341219"/>
            <a:chExt cx="2809588" cy="2712824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8067" y="2738333"/>
              <a:ext cx="2755781" cy="2315710"/>
            </a:xfrm>
            <a:prstGeom prst="rect">
              <a:avLst/>
            </a:prstGeom>
          </p:spPr>
        </p:pic>
        <p:sp>
          <p:nvSpPr>
            <p:cNvPr id="19" name="Text Box 15"/>
            <p:cNvSpPr txBox="1">
              <a:spLocks noChangeArrowheads="1"/>
            </p:cNvSpPr>
            <p:nvPr/>
          </p:nvSpPr>
          <p:spPr bwMode="auto">
            <a:xfrm>
              <a:off x="3363061" y="2341219"/>
              <a:ext cx="2494594" cy="2628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1108" dirty="0">
                  <a:latin typeface="Comic Sans MS" panose="030F0702030302020204" pitchFamily="66" charset="0"/>
                </a:rPr>
                <a:t>Symmetric (bell shaped) histogram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1503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80919" y="5133240"/>
            <a:ext cx="8418067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Histogram of height of women attending a weight management service </a:t>
            </a:r>
            <a:endParaRPr lang="en-GB" dirty="0"/>
          </a:p>
        </p:txBody>
      </p:sp>
      <p:grpSp>
        <p:nvGrpSpPr>
          <p:cNvPr id="169" name="Group 168"/>
          <p:cNvGrpSpPr/>
          <p:nvPr/>
        </p:nvGrpSpPr>
        <p:grpSpPr>
          <a:xfrm>
            <a:off x="1036358" y="1863614"/>
            <a:ext cx="4277319" cy="3026771"/>
            <a:chOff x="1036358" y="1863614"/>
            <a:chExt cx="4277319" cy="3026771"/>
          </a:xfrm>
        </p:grpSpPr>
        <p:sp>
          <p:nvSpPr>
            <p:cNvPr id="107" name="Rectangle 7"/>
            <p:cNvSpPr>
              <a:spLocks noChangeArrowheads="1"/>
            </p:cNvSpPr>
            <p:nvPr/>
          </p:nvSpPr>
          <p:spPr bwMode="auto">
            <a:xfrm>
              <a:off x="1465296" y="1863614"/>
              <a:ext cx="3846302" cy="2538559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8" name="Rectangle 8"/>
            <p:cNvSpPr>
              <a:spLocks noChangeArrowheads="1"/>
            </p:cNvSpPr>
            <p:nvPr/>
          </p:nvSpPr>
          <p:spPr bwMode="auto">
            <a:xfrm>
              <a:off x="2045360" y="4402173"/>
              <a:ext cx="85242" cy="2079"/>
            </a:xfrm>
            <a:prstGeom prst="rect">
              <a:avLst/>
            </a:prstGeom>
            <a:solidFill>
              <a:srgbClr val="F0F0F0"/>
            </a:solidFill>
            <a:ln w="952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9" name="Rectangle 9"/>
            <p:cNvSpPr>
              <a:spLocks noChangeArrowheads="1"/>
            </p:cNvSpPr>
            <p:nvPr/>
          </p:nvSpPr>
          <p:spPr bwMode="auto">
            <a:xfrm>
              <a:off x="2134761" y="4402173"/>
              <a:ext cx="89401" cy="2079"/>
            </a:xfrm>
            <a:prstGeom prst="rect">
              <a:avLst/>
            </a:prstGeom>
            <a:solidFill>
              <a:srgbClr val="F0F0F0"/>
            </a:solidFill>
            <a:ln w="952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0" name="Rectangle 10"/>
            <p:cNvSpPr>
              <a:spLocks noChangeArrowheads="1"/>
            </p:cNvSpPr>
            <p:nvPr/>
          </p:nvSpPr>
          <p:spPr bwMode="auto">
            <a:xfrm>
              <a:off x="2226240" y="4402173"/>
              <a:ext cx="91480" cy="2079"/>
            </a:xfrm>
            <a:prstGeom prst="rect">
              <a:avLst/>
            </a:prstGeom>
            <a:solidFill>
              <a:srgbClr val="F0F0F0"/>
            </a:solidFill>
            <a:ln w="952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1" name="Rectangle 11"/>
            <p:cNvSpPr>
              <a:spLocks noChangeArrowheads="1"/>
            </p:cNvSpPr>
            <p:nvPr/>
          </p:nvSpPr>
          <p:spPr bwMode="auto">
            <a:xfrm>
              <a:off x="2317720" y="4402173"/>
              <a:ext cx="89401" cy="2079"/>
            </a:xfrm>
            <a:prstGeom prst="rect">
              <a:avLst/>
            </a:prstGeom>
            <a:solidFill>
              <a:srgbClr val="F0F0F0"/>
            </a:solidFill>
            <a:ln w="952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2" name="Rectangle 12"/>
            <p:cNvSpPr>
              <a:spLocks noChangeArrowheads="1"/>
            </p:cNvSpPr>
            <p:nvPr/>
          </p:nvSpPr>
          <p:spPr bwMode="auto">
            <a:xfrm>
              <a:off x="2407121" y="4385540"/>
              <a:ext cx="89401" cy="16633"/>
            </a:xfrm>
            <a:prstGeom prst="rect">
              <a:avLst/>
            </a:prstGeom>
            <a:solidFill>
              <a:srgbClr val="F0F0F0"/>
            </a:solidFill>
            <a:ln w="952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3" name="Rectangle 13"/>
            <p:cNvSpPr>
              <a:spLocks noChangeArrowheads="1"/>
            </p:cNvSpPr>
            <p:nvPr/>
          </p:nvSpPr>
          <p:spPr bwMode="auto">
            <a:xfrm>
              <a:off x="2500679" y="4383461"/>
              <a:ext cx="91480" cy="18712"/>
            </a:xfrm>
            <a:prstGeom prst="rect">
              <a:avLst/>
            </a:prstGeom>
            <a:solidFill>
              <a:srgbClr val="F0F0F0"/>
            </a:solidFill>
            <a:ln w="952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4" name="Rectangle 14"/>
            <p:cNvSpPr>
              <a:spLocks noChangeArrowheads="1"/>
            </p:cNvSpPr>
            <p:nvPr/>
          </p:nvSpPr>
          <p:spPr bwMode="auto">
            <a:xfrm>
              <a:off x="2592159" y="4391777"/>
              <a:ext cx="89401" cy="10395"/>
            </a:xfrm>
            <a:prstGeom prst="rect">
              <a:avLst/>
            </a:prstGeom>
            <a:solidFill>
              <a:srgbClr val="F0F0F0"/>
            </a:solidFill>
            <a:ln w="952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5" name="Rectangle 15"/>
            <p:cNvSpPr>
              <a:spLocks noChangeArrowheads="1"/>
            </p:cNvSpPr>
            <p:nvPr/>
          </p:nvSpPr>
          <p:spPr bwMode="auto">
            <a:xfrm>
              <a:off x="2681559" y="4352275"/>
              <a:ext cx="89401" cy="49898"/>
            </a:xfrm>
            <a:prstGeom prst="rect">
              <a:avLst/>
            </a:prstGeom>
            <a:solidFill>
              <a:srgbClr val="F0F0F0"/>
            </a:solidFill>
            <a:ln w="952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6" name="Rectangle 16"/>
            <p:cNvSpPr>
              <a:spLocks noChangeArrowheads="1"/>
            </p:cNvSpPr>
            <p:nvPr/>
          </p:nvSpPr>
          <p:spPr bwMode="auto">
            <a:xfrm>
              <a:off x="2773039" y="4277428"/>
              <a:ext cx="93559" cy="124745"/>
            </a:xfrm>
            <a:prstGeom prst="rect">
              <a:avLst/>
            </a:prstGeom>
            <a:solidFill>
              <a:srgbClr val="F0F0F0"/>
            </a:solidFill>
            <a:ln w="952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7" name="Rectangle 17"/>
            <p:cNvSpPr>
              <a:spLocks noChangeArrowheads="1"/>
            </p:cNvSpPr>
            <p:nvPr/>
          </p:nvSpPr>
          <p:spPr bwMode="auto">
            <a:xfrm>
              <a:off x="2866598" y="4200502"/>
              <a:ext cx="89401" cy="201671"/>
            </a:xfrm>
            <a:prstGeom prst="rect">
              <a:avLst/>
            </a:prstGeom>
            <a:solidFill>
              <a:srgbClr val="F0F0F0"/>
            </a:solidFill>
            <a:ln w="952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8" name="Rectangle 18"/>
            <p:cNvSpPr>
              <a:spLocks noChangeArrowheads="1"/>
            </p:cNvSpPr>
            <p:nvPr/>
          </p:nvSpPr>
          <p:spPr bwMode="auto">
            <a:xfrm>
              <a:off x="2955998" y="3961407"/>
              <a:ext cx="89401" cy="440765"/>
            </a:xfrm>
            <a:prstGeom prst="rect">
              <a:avLst/>
            </a:prstGeom>
            <a:solidFill>
              <a:srgbClr val="F0F0F0"/>
            </a:solidFill>
            <a:ln w="952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9" name="Rectangle 19"/>
            <p:cNvSpPr>
              <a:spLocks noChangeArrowheads="1"/>
            </p:cNvSpPr>
            <p:nvPr/>
          </p:nvSpPr>
          <p:spPr bwMode="auto">
            <a:xfrm>
              <a:off x="3047478" y="3522721"/>
              <a:ext cx="91480" cy="879452"/>
            </a:xfrm>
            <a:prstGeom prst="rect">
              <a:avLst/>
            </a:prstGeom>
            <a:solidFill>
              <a:srgbClr val="F0F0F0"/>
            </a:solidFill>
            <a:ln w="952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0" name="Rectangle 20"/>
            <p:cNvSpPr>
              <a:spLocks noChangeArrowheads="1"/>
            </p:cNvSpPr>
            <p:nvPr/>
          </p:nvSpPr>
          <p:spPr bwMode="auto">
            <a:xfrm>
              <a:off x="3138957" y="3335604"/>
              <a:ext cx="91480" cy="1066569"/>
            </a:xfrm>
            <a:prstGeom prst="rect">
              <a:avLst/>
            </a:prstGeom>
            <a:solidFill>
              <a:srgbClr val="F0F0F0"/>
            </a:solidFill>
            <a:ln w="952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1" name="Rectangle 21"/>
            <p:cNvSpPr>
              <a:spLocks noChangeArrowheads="1"/>
            </p:cNvSpPr>
            <p:nvPr/>
          </p:nvSpPr>
          <p:spPr bwMode="auto">
            <a:xfrm>
              <a:off x="3230437" y="2948894"/>
              <a:ext cx="89401" cy="1453278"/>
            </a:xfrm>
            <a:prstGeom prst="rect">
              <a:avLst/>
            </a:prstGeom>
            <a:solidFill>
              <a:srgbClr val="F0F0F0"/>
            </a:solidFill>
            <a:ln w="952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2" name="Rectangle 22"/>
            <p:cNvSpPr>
              <a:spLocks noChangeArrowheads="1"/>
            </p:cNvSpPr>
            <p:nvPr/>
          </p:nvSpPr>
          <p:spPr bwMode="auto">
            <a:xfrm>
              <a:off x="3321917" y="3318971"/>
              <a:ext cx="89401" cy="1083202"/>
            </a:xfrm>
            <a:prstGeom prst="rect">
              <a:avLst/>
            </a:prstGeom>
            <a:solidFill>
              <a:srgbClr val="F0F0F0"/>
            </a:solidFill>
            <a:ln w="952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3" name="Rectangle 23"/>
            <p:cNvSpPr>
              <a:spLocks noChangeArrowheads="1"/>
            </p:cNvSpPr>
            <p:nvPr/>
          </p:nvSpPr>
          <p:spPr bwMode="auto">
            <a:xfrm>
              <a:off x="3413396" y="2757619"/>
              <a:ext cx="93559" cy="1644554"/>
            </a:xfrm>
            <a:prstGeom prst="rect">
              <a:avLst/>
            </a:prstGeom>
            <a:solidFill>
              <a:srgbClr val="F0F0F0"/>
            </a:solidFill>
            <a:ln w="952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4" name="Rectangle 24"/>
            <p:cNvSpPr>
              <a:spLocks noChangeArrowheads="1"/>
            </p:cNvSpPr>
            <p:nvPr/>
          </p:nvSpPr>
          <p:spPr bwMode="auto">
            <a:xfrm>
              <a:off x="3506955" y="2173397"/>
              <a:ext cx="85242" cy="2228776"/>
            </a:xfrm>
            <a:prstGeom prst="rect">
              <a:avLst/>
            </a:prstGeom>
            <a:solidFill>
              <a:srgbClr val="F0F0F0"/>
            </a:solidFill>
            <a:ln w="952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5" name="Rectangle 25"/>
            <p:cNvSpPr>
              <a:spLocks noChangeArrowheads="1"/>
            </p:cNvSpPr>
            <p:nvPr/>
          </p:nvSpPr>
          <p:spPr bwMode="auto">
            <a:xfrm>
              <a:off x="3596355" y="3025821"/>
              <a:ext cx="89401" cy="1376352"/>
            </a:xfrm>
            <a:prstGeom prst="rect">
              <a:avLst/>
            </a:prstGeom>
            <a:solidFill>
              <a:srgbClr val="F0F0F0"/>
            </a:solidFill>
            <a:ln w="952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6" name="Rectangle 26"/>
            <p:cNvSpPr>
              <a:spLocks noChangeArrowheads="1"/>
            </p:cNvSpPr>
            <p:nvPr/>
          </p:nvSpPr>
          <p:spPr bwMode="auto">
            <a:xfrm>
              <a:off x="3687835" y="3830425"/>
              <a:ext cx="91480" cy="571747"/>
            </a:xfrm>
            <a:prstGeom prst="rect">
              <a:avLst/>
            </a:prstGeom>
            <a:solidFill>
              <a:srgbClr val="F0F0F0"/>
            </a:solidFill>
            <a:ln w="952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7" name="Rectangle 27"/>
            <p:cNvSpPr>
              <a:spLocks noChangeArrowheads="1"/>
            </p:cNvSpPr>
            <p:nvPr/>
          </p:nvSpPr>
          <p:spPr bwMode="auto">
            <a:xfrm>
              <a:off x="3779315" y="3603805"/>
              <a:ext cx="87321" cy="798367"/>
            </a:xfrm>
            <a:prstGeom prst="rect">
              <a:avLst/>
            </a:prstGeom>
            <a:solidFill>
              <a:srgbClr val="F0F0F0"/>
            </a:solidFill>
            <a:ln w="952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8" name="Rectangle 28"/>
            <p:cNvSpPr>
              <a:spLocks noChangeArrowheads="1"/>
            </p:cNvSpPr>
            <p:nvPr/>
          </p:nvSpPr>
          <p:spPr bwMode="auto">
            <a:xfrm>
              <a:off x="3868715" y="3605884"/>
              <a:ext cx="89401" cy="796288"/>
            </a:xfrm>
            <a:prstGeom prst="rect">
              <a:avLst/>
            </a:prstGeom>
            <a:solidFill>
              <a:srgbClr val="F0F0F0"/>
            </a:solidFill>
            <a:ln w="952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9" name="Rectangle 29"/>
            <p:cNvSpPr>
              <a:spLocks noChangeArrowheads="1"/>
            </p:cNvSpPr>
            <p:nvPr/>
          </p:nvSpPr>
          <p:spPr bwMode="auto">
            <a:xfrm>
              <a:off x="3962274" y="3955170"/>
              <a:ext cx="91480" cy="447003"/>
            </a:xfrm>
            <a:prstGeom prst="rect">
              <a:avLst/>
            </a:prstGeom>
            <a:solidFill>
              <a:srgbClr val="F0F0F0"/>
            </a:solidFill>
            <a:ln w="952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0" name="Rectangle 30"/>
            <p:cNvSpPr>
              <a:spLocks noChangeArrowheads="1"/>
            </p:cNvSpPr>
            <p:nvPr/>
          </p:nvSpPr>
          <p:spPr bwMode="auto">
            <a:xfrm>
              <a:off x="4053753" y="4156841"/>
              <a:ext cx="87321" cy="245332"/>
            </a:xfrm>
            <a:prstGeom prst="rect">
              <a:avLst/>
            </a:prstGeom>
            <a:solidFill>
              <a:srgbClr val="F0F0F0"/>
            </a:solidFill>
            <a:ln w="952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1" name="Rectangle 31"/>
            <p:cNvSpPr>
              <a:spLocks noChangeArrowheads="1"/>
            </p:cNvSpPr>
            <p:nvPr/>
          </p:nvSpPr>
          <p:spPr bwMode="auto">
            <a:xfrm>
              <a:off x="4143154" y="4277428"/>
              <a:ext cx="89401" cy="124745"/>
            </a:xfrm>
            <a:prstGeom prst="rect">
              <a:avLst/>
            </a:prstGeom>
            <a:solidFill>
              <a:srgbClr val="F0F0F0"/>
            </a:solidFill>
            <a:ln w="952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2" name="Rectangle 32"/>
            <p:cNvSpPr>
              <a:spLocks noChangeArrowheads="1"/>
            </p:cNvSpPr>
            <p:nvPr/>
          </p:nvSpPr>
          <p:spPr bwMode="auto">
            <a:xfrm>
              <a:off x="4234634" y="4308614"/>
              <a:ext cx="93559" cy="93559"/>
            </a:xfrm>
            <a:prstGeom prst="rect">
              <a:avLst/>
            </a:prstGeom>
            <a:solidFill>
              <a:srgbClr val="F0F0F0"/>
            </a:solidFill>
            <a:ln w="952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3" name="Rectangle 33"/>
            <p:cNvSpPr>
              <a:spLocks noChangeArrowheads="1"/>
            </p:cNvSpPr>
            <p:nvPr/>
          </p:nvSpPr>
          <p:spPr bwMode="auto">
            <a:xfrm>
              <a:off x="4328192" y="4341879"/>
              <a:ext cx="89401" cy="60293"/>
            </a:xfrm>
            <a:prstGeom prst="rect">
              <a:avLst/>
            </a:prstGeom>
            <a:solidFill>
              <a:srgbClr val="F0F0F0"/>
            </a:solidFill>
            <a:ln w="952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4" name="Rectangle 34"/>
            <p:cNvSpPr>
              <a:spLocks noChangeArrowheads="1"/>
            </p:cNvSpPr>
            <p:nvPr/>
          </p:nvSpPr>
          <p:spPr bwMode="auto">
            <a:xfrm>
              <a:off x="4417593" y="4383461"/>
              <a:ext cx="89401" cy="18712"/>
            </a:xfrm>
            <a:prstGeom prst="rect">
              <a:avLst/>
            </a:prstGeom>
            <a:solidFill>
              <a:srgbClr val="F0F0F0"/>
            </a:solidFill>
            <a:ln w="952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5" name="Rectangle 35"/>
            <p:cNvSpPr>
              <a:spLocks noChangeArrowheads="1"/>
            </p:cNvSpPr>
            <p:nvPr/>
          </p:nvSpPr>
          <p:spPr bwMode="auto">
            <a:xfrm>
              <a:off x="4509072" y="4393856"/>
              <a:ext cx="91480" cy="8316"/>
            </a:xfrm>
            <a:prstGeom prst="rect">
              <a:avLst/>
            </a:prstGeom>
            <a:solidFill>
              <a:srgbClr val="F0F0F0"/>
            </a:solidFill>
            <a:ln w="952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6" name="Rectangle 36"/>
            <p:cNvSpPr>
              <a:spLocks noChangeArrowheads="1"/>
            </p:cNvSpPr>
            <p:nvPr/>
          </p:nvSpPr>
          <p:spPr bwMode="auto">
            <a:xfrm>
              <a:off x="4600552" y="4393856"/>
              <a:ext cx="89401" cy="8316"/>
            </a:xfrm>
            <a:prstGeom prst="rect">
              <a:avLst/>
            </a:prstGeom>
            <a:solidFill>
              <a:srgbClr val="F0F0F0"/>
            </a:solidFill>
            <a:ln w="952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7" name="Rectangle 37"/>
            <p:cNvSpPr>
              <a:spLocks noChangeArrowheads="1"/>
            </p:cNvSpPr>
            <p:nvPr/>
          </p:nvSpPr>
          <p:spPr bwMode="auto">
            <a:xfrm>
              <a:off x="4874991" y="4402173"/>
              <a:ext cx="93559" cy="2079"/>
            </a:xfrm>
            <a:prstGeom prst="rect">
              <a:avLst/>
            </a:prstGeom>
            <a:solidFill>
              <a:srgbClr val="F0F0F0"/>
            </a:solidFill>
            <a:ln w="952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9" name="Line 39"/>
            <p:cNvSpPr>
              <a:spLocks noChangeShapeType="1"/>
            </p:cNvSpPr>
            <p:nvPr/>
          </p:nvSpPr>
          <p:spPr bwMode="auto">
            <a:xfrm flipV="1">
              <a:off x="1465296" y="1863614"/>
              <a:ext cx="0" cy="2542717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0" name="Line 40"/>
            <p:cNvSpPr>
              <a:spLocks noChangeShapeType="1"/>
            </p:cNvSpPr>
            <p:nvPr/>
          </p:nvSpPr>
          <p:spPr bwMode="auto">
            <a:xfrm flipH="1">
              <a:off x="1421636" y="4406331"/>
              <a:ext cx="43661" cy="0"/>
            </a:xfrm>
            <a:prstGeom prst="line">
              <a:avLst/>
            </a:prstGeom>
            <a:noFill/>
            <a:ln w="4763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2" name="Rectangle 52"/>
            <p:cNvSpPr>
              <a:spLocks noChangeArrowheads="1"/>
            </p:cNvSpPr>
            <p:nvPr/>
          </p:nvSpPr>
          <p:spPr bwMode="auto">
            <a:xfrm rot="16200000">
              <a:off x="721688" y="2917516"/>
              <a:ext cx="844783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Frequency</a:t>
              </a:r>
              <a:endPara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3" name="Line 53"/>
            <p:cNvSpPr>
              <a:spLocks noChangeShapeType="1"/>
            </p:cNvSpPr>
            <p:nvPr/>
          </p:nvSpPr>
          <p:spPr bwMode="auto">
            <a:xfrm>
              <a:off x="1465296" y="4406331"/>
              <a:ext cx="3848381" cy="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4" name="Line 54"/>
            <p:cNvSpPr>
              <a:spLocks noChangeShapeType="1"/>
            </p:cNvSpPr>
            <p:nvPr/>
          </p:nvSpPr>
          <p:spPr bwMode="auto">
            <a:xfrm>
              <a:off x="1585883" y="4406331"/>
              <a:ext cx="0" cy="45740"/>
            </a:xfrm>
            <a:prstGeom prst="line">
              <a:avLst/>
            </a:prstGeom>
            <a:noFill/>
            <a:ln w="4763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5" name="Rectangle 55"/>
            <p:cNvSpPr>
              <a:spLocks noChangeArrowheads="1"/>
            </p:cNvSpPr>
            <p:nvPr/>
          </p:nvSpPr>
          <p:spPr bwMode="auto">
            <a:xfrm>
              <a:off x="1504799" y="4474940"/>
              <a:ext cx="21320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1.2</a:t>
              </a:r>
              <a:endPara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6" name="Line 56"/>
            <p:cNvSpPr>
              <a:spLocks noChangeShapeType="1"/>
            </p:cNvSpPr>
            <p:nvPr/>
          </p:nvSpPr>
          <p:spPr bwMode="auto">
            <a:xfrm>
              <a:off x="2500679" y="4406331"/>
              <a:ext cx="0" cy="45740"/>
            </a:xfrm>
            <a:prstGeom prst="line">
              <a:avLst/>
            </a:prstGeom>
            <a:noFill/>
            <a:ln w="4763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7" name="Rectangle 57"/>
            <p:cNvSpPr>
              <a:spLocks noChangeArrowheads="1"/>
            </p:cNvSpPr>
            <p:nvPr/>
          </p:nvSpPr>
          <p:spPr bwMode="auto">
            <a:xfrm>
              <a:off x="2419595" y="4474940"/>
              <a:ext cx="21320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1.4</a:t>
              </a:r>
              <a:endPara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8" name="Line 58"/>
            <p:cNvSpPr>
              <a:spLocks noChangeShapeType="1"/>
            </p:cNvSpPr>
            <p:nvPr/>
          </p:nvSpPr>
          <p:spPr bwMode="auto">
            <a:xfrm>
              <a:off x="3413396" y="4406331"/>
              <a:ext cx="0" cy="45740"/>
            </a:xfrm>
            <a:prstGeom prst="line">
              <a:avLst/>
            </a:prstGeom>
            <a:noFill/>
            <a:ln w="4763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9" name="Rectangle 59"/>
            <p:cNvSpPr>
              <a:spLocks noChangeArrowheads="1"/>
            </p:cNvSpPr>
            <p:nvPr/>
          </p:nvSpPr>
          <p:spPr bwMode="auto">
            <a:xfrm>
              <a:off x="3332312" y="4474940"/>
              <a:ext cx="21320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1.6</a:t>
              </a:r>
              <a:endPara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0" name="Line 60"/>
            <p:cNvSpPr>
              <a:spLocks noChangeShapeType="1"/>
            </p:cNvSpPr>
            <p:nvPr/>
          </p:nvSpPr>
          <p:spPr bwMode="auto">
            <a:xfrm>
              <a:off x="4328192" y="4406331"/>
              <a:ext cx="0" cy="45740"/>
            </a:xfrm>
            <a:prstGeom prst="line">
              <a:avLst/>
            </a:prstGeom>
            <a:noFill/>
            <a:ln w="4763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1" name="Rectangle 61"/>
            <p:cNvSpPr>
              <a:spLocks noChangeArrowheads="1"/>
            </p:cNvSpPr>
            <p:nvPr/>
          </p:nvSpPr>
          <p:spPr bwMode="auto">
            <a:xfrm>
              <a:off x="4247108" y="4474940"/>
              <a:ext cx="21320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1.8</a:t>
              </a:r>
              <a:endPara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2" name="Line 62"/>
            <p:cNvSpPr>
              <a:spLocks noChangeShapeType="1"/>
            </p:cNvSpPr>
            <p:nvPr/>
          </p:nvSpPr>
          <p:spPr bwMode="auto">
            <a:xfrm>
              <a:off x="5240909" y="4406331"/>
              <a:ext cx="0" cy="45740"/>
            </a:xfrm>
            <a:prstGeom prst="line">
              <a:avLst/>
            </a:prstGeom>
            <a:noFill/>
            <a:ln w="4763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3" name="Rectangle 63"/>
            <p:cNvSpPr>
              <a:spLocks noChangeArrowheads="1"/>
            </p:cNvSpPr>
            <p:nvPr/>
          </p:nvSpPr>
          <p:spPr bwMode="auto">
            <a:xfrm>
              <a:off x="5209723" y="4474940"/>
              <a:ext cx="8496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2</a:t>
              </a:r>
              <a:endPara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4" name="Rectangle 64"/>
            <p:cNvSpPr>
              <a:spLocks noChangeArrowheads="1"/>
            </p:cNvSpPr>
            <p:nvPr/>
          </p:nvSpPr>
          <p:spPr bwMode="auto">
            <a:xfrm>
              <a:off x="3126483" y="4705719"/>
              <a:ext cx="690895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height (m)</a:t>
              </a:r>
              <a:endPara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8" name="Rectangle 66"/>
          <p:cNvSpPr>
            <a:spLocks noChangeArrowheads="1"/>
          </p:cNvSpPr>
          <p:nvPr/>
        </p:nvSpPr>
        <p:spPr bwMode="auto">
          <a:xfrm>
            <a:off x="6993673" y="2938889"/>
            <a:ext cx="1391457" cy="296054"/>
          </a:xfrm>
          <a:prstGeom prst="rect">
            <a:avLst/>
          </a:prstGeom>
          <a:solidFill>
            <a:srgbClr val="CC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Rectangle 67"/>
          <p:cNvSpPr>
            <a:spLocks noChangeArrowheads="1"/>
          </p:cNvSpPr>
          <p:nvPr/>
        </p:nvSpPr>
        <p:spPr bwMode="auto">
          <a:xfrm>
            <a:off x="6993673" y="2938889"/>
            <a:ext cx="1391457" cy="296054"/>
          </a:xfrm>
          <a:prstGeom prst="rect">
            <a:avLst/>
          </a:pr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" name="Line 68"/>
          <p:cNvSpPr>
            <a:spLocks noChangeShapeType="1"/>
          </p:cNvSpPr>
          <p:nvPr/>
        </p:nvSpPr>
        <p:spPr bwMode="auto">
          <a:xfrm>
            <a:off x="6993673" y="3096785"/>
            <a:ext cx="1391457" cy="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Line 69"/>
          <p:cNvSpPr>
            <a:spLocks noChangeShapeType="1"/>
          </p:cNvSpPr>
          <p:nvPr/>
        </p:nvSpPr>
        <p:spPr bwMode="auto">
          <a:xfrm>
            <a:off x="7712099" y="3225074"/>
            <a:ext cx="0" cy="424344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2" name="Line 70"/>
          <p:cNvSpPr>
            <a:spLocks noChangeShapeType="1"/>
          </p:cNvSpPr>
          <p:nvPr/>
        </p:nvSpPr>
        <p:spPr bwMode="auto">
          <a:xfrm flipV="1">
            <a:off x="7712099" y="2504676"/>
            <a:ext cx="0" cy="424344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3" name="Line 71"/>
          <p:cNvSpPr>
            <a:spLocks noChangeShapeType="1"/>
          </p:cNvSpPr>
          <p:nvPr/>
        </p:nvSpPr>
        <p:spPr bwMode="auto">
          <a:xfrm>
            <a:off x="6993673" y="3649419"/>
            <a:ext cx="1391457" cy="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4" name="Line 72"/>
          <p:cNvSpPr>
            <a:spLocks noChangeShapeType="1"/>
          </p:cNvSpPr>
          <p:nvPr/>
        </p:nvSpPr>
        <p:spPr bwMode="auto">
          <a:xfrm>
            <a:off x="6983804" y="2504676"/>
            <a:ext cx="1391457" cy="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5" name="Oval 73"/>
          <p:cNvSpPr>
            <a:spLocks noChangeArrowheads="1"/>
          </p:cNvSpPr>
          <p:nvPr/>
        </p:nvSpPr>
        <p:spPr bwMode="auto">
          <a:xfrm>
            <a:off x="7694335" y="4083633"/>
            <a:ext cx="35527" cy="45394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6" name="Oval 74"/>
          <p:cNvSpPr>
            <a:spLocks noChangeArrowheads="1"/>
          </p:cNvSpPr>
          <p:nvPr/>
        </p:nvSpPr>
        <p:spPr bwMode="auto">
          <a:xfrm>
            <a:off x="7694335" y="4018500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7" name="Oval 75"/>
          <p:cNvSpPr>
            <a:spLocks noChangeArrowheads="1"/>
          </p:cNvSpPr>
          <p:nvPr/>
        </p:nvSpPr>
        <p:spPr bwMode="auto">
          <a:xfrm>
            <a:off x="7694335" y="3990868"/>
            <a:ext cx="35527" cy="37500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8" name="Oval 76"/>
          <p:cNvSpPr>
            <a:spLocks noChangeArrowheads="1"/>
          </p:cNvSpPr>
          <p:nvPr/>
        </p:nvSpPr>
        <p:spPr bwMode="auto">
          <a:xfrm>
            <a:off x="7694335" y="3927710"/>
            <a:ext cx="35527" cy="45394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9" name="Oval 77"/>
          <p:cNvSpPr>
            <a:spLocks noChangeArrowheads="1"/>
          </p:cNvSpPr>
          <p:nvPr/>
        </p:nvSpPr>
        <p:spPr bwMode="auto">
          <a:xfrm>
            <a:off x="7694335" y="3852709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0" name="Oval 78"/>
          <p:cNvSpPr>
            <a:spLocks noChangeArrowheads="1"/>
          </p:cNvSpPr>
          <p:nvPr/>
        </p:nvSpPr>
        <p:spPr bwMode="auto">
          <a:xfrm>
            <a:off x="7694335" y="3825078"/>
            <a:ext cx="35527" cy="45394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1" name="Oval 79"/>
          <p:cNvSpPr>
            <a:spLocks noChangeArrowheads="1"/>
          </p:cNvSpPr>
          <p:nvPr/>
        </p:nvSpPr>
        <p:spPr bwMode="auto">
          <a:xfrm>
            <a:off x="7694335" y="3787578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2" name="Oval 80"/>
          <p:cNvSpPr>
            <a:spLocks noChangeArrowheads="1"/>
          </p:cNvSpPr>
          <p:nvPr/>
        </p:nvSpPr>
        <p:spPr bwMode="auto">
          <a:xfrm>
            <a:off x="7694335" y="3787578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3" name="Oval 81"/>
          <p:cNvSpPr>
            <a:spLocks noChangeArrowheads="1"/>
          </p:cNvSpPr>
          <p:nvPr/>
        </p:nvSpPr>
        <p:spPr bwMode="auto">
          <a:xfrm>
            <a:off x="7694335" y="3759946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4" name="Oval 82"/>
          <p:cNvSpPr>
            <a:spLocks noChangeArrowheads="1"/>
          </p:cNvSpPr>
          <p:nvPr/>
        </p:nvSpPr>
        <p:spPr bwMode="auto">
          <a:xfrm>
            <a:off x="7694335" y="3759946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5" name="Oval 83"/>
          <p:cNvSpPr>
            <a:spLocks noChangeArrowheads="1"/>
          </p:cNvSpPr>
          <p:nvPr/>
        </p:nvSpPr>
        <p:spPr bwMode="auto">
          <a:xfrm>
            <a:off x="7694335" y="3759946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6" name="Oval 84"/>
          <p:cNvSpPr>
            <a:spLocks noChangeArrowheads="1"/>
          </p:cNvSpPr>
          <p:nvPr/>
        </p:nvSpPr>
        <p:spPr bwMode="auto">
          <a:xfrm>
            <a:off x="7694335" y="3759946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7" name="Oval 85"/>
          <p:cNvSpPr>
            <a:spLocks noChangeArrowheads="1"/>
          </p:cNvSpPr>
          <p:nvPr/>
        </p:nvSpPr>
        <p:spPr bwMode="auto">
          <a:xfrm>
            <a:off x="7694335" y="3759946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8" name="Oval 86"/>
          <p:cNvSpPr>
            <a:spLocks noChangeArrowheads="1"/>
          </p:cNvSpPr>
          <p:nvPr/>
        </p:nvSpPr>
        <p:spPr bwMode="auto">
          <a:xfrm>
            <a:off x="7694335" y="3759946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9" name="Oval 87"/>
          <p:cNvSpPr>
            <a:spLocks noChangeArrowheads="1"/>
          </p:cNvSpPr>
          <p:nvPr/>
        </p:nvSpPr>
        <p:spPr bwMode="auto">
          <a:xfrm>
            <a:off x="7694335" y="3724420"/>
            <a:ext cx="35527" cy="45394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0" name="Oval 88"/>
          <p:cNvSpPr>
            <a:spLocks noChangeArrowheads="1"/>
          </p:cNvSpPr>
          <p:nvPr/>
        </p:nvSpPr>
        <p:spPr bwMode="auto">
          <a:xfrm>
            <a:off x="7694335" y="3724420"/>
            <a:ext cx="35527" cy="45394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1" name="Oval 89"/>
          <p:cNvSpPr>
            <a:spLocks noChangeArrowheads="1"/>
          </p:cNvSpPr>
          <p:nvPr/>
        </p:nvSpPr>
        <p:spPr bwMode="auto">
          <a:xfrm>
            <a:off x="7694335" y="3696788"/>
            <a:ext cx="35527" cy="45394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2" name="Oval 90"/>
          <p:cNvSpPr>
            <a:spLocks noChangeArrowheads="1"/>
          </p:cNvSpPr>
          <p:nvPr/>
        </p:nvSpPr>
        <p:spPr bwMode="auto">
          <a:xfrm>
            <a:off x="7694335" y="3696788"/>
            <a:ext cx="35527" cy="45394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3" name="Oval 91"/>
          <p:cNvSpPr>
            <a:spLocks noChangeArrowheads="1"/>
          </p:cNvSpPr>
          <p:nvPr/>
        </p:nvSpPr>
        <p:spPr bwMode="auto">
          <a:xfrm>
            <a:off x="7694335" y="3696788"/>
            <a:ext cx="35527" cy="45394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4" name="Oval 92"/>
          <p:cNvSpPr>
            <a:spLocks noChangeArrowheads="1"/>
          </p:cNvSpPr>
          <p:nvPr/>
        </p:nvSpPr>
        <p:spPr bwMode="auto">
          <a:xfrm>
            <a:off x="7694335" y="3696788"/>
            <a:ext cx="35527" cy="45394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5" name="Oval 93"/>
          <p:cNvSpPr>
            <a:spLocks noChangeArrowheads="1"/>
          </p:cNvSpPr>
          <p:nvPr/>
        </p:nvSpPr>
        <p:spPr bwMode="auto">
          <a:xfrm>
            <a:off x="7694335" y="3696788"/>
            <a:ext cx="35527" cy="45394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6" name="Oval 94"/>
          <p:cNvSpPr>
            <a:spLocks noChangeArrowheads="1"/>
          </p:cNvSpPr>
          <p:nvPr/>
        </p:nvSpPr>
        <p:spPr bwMode="auto">
          <a:xfrm>
            <a:off x="7694335" y="3696788"/>
            <a:ext cx="35527" cy="45394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7" name="Oval 95"/>
          <p:cNvSpPr>
            <a:spLocks noChangeArrowheads="1"/>
          </p:cNvSpPr>
          <p:nvPr/>
        </p:nvSpPr>
        <p:spPr bwMode="auto">
          <a:xfrm>
            <a:off x="7694335" y="3696788"/>
            <a:ext cx="35527" cy="45394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8" name="Oval 96"/>
          <p:cNvSpPr>
            <a:spLocks noChangeArrowheads="1"/>
          </p:cNvSpPr>
          <p:nvPr/>
        </p:nvSpPr>
        <p:spPr bwMode="auto">
          <a:xfrm>
            <a:off x="7694335" y="3696788"/>
            <a:ext cx="35527" cy="45394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9" name="Oval 97"/>
          <p:cNvSpPr>
            <a:spLocks noChangeArrowheads="1"/>
          </p:cNvSpPr>
          <p:nvPr/>
        </p:nvSpPr>
        <p:spPr bwMode="auto">
          <a:xfrm>
            <a:off x="7694335" y="3659287"/>
            <a:ext cx="35527" cy="45394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0" name="Oval 98"/>
          <p:cNvSpPr>
            <a:spLocks noChangeArrowheads="1"/>
          </p:cNvSpPr>
          <p:nvPr/>
        </p:nvSpPr>
        <p:spPr bwMode="auto">
          <a:xfrm>
            <a:off x="7694335" y="3659287"/>
            <a:ext cx="35527" cy="45394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1" name="Oval 99"/>
          <p:cNvSpPr>
            <a:spLocks noChangeArrowheads="1"/>
          </p:cNvSpPr>
          <p:nvPr/>
        </p:nvSpPr>
        <p:spPr bwMode="auto">
          <a:xfrm>
            <a:off x="7694335" y="3659287"/>
            <a:ext cx="35527" cy="45394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2" name="Oval 100"/>
          <p:cNvSpPr>
            <a:spLocks noChangeArrowheads="1"/>
          </p:cNvSpPr>
          <p:nvPr/>
        </p:nvSpPr>
        <p:spPr bwMode="auto">
          <a:xfrm>
            <a:off x="7694335" y="3659287"/>
            <a:ext cx="35527" cy="45394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3" name="Oval 101"/>
          <p:cNvSpPr>
            <a:spLocks noChangeArrowheads="1"/>
          </p:cNvSpPr>
          <p:nvPr/>
        </p:nvSpPr>
        <p:spPr bwMode="auto">
          <a:xfrm>
            <a:off x="7694335" y="3659287"/>
            <a:ext cx="35527" cy="45394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4" name="Oval 102"/>
          <p:cNvSpPr>
            <a:spLocks noChangeArrowheads="1"/>
          </p:cNvSpPr>
          <p:nvPr/>
        </p:nvSpPr>
        <p:spPr bwMode="auto">
          <a:xfrm>
            <a:off x="7694335" y="3659287"/>
            <a:ext cx="35527" cy="45394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5" name="Oval 103"/>
          <p:cNvSpPr>
            <a:spLocks noChangeArrowheads="1"/>
          </p:cNvSpPr>
          <p:nvPr/>
        </p:nvSpPr>
        <p:spPr bwMode="auto">
          <a:xfrm>
            <a:off x="7694335" y="2449412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6" name="Oval 104"/>
          <p:cNvSpPr>
            <a:spLocks noChangeArrowheads="1"/>
          </p:cNvSpPr>
          <p:nvPr/>
        </p:nvSpPr>
        <p:spPr bwMode="auto">
          <a:xfrm>
            <a:off x="7694335" y="2449412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7" name="Oval 105"/>
          <p:cNvSpPr>
            <a:spLocks noChangeArrowheads="1"/>
          </p:cNvSpPr>
          <p:nvPr/>
        </p:nvSpPr>
        <p:spPr bwMode="auto">
          <a:xfrm>
            <a:off x="7694335" y="2449412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8" name="Oval 106"/>
          <p:cNvSpPr>
            <a:spLocks noChangeArrowheads="1"/>
          </p:cNvSpPr>
          <p:nvPr/>
        </p:nvSpPr>
        <p:spPr bwMode="auto">
          <a:xfrm>
            <a:off x="7694335" y="2449412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9" name="Oval 107"/>
          <p:cNvSpPr>
            <a:spLocks noChangeArrowheads="1"/>
          </p:cNvSpPr>
          <p:nvPr/>
        </p:nvSpPr>
        <p:spPr bwMode="auto">
          <a:xfrm>
            <a:off x="7694335" y="2449412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0" name="Oval 108"/>
          <p:cNvSpPr>
            <a:spLocks noChangeArrowheads="1"/>
          </p:cNvSpPr>
          <p:nvPr/>
        </p:nvSpPr>
        <p:spPr bwMode="auto">
          <a:xfrm>
            <a:off x="7694335" y="2449412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1" name="Oval 109"/>
          <p:cNvSpPr>
            <a:spLocks noChangeArrowheads="1"/>
          </p:cNvSpPr>
          <p:nvPr/>
        </p:nvSpPr>
        <p:spPr bwMode="auto">
          <a:xfrm>
            <a:off x="7694335" y="2449412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2" name="Oval 110"/>
          <p:cNvSpPr>
            <a:spLocks noChangeArrowheads="1"/>
          </p:cNvSpPr>
          <p:nvPr/>
        </p:nvSpPr>
        <p:spPr bwMode="auto">
          <a:xfrm>
            <a:off x="7694335" y="2449412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3" name="Oval 111"/>
          <p:cNvSpPr>
            <a:spLocks noChangeArrowheads="1"/>
          </p:cNvSpPr>
          <p:nvPr/>
        </p:nvSpPr>
        <p:spPr bwMode="auto">
          <a:xfrm>
            <a:off x="7694335" y="2449412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4" name="Oval 112"/>
          <p:cNvSpPr>
            <a:spLocks noChangeArrowheads="1"/>
          </p:cNvSpPr>
          <p:nvPr/>
        </p:nvSpPr>
        <p:spPr bwMode="auto">
          <a:xfrm>
            <a:off x="7694335" y="2449412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5" name="Oval 113"/>
          <p:cNvSpPr>
            <a:spLocks noChangeArrowheads="1"/>
          </p:cNvSpPr>
          <p:nvPr/>
        </p:nvSpPr>
        <p:spPr bwMode="auto">
          <a:xfrm>
            <a:off x="7694335" y="2449412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6" name="Oval 114"/>
          <p:cNvSpPr>
            <a:spLocks noChangeArrowheads="1"/>
          </p:cNvSpPr>
          <p:nvPr/>
        </p:nvSpPr>
        <p:spPr bwMode="auto">
          <a:xfrm>
            <a:off x="7694335" y="2449412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7" name="Oval 115"/>
          <p:cNvSpPr>
            <a:spLocks noChangeArrowheads="1"/>
          </p:cNvSpPr>
          <p:nvPr/>
        </p:nvSpPr>
        <p:spPr bwMode="auto">
          <a:xfrm>
            <a:off x="7694335" y="2449412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8" name="Oval 116"/>
          <p:cNvSpPr>
            <a:spLocks noChangeArrowheads="1"/>
          </p:cNvSpPr>
          <p:nvPr/>
        </p:nvSpPr>
        <p:spPr bwMode="auto">
          <a:xfrm>
            <a:off x="7694335" y="2449412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9" name="Oval 117"/>
          <p:cNvSpPr>
            <a:spLocks noChangeArrowheads="1"/>
          </p:cNvSpPr>
          <p:nvPr/>
        </p:nvSpPr>
        <p:spPr bwMode="auto">
          <a:xfrm>
            <a:off x="7694335" y="2449412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0" name="Oval 118"/>
          <p:cNvSpPr>
            <a:spLocks noChangeArrowheads="1"/>
          </p:cNvSpPr>
          <p:nvPr/>
        </p:nvSpPr>
        <p:spPr bwMode="auto">
          <a:xfrm>
            <a:off x="7694335" y="2449412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1" name="Oval 119"/>
          <p:cNvSpPr>
            <a:spLocks noChangeArrowheads="1"/>
          </p:cNvSpPr>
          <p:nvPr/>
        </p:nvSpPr>
        <p:spPr bwMode="auto">
          <a:xfrm>
            <a:off x="7694335" y="2449412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2" name="Oval 120"/>
          <p:cNvSpPr>
            <a:spLocks noChangeArrowheads="1"/>
          </p:cNvSpPr>
          <p:nvPr/>
        </p:nvSpPr>
        <p:spPr bwMode="auto">
          <a:xfrm>
            <a:off x="7694335" y="2449412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3" name="Oval 121"/>
          <p:cNvSpPr>
            <a:spLocks noChangeArrowheads="1"/>
          </p:cNvSpPr>
          <p:nvPr/>
        </p:nvSpPr>
        <p:spPr bwMode="auto">
          <a:xfrm>
            <a:off x="7694335" y="2449412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4" name="Oval 122"/>
          <p:cNvSpPr>
            <a:spLocks noChangeArrowheads="1"/>
          </p:cNvSpPr>
          <p:nvPr/>
        </p:nvSpPr>
        <p:spPr bwMode="auto">
          <a:xfrm>
            <a:off x="7694335" y="2449412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5" name="Oval 123"/>
          <p:cNvSpPr>
            <a:spLocks noChangeArrowheads="1"/>
          </p:cNvSpPr>
          <p:nvPr/>
        </p:nvSpPr>
        <p:spPr bwMode="auto">
          <a:xfrm>
            <a:off x="7694335" y="2449412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6" name="Oval 124"/>
          <p:cNvSpPr>
            <a:spLocks noChangeArrowheads="1"/>
          </p:cNvSpPr>
          <p:nvPr/>
        </p:nvSpPr>
        <p:spPr bwMode="auto">
          <a:xfrm>
            <a:off x="7694335" y="2449412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7" name="Oval 125"/>
          <p:cNvSpPr>
            <a:spLocks noChangeArrowheads="1"/>
          </p:cNvSpPr>
          <p:nvPr/>
        </p:nvSpPr>
        <p:spPr bwMode="auto">
          <a:xfrm>
            <a:off x="7694335" y="2449412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8" name="Oval 126"/>
          <p:cNvSpPr>
            <a:spLocks noChangeArrowheads="1"/>
          </p:cNvSpPr>
          <p:nvPr/>
        </p:nvSpPr>
        <p:spPr bwMode="auto">
          <a:xfrm>
            <a:off x="7694335" y="2421781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9" name="Oval 127"/>
          <p:cNvSpPr>
            <a:spLocks noChangeArrowheads="1"/>
          </p:cNvSpPr>
          <p:nvPr/>
        </p:nvSpPr>
        <p:spPr bwMode="auto">
          <a:xfrm>
            <a:off x="7694335" y="2421781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0" name="Oval 128"/>
          <p:cNvSpPr>
            <a:spLocks noChangeArrowheads="1"/>
          </p:cNvSpPr>
          <p:nvPr/>
        </p:nvSpPr>
        <p:spPr bwMode="auto">
          <a:xfrm>
            <a:off x="7694335" y="2421781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1" name="Oval 129"/>
          <p:cNvSpPr>
            <a:spLocks noChangeArrowheads="1"/>
          </p:cNvSpPr>
          <p:nvPr/>
        </p:nvSpPr>
        <p:spPr bwMode="auto">
          <a:xfrm>
            <a:off x="7694335" y="2421781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2" name="Oval 130"/>
          <p:cNvSpPr>
            <a:spLocks noChangeArrowheads="1"/>
          </p:cNvSpPr>
          <p:nvPr/>
        </p:nvSpPr>
        <p:spPr bwMode="auto">
          <a:xfrm>
            <a:off x="7694335" y="2384280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3" name="Oval 131"/>
          <p:cNvSpPr>
            <a:spLocks noChangeArrowheads="1"/>
          </p:cNvSpPr>
          <p:nvPr/>
        </p:nvSpPr>
        <p:spPr bwMode="auto">
          <a:xfrm>
            <a:off x="7694335" y="2384280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4" name="Oval 132"/>
          <p:cNvSpPr>
            <a:spLocks noChangeArrowheads="1"/>
          </p:cNvSpPr>
          <p:nvPr/>
        </p:nvSpPr>
        <p:spPr bwMode="auto">
          <a:xfrm>
            <a:off x="7694335" y="2356648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5" name="Oval 133"/>
          <p:cNvSpPr>
            <a:spLocks noChangeArrowheads="1"/>
          </p:cNvSpPr>
          <p:nvPr/>
        </p:nvSpPr>
        <p:spPr bwMode="auto">
          <a:xfrm>
            <a:off x="7694335" y="2356648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6" name="Oval 134"/>
          <p:cNvSpPr>
            <a:spLocks noChangeArrowheads="1"/>
          </p:cNvSpPr>
          <p:nvPr/>
        </p:nvSpPr>
        <p:spPr bwMode="auto">
          <a:xfrm>
            <a:off x="7694335" y="2356648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7" name="Oval 135"/>
          <p:cNvSpPr>
            <a:spLocks noChangeArrowheads="1"/>
          </p:cNvSpPr>
          <p:nvPr/>
        </p:nvSpPr>
        <p:spPr bwMode="auto">
          <a:xfrm>
            <a:off x="7694335" y="2356648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8" name="Oval 136"/>
          <p:cNvSpPr>
            <a:spLocks noChangeArrowheads="1"/>
          </p:cNvSpPr>
          <p:nvPr/>
        </p:nvSpPr>
        <p:spPr bwMode="auto">
          <a:xfrm>
            <a:off x="7694335" y="2356648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9" name="Oval 137"/>
          <p:cNvSpPr>
            <a:spLocks noChangeArrowheads="1"/>
          </p:cNvSpPr>
          <p:nvPr/>
        </p:nvSpPr>
        <p:spPr bwMode="auto">
          <a:xfrm>
            <a:off x="7694335" y="2356648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0" name="Oval 138"/>
          <p:cNvSpPr>
            <a:spLocks noChangeArrowheads="1"/>
          </p:cNvSpPr>
          <p:nvPr/>
        </p:nvSpPr>
        <p:spPr bwMode="auto">
          <a:xfrm>
            <a:off x="7694335" y="2356648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1" name="Oval 139"/>
          <p:cNvSpPr>
            <a:spLocks noChangeArrowheads="1"/>
          </p:cNvSpPr>
          <p:nvPr/>
        </p:nvSpPr>
        <p:spPr bwMode="auto">
          <a:xfrm>
            <a:off x="7694335" y="2356648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2" name="Oval 140"/>
          <p:cNvSpPr>
            <a:spLocks noChangeArrowheads="1"/>
          </p:cNvSpPr>
          <p:nvPr/>
        </p:nvSpPr>
        <p:spPr bwMode="auto">
          <a:xfrm>
            <a:off x="7694335" y="2321121"/>
            <a:ext cx="35527" cy="45394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3" name="Oval 141"/>
          <p:cNvSpPr>
            <a:spLocks noChangeArrowheads="1"/>
          </p:cNvSpPr>
          <p:nvPr/>
        </p:nvSpPr>
        <p:spPr bwMode="auto">
          <a:xfrm>
            <a:off x="7694335" y="2293490"/>
            <a:ext cx="35527" cy="35527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4" name="Oval 142"/>
          <p:cNvSpPr>
            <a:spLocks noChangeArrowheads="1"/>
          </p:cNvSpPr>
          <p:nvPr/>
        </p:nvSpPr>
        <p:spPr bwMode="auto">
          <a:xfrm>
            <a:off x="7694335" y="2293490"/>
            <a:ext cx="35527" cy="35527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5" name="Oval 143"/>
          <p:cNvSpPr>
            <a:spLocks noChangeArrowheads="1"/>
          </p:cNvSpPr>
          <p:nvPr/>
        </p:nvSpPr>
        <p:spPr bwMode="auto">
          <a:xfrm>
            <a:off x="7694335" y="2293490"/>
            <a:ext cx="35527" cy="35527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6" name="Oval 144"/>
          <p:cNvSpPr>
            <a:spLocks noChangeArrowheads="1"/>
          </p:cNvSpPr>
          <p:nvPr/>
        </p:nvSpPr>
        <p:spPr bwMode="auto">
          <a:xfrm>
            <a:off x="7694335" y="2293490"/>
            <a:ext cx="35527" cy="35527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7" name="Oval 145"/>
          <p:cNvSpPr>
            <a:spLocks noChangeArrowheads="1"/>
          </p:cNvSpPr>
          <p:nvPr/>
        </p:nvSpPr>
        <p:spPr bwMode="auto">
          <a:xfrm>
            <a:off x="7694335" y="2255990"/>
            <a:ext cx="35527" cy="45394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8" name="Oval 146"/>
          <p:cNvSpPr>
            <a:spLocks noChangeArrowheads="1"/>
          </p:cNvSpPr>
          <p:nvPr/>
        </p:nvSpPr>
        <p:spPr bwMode="auto">
          <a:xfrm>
            <a:off x="7694335" y="2255990"/>
            <a:ext cx="35527" cy="45394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9" name="Oval 147"/>
          <p:cNvSpPr>
            <a:spLocks noChangeArrowheads="1"/>
          </p:cNvSpPr>
          <p:nvPr/>
        </p:nvSpPr>
        <p:spPr bwMode="auto">
          <a:xfrm>
            <a:off x="7694335" y="2218489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0" name="Oval 148"/>
          <p:cNvSpPr>
            <a:spLocks noChangeArrowheads="1"/>
          </p:cNvSpPr>
          <p:nvPr/>
        </p:nvSpPr>
        <p:spPr bwMode="auto">
          <a:xfrm>
            <a:off x="7694335" y="2190857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1" name="Oval 149"/>
          <p:cNvSpPr>
            <a:spLocks noChangeArrowheads="1"/>
          </p:cNvSpPr>
          <p:nvPr/>
        </p:nvSpPr>
        <p:spPr bwMode="auto">
          <a:xfrm>
            <a:off x="7694335" y="2190857"/>
            <a:ext cx="35527" cy="47369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2" name="Oval 150"/>
          <p:cNvSpPr>
            <a:spLocks noChangeArrowheads="1"/>
          </p:cNvSpPr>
          <p:nvPr/>
        </p:nvSpPr>
        <p:spPr bwMode="auto">
          <a:xfrm>
            <a:off x="7694335" y="1997435"/>
            <a:ext cx="35527" cy="45394"/>
          </a:xfrm>
          <a:prstGeom prst="ellips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3" name="Line 151"/>
          <p:cNvSpPr>
            <a:spLocks noChangeShapeType="1"/>
          </p:cNvSpPr>
          <p:nvPr/>
        </p:nvSpPr>
        <p:spPr bwMode="auto">
          <a:xfrm flipV="1">
            <a:off x="6200248" y="1711250"/>
            <a:ext cx="0" cy="2834227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4" name="Line 152"/>
          <p:cNvSpPr>
            <a:spLocks noChangeShapeType="1"/>
          </p:cNvSpPr>
          <p:nvPr/>
        </p:nvSpPr>
        <p:spPr bwMode="auto">
          <a:xfrm flipH="1">
            <a:off x="6154852" y="4434950"/>
            <a:ext cx="45396" cy="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5" name="Rectangle 153"/>
          <p:cNvSpPr>
            <a:spLocks noChangeArrowheads="1"/>
          </p:cNvSpPr>
          <p:nvPr/>
        </p:nvSpPr>
        <p:spPr bwMode="auto">
          <a:xfrm>
            <a:off x="5929352" y="4335765"/>
            <a:ext cx="195566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1.2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6" name="Line 154"/>
          <p:cNvSpPr>
            <a:spLocks noChangeShapeType="1"/>
          </p:cNvSpPr>
          <p:nvPr/>
        </p:nvSpPr>
        <p:spPr bwMode="auto">
          <a:xfrm flipH="1">
            <a:off x="6154852" y="3779683"/>
            <a:ext cx="45396" cy="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7" name="Rectangle 155"/>
          <p:cNvSpPr>
            <a:spLocks noChangeArrowheads="1"/>
          </p:cNvSpPr>
          <p:nvPr/>
        </p:nvSpPr>
        <p:spPr bwMode="auto">
          <a:xfrm>
            <a:off x="5929352" y="3680498"/>
            <a:ext cx="195566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1.4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8" name="Line 156"/>
          <p:cNvSpPr>
            <a:spLocks noChangeShapeType="1"/>
          </p:cNvSpPr>
          <p:nvPr/>
        </p:nvSpPr>
        <p:spPr bwMode="auto">
          <a:xfrm flipH="1">
            <a:off x="6154852" y="3132311"/>
            <a:ext cx="45396" cy="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9" name="Rectangle 157"/>
          <p:cNvSpPr>
            <a:spLocks noChangeArrowheads="1"/>
          </p:cNvSpPr>
          <p:nvPr/>
        </p:nvSpPr>
        <p:spPr bwMode="auto">
          <a:xfrm>
            <a:off x="5929352" y="3027205"/>
            <a:ext cx="195566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1.6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0" name="Line 158"/>
          <p:cNvSpPr>
            <a:spLocks noChangeShapeType="1"/>
          </p:cNvSpPr>
          <p:nvPr/>
        </p:nvSpPr>
        <p:spPr bwMode="auto">
          <a:xfrm flipH="1">
            <a:off x="6154852" y="2477044"/>
            <a:ext cx="45396" cy="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1" name="Rectangle 159"/>
          <p:cNvSpPr>
            <a:spLocks noChangeArrowheads="1"/>
          </p:cNvSpPr>
          <p:nvPr/>
        </p:nvSpPr>
        <p:spPr bwMode="auto">
          <a:xfrm>
            <a:off x="5929352" y="2375885"/>
            <a:ext cx="195566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1.8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2" name="Line 160"/>
          <p:cNvSpPr>
            <a:spLocks noChangeShapeType="1"/>
          </p:cNvSpPr>
          <p:nvPr/>
        </p:nvSpPr>
        <p:spPr bwMode="auto">
          <a:xfrm flipH="1">
            <a:off x="6154852" y="1821777"/>
            <a:ext cx="45396" cy="0"/>
          </a:xfrm>
          <a:prstGeom prst="line">
            <a:avLst/>
          </a:prstGeom>
          <a:noFill/>
          <a:ln w="7938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3" name="Rectangle 161"/>
          <p:cNvSpPr>
            <a:spLocks noChangeArrowheads="1"/>
          </p:cNvSpPr>
          <p:nvPr/>
        </p:nvSpPr>
        <p:spPr bwMode="auto">
          <a:xfrm>
            <a:off x="6020142" y="1720618"/>
            <a:ext cx="7854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80919" y="805848"/>
            <a:ext cx="7928039" cy="5171404"/>
            <a:chOff x="480919" y="805848"/>
            <a:chExt cx="7928039" cy="5171404"/>
          </a:xfrm>
        </p:grpSpPr>
        <p:sp>
          <p:nvSpPr>
            <p:cNvPr id="2" name="Rectangle 1"/>
            <p:cNvSpPr/>
            <p:nvPr/>
          </p:nvSpPr>
          <p:spPr>
            <a:xfrm>
              <a:off x="3000698" y="805848"/>
              <a:ext cx="24458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180340">
                <a:spcBef>
                  <a:spcPts val="2000"/>
                </a:spcBef>
                <a:spcAft>
                  <a:spcPts val="500"/>
                </a:spcAft>
              </a:pPr>
              <a:r>
                <a:rPr lang="en-US" kern="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Normal distribution</a:t>
              </a:r>
              <a:endParaRPr lang="en-GB" b="1" kern="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7" name="Rectangle 166"/>
            <p:cNvSpPr/>
            <p:nvPr/>
          </p:nvSpPr>
          <p:spPr>
            <a:xfrm>
              <a:off x="480919" y="5607920"/>
              <a:ext cx="792803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The characteristic symmetric bell-shape of the Normal distribution. </a:t>
              </a:r>
              <a:endParaRPr lang="en-GB" dirty="0"/>
            </a:p>
          </p:txBody>
        </p:sp>
      </p:grpSp>
      <p:sp>
        <p:nvSpPr>
          <p:cNvPr id="138" name="Freeform 38"/>
          <p:cNvSpPr>
            <a:spLocks/>
          </p:cNvSpPr>
          <p:nvPr/>
        </p:nvSpPr>
        <p:spPr bwMode="auto">
          <a:xfrm>
            <a:off x="1611399" y="2821640"/>
            <a:ext cx="3382666" cy="1575944"/>
          </a:xfrm>
          <a:custGeom>
            <a:avLst/>
            <a:gdLst>
              <a:gd name="T0" fmla="*/ 16 w 1210"/>
              <a:gd name="T1" fmla="*/ 564 h 564"/>
              <a:gd name="T2" fmla="*/ 36 w 1210"/>
              <a:gd name="T3" fmla="*/ 564 h 564"/>
              <a:gd name="T4" fmla="*/ 57 w 1210"/>
              <a:gd name="T5" fmla="*/ 564 h 564"/>
              <a:gd name="T6" fmla="*/ 77 w 1210"/>
              <a:gd name="T7" fmla="*/ 564 h 564"/>
              <a:gd name="T8" fmla="*/ 97 w 1210"/>
              <a:gd name="T9" fmla="*/ 564 h 564"/>
              <a:gd name="T10" fmla="*/ 117 w 1210"/>
              <a:gd name="T11" fmla="*/ 564 h 564"/>
              <a:gd name="T12" fmla="*/ 138 w 1210"/>
              <a:gd name="T13" fmla="*/ 564 h 564"/>
              <a:gd name="T14" fmla="*/ 158 w 1210"/>
              <a:gd name="T15" fmla="*/ 564 h 564"/>
              <a:gd name="T16" fmla="*/ 178 w 1210"/>
              <a:gd name="T17" fmla="*/ 564 h 564"/>
              <a:gd name="T18" fmla="*/ 198 w 1210"/>
              <a:gd name="T19" fmla="*/ 564 h 564"/>
              <a:gd name="T20" fmla="*/ 219 w 1210"/>
              <a:gd name="T21" fmla="*/ 564 h 564"/>
              <a:gd name="T22" fmla="*/ 239 w 1210"/>
              <a:gd name="T23" fmla="*/ 564 h 564"/>
              <a:gd name="T24" fmla="*/ 259 w 1210"/>
              <a:gd name="T25" fmla="*/ 564 h 564"/>
              <a:gd name="T26" fmla="*/ 279 w 1210"/>
              <a:gd name="T27" fmla="*/ 563 h 564"/>
              <a:gd name="T28" fmla="*/ 299 w 1210"/>
              <a:gd name="T29" fmla="*/ 562 h 564"/>
              <a:gd name="T30" fmla="*/ 320 w 1210"/>
              <a:gd name="T31" fmla="*/ 560 h 564"/>
              <a:gd name="T32" fmla="*/ 340 w 1210"/>
              <a:gd name="T33" fmla="*/ 557 h 564"/>
              <a:gd name="T34" fmla="*/ 360 w 1210"/>
              <a:gd name="T35" fmla="*/ 551 h 564"/>
              <a:gd name="T36" fmla="*/ 380 w 1210"/>
              <a:gd name="T37" fmla="*/ 544 h 564"/>
              <a:gd name="T38" fmla="*/ 401 w 1210"/>
              <a:gd name="T39" fmla="*/ 532 h 564"/>
              <a:gd name="T40" fmla="*/ 421 w 1210"/>
              <a:gd name="T41" fmla="*/ 516 h 564"/>
              <a:gd name="T42" fmla="*/ 441 w 1210"/>
              <a:gd name="T43" fmla="*/ 495 h 564"/>
              <a:gd name="T44" fmla="*/ 461 w 1210"/>
              <a:gd name="T45" fmla="*/ 466 h 564"/>
              <a:gd name="T46" fmla="*/ 481 w 1210"/>
              <a:gd name="T47" fmla="*/ 430 h 564"/>
              <a:gd name="T48" fmla="*/ 502 w 1210"/>
              <a:gd name="T49" fmla="*/ 386 h 564"/>
              <a:gd name="T50" fmla="*/ 522 w 1210"/>
              <a:gd name="T51" fmla="*/ 335 h 564"/>
              <a:gd name="T52" fmla="*/ 542 w 1210"/>
              <a:gd name="T53" fmla="*/ 279 h 564"/>
              <a:gd name="T54" fmla="*/ 562 w 1210"/>
              <a:gd name="T55" fmla="*/ 219 h 564"/>
              <a:gd name="T56" fmla="*/ 583 w 1210"/>
              <a:gd name="T57" fmla="*/ 160 h 564"/>
              <a:gd name="T58" fmla="*/ 603 w 1210"/>
              <a:gd name="T59" fmla="*/ 104 h 564"/>
              <a:gd name="T60" fmla="*/ 623 w 1210"/>
              <a:gd name="T61" fmla="*/ 58 h 564"/>
              <a:gd name="T62" fmla="*/ 643 w 1210"/>
              <a:gd name="T63" fmla="*/ 23 h 564"/>
              <a:gd name="T64" fmla="*/ 663 w 1210"/>
              <a:gd name="T65" fmla="*/ 4 h 564"/>
              <a:gd name="T66" fmla="*/ 684 w 1210"/>
              <a:gd name="T67" fmla="*/ 2 h 564"/>
              <a:gd name="T68" fmla="*/ 704 w 1210"/>
              <a:gd name="T69" fmla="*/ 17 h 564"/>
              <a:gd name="T70" fmla="*/ 724 w 1210"/>
              <a:gd name="T71" fmla="*/ 47 h 564"/>
              <a:gd name="T72" fmla="*/ 744 w 1210"/>
              <a:gd name="T73" fmla="*/ 91 h 564"/>
              <a:gd name="T74" fmla="*/ 765 w 1210"/>
              <a:gd name="T75" fmla="*/ 144 h 564"/>
              <a:gd name="T76" fmla="*/ 785 w 1210"/>
              <a:gd name="T77" fmla="*/ 203 h 564"/>
              <a:gd name="T78" fmla="*/ 805 w 1210"/>
              <a:gd name="T79" fmla="*/ 263 h 564"/>
              <a:gd name="T80" fmla="*/ 825 w 1210"/>
              <a:gd name="T81" fmla="*/ 321 h 564"/>
              <a:gd name="T82" fmla="*/ 845 w 1210"/>
              <a:gd name="T83" fmla="*/ 373 h 564"/>
              <a:gd name="T84" fmla="*/ 866 w 1210"/>
              <a:gd name="T85" fmla="*/ 419 h 564"/>
              <a:gd name="T86" fmla="*/ 886 w 1210"/>
              <a:gd name="T87" fmla="*/ 457 h 564"/>
              <a:gd name="T88" fmla="*/ 906 w 1210"/>
              <a:gd name="T89" fmla="*/ 488 h 564"/>
              <a:gd name="T90" fmla="*/ 926 w 1210"/>
              <a:gd name="T91" fmla="*/ 511 h 564"/>
              <a:gd name="T92" fmla="*/ 947 w 1210"/>
              <a:gd name="T93" fmla="*/ 529 h 564"/>
              <a:gd name="T94" fmla="*/ 967 w 1210"/>
              <a:gd name="T95" fmla="*/ 541 h 564"/>
              <a:gd name="T96" fmla="*/ 987 w 1210"/>
              <a:gd name="T97" fmla="*/ 550 h 564"/>
              <a:gd name="T98" fmla="*/ 1007 w 1210"/>
              <a:gd name="T99" fmla="*/ 555 h 564"/>
              <a:gd name="T100" fmla="*/ 1027 w 1210"/>
              <a:gd name="T101" fmla="*/ 559 h 564"/>
              <a:gd name="T102" fmla="*/ 1048 w 1210"/>
              <a:gd name="T103" fmla="*/ 561 h 564"/>
              <a:gd name="T104" fmla="*/ 1068 w 1210"/>
              <a:gd name="T105" fmla="*/ 563 h 564"/>
              <a:gd name="T106" fmla="*/ 1088 w 1210"/>
              <a:gd name="T107" fmla="*/ 563 h 564"/>
              <a:gd name="T108" fmla="*/ 1108 w 1210"/>
              <a:gd name="T109" fmla="*/ 564 h 564"/>
              <a:gd name="T110" fmla="*/ 1129 w 1210"/>
              <a:gd name="T111" fmla="*/ 564 h 564"/>
              <a:gd name="T112" fmla="*/ 1149 w 1210"/>
              <a:gd name="T113" fmla="*/ 564 h 564"/>
              <a:gd name="T114" fmla="*/ 1169 w 1210"/>
              <a:gd name="T115" fmla="*/ 564 h 564"/>
              <a:gd name="T116" fmla="*/ 1189 w 1210"/>
              <a:gd name="T117" fmla="*/ 564 h 564"/>
              <a:gd name="T118" fmla="*/ 1210 w 1210"/>
              <a:gd name="T119" fmla="*/ 564 h 5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210" h="564">
                <a:moveTo>
                  <a:pt x="0" y="564"/>
                </a:moveTo>
                <a:lnTo>
                  <a:pt x="4" y="564"/>
                </a:lnTo>
                <a:lnTo>
                  <a:pt x="8" y="564"/>
                </a:lnTo>
                <a:lnTo>
                  <a:pt x="12" y="564"/>
                </a:lnTo>
                <a:lnTo>
                  <a:pt x="16" y="564"/>
                </a:lnTo>
                <a:lnTo>
                  <a:pt x="20" y="564"/>
                </a:lnTo>
                <a:lnTo>
                  <a:pt x="24" y="564"/>
                </a:lnTo>
                <a:lnTo>
                  <a:pt x="28" y="564"/>
                </a:lnTo>
                <a:lnTo>
                  <a:pt x="32" y="564"/>
                </a:lnTo>
                <a:lnTo>
                  <a:pt x="36" y="564"/>
                </a:lnTo>
                <a:lnTo>
                  <a:pt x="41" y="564"/>
                </a:lnTo>
                <a:lnTo>
                  <a:pt x="45" y="564"/>
                </a:lnTo>
                <a:lnTo>
                  <a:pt x="49" y="564"/>
                </a:lnTo>
                <a:lnTo>
                  <a:pt x="53" y="564"/>
                </a:lnTo>
                <a:lnTo>
                  <a:pt x="57" y="564"/>
                </a:lnTo>
                <a:lnTo>
                  <a:pt x="61" y="564"/>
                </a:lnTo>
                <a:lnTo>
                  <a:pt x="65" y="564"/>
                </a:lnTo>
                <a:lnTo>
                  <a:pt x="69" y="564"/>
                </a:lnTo>
                <a:lnTo>
                  <a:pt x="73" y="564"/>
                </a:lnTo>
                <a:lnTo>
                  <a:pt x="77" y="564"/>
                </a:lnTo>
                <a:lnTo>
                  <a:pt x="81" y="564"/>
                </a:lnTo>
                <a:lnTo>
                  <a:pt x="85" y="564"/>
                </a:lnTo>
                <a:lnTo>
                  <a:pt x="89" y="564"/>
                </a:lnTo>
                <a:lnTo>
                  <a:pt x="93" y="564"/>
                </a:lnTo>
                <a:lnTo>
                  <a:pt x="97" y="564"/>
                </a:lnTo>
                <a:lnTo>
                  <a:pt x="101" y="564"/>
                </a:lnTo>
                <a:lnTo>
                  <a:pt x="105" y="564"/>
                </a:lnTo>
                <a:lnTo>
                  <a:pt x="109" y="564"/>
                </a:lnTo>
                <a:lnTo>
                  <a:pt x="113" y="564"/>
                </a:lnTo>
                <a:lnTo>
                  <a:pt x="117" y="564"/>
                </a:lnTo>
                <a:lnTo>
                  <a:pt x="121" y="564"/>
                </a:lnTo>
                <a:lnTo>
                  <a:pt x="125" y="564"/>
                </a:lnTo>
                <a:lnTo>
                  <a:pt x="130" y="564"/>
                </a:lnTo>
                <a:lnTo>
                  <a:pt x="134" y="564"/>
                </a:lnTo>
                <a:lnTo>
                  <a:pt x="138" y="564"/>
                </a:lnTo>
                <a:lnTo>
                  <a:pt x="142" y="564"/>
                </a:lnTo>
                <a:lnTo>
                  <a:pt x="146" y="564"/>
                </a:lnTo>
                <a:lnTo>
                  <a:pt x="150" y="564"/>
                </a:lnTo>
                <a:lnTo>
                  <a:pt x="154" y="564"/>
                </a:lnTo>
                <a:lnTo>
                  <a:pt x="158" y="564"/>
                </a:lnTo>
                <a:lnTo>
                  <a:pt x="162" y="564"/>
                </a:lnTo>
                <a:lnTo>
                  <a:pt x="166" y="564"/>
                </a:lnTo>
                <a:lnTo>
                  <a:pt x="170" y="564"/>
                </a:lnTo>
                <a:lnTo>
                  <a:pt x="174" y="564"/>
                </a:lnTo>
                <a:lnTo>
                  <a:pt x="178" y="564"/>
                </a:lnTo>
                <a:lnTo>
                  <a:pt x="182" y="564"/>
                </a:lnTo>
                <a:lnTo>
                  <a:pt x="186" y="564"/>
                </a:lnTo>
                <a:lnTo>
                  <a:pt x="190" y="564"/>
                </a:lnTo>
                <a:lnTo>
                  <a:pt x="194" y="564"/>
                </a:lnTo>
                <a:lnTo>
                  <a:pt x="198" y="564"/>
                </a:lnTo>
                <a:lnTo>
                  <a:pt x="202" y="564"/>
                </a:lnTo>
                <a:lnTo>
                  <a:pt x="206" y="564"/>
                </a:lnTo>
                <a:lnTo>
                  <a:pt x="210" y="564"/>
                </a:lnTo>
                <a:lnTo>
                  <a:pt x="214" y="564"/>
                </a:lnTo>
                <a:lnTo>
                  <a:pt x="219" y="564"/>
                </a:lnTo>
                <a:lnTo>
                  <a:pt x="223" y="564"/>
                </a:lnTo>
                <a:lnTo>
                  <a:pt x="227" y="564"/>
                </a:lnTo>
                <a:lnTo>
                  <a:pt x="231" y="564"/>
                </a:lnTo>
                <a:lnTo>
                  <a:pt x="235" y="564"/>
                </a:lnTo>
                <a:lnTo>
                  <a:pt x="239" y="564"/>
                </a:lnTo>
                <a:lnTo>
                  <a:pt x="243" y="564"/>
                </a:lnTo>
                <a:lnTo>
                  <a:pt x="247" y="564"/>
                </a:lnTo>
                <a:lnTo>
                  <a:pt x="251" y="564"/>
                </a:lnTo>
                <a:lnTo>
                  <a:pt x="255" y="564"/>
                </a:lnTo>
                <a:lnTo>
                  <a:pt x="259" y="564"/>
                </a:lnTo>
                <a:lnTo>
                  <a:pt x="263" y="563"/>
                </a:lnTo>
                <a:lnTo>
                  <a:pt x="267" y="563"/>
                </a:lnTo>
                <a:lnTo>
                  <a:pt x="271" y="563"/>
                </a:lnTo>
                <a:lnTo>
                  <a:pt x="275" y="563"/>
                </a:lnTo>
                <a:lnTo>
                  <a:pt x="279" y="563"/>
                </a:lnTo>
                <a:lnTo>
                  <a:pt x="283" y="563"/>
                </a:lnTo>
                <a:lnTo>
                  <a:pt x="287" y="563"/>
                </a:lnTo>
                <a:lnTo>
                  <a:pt x="291" y="562"/>
                </a:lnTo>
                <a:lnTo>
                  <a:pt x="295" y="562"/>
                </a:lnTo>
                <a:lnTo>
                  <a:pt x="299" y="562"/>
                </a:lnTo>
                <a:lnTo>
                  <a:pt x="303" y="561"/>
                </a:lnTo>
                <a:lnTo>
                  <a:pt x="307" y="561"/>
                </a:lnTo>
                <a:lnTo>
                  <a:pt x="312" y="561"/>
                </a:lnTo>
                <a:lnTo>
                  <a:pt x="316" y="560"/>
                </a:lnTo>
                <a:lnTo>
                  <a:pt x="320" y="560"/>
                </a:lnTo>
                <a:lnTo>
                  <a:pt x="324" y="559"/>
                </a:lnTo>
                <a:lnTo>
                  <a:pt x="328" y="559"/>
                </a:lnTo>
                <a:lnTo>
                  <a:pt x="332" y="558"/>
                </a:lnTo>
                <a:lnTo>
                  <a:pt x="336" y="557"/>
                </a:lnTo>
                <a:lnTo>
                  <a:pt x="340" y="557"/>
                </a:lnTo>
                <a:lnTo>
                  <a:pt x="344" y="556"/>
                </a:lnTo>
                <a:lnTo>
                  <a:pt x="348" y="555"/>
                </a:lnTo>
                <a:lnTo>
                  <a:pt x="352" y="554"/>
                </a:lnTo>
                <a:lnTo>
                  <a:pt x="356" y="553"/>
                </a:lnTo>
                <a:lnTo>
                  <a:pt x="360" y="551"/>
                </a:lnTo>
                <a:lnTo>
                  <a:pt x="364" y="550"/>
                </a:lnTo>
                <a:lnTo>
                  <a:pt x="368" y="549"/>
                </a:lnTo>
                <a:lnTo>
                  <a:pt x="372" y="547"/>
                </a:lnTo>
                <a:lnTo>
                  <a:pt x="376" y="546"/>
                </a:lnTo>
                <a:lnTo>
                  <a:pt x="380" y="544"/>
                </a:lnTo>
                <a:lnTo>
                  <a:pt x="384" y="542"/>
                </a:lnTo>
                <a:lnTo>
                  <a:pt x="388" y="540"/>
                </a:lnTo>
                <a:lnTo>
                  <a:pt x="392" y="537"/>
                </a:lnTo>
                <a:lnTo>
                  <a:pt x="396" y="535"/>
                </a:lnTo>
                <a:lnTo>
                  <a:pt x="401" y="532"/>
                </a:lnTo>
                <a:lnTo>
                  <a:pt x="405" y="530"/>
                </a:lnTo>
                <a:lnTo>
                  <a:pt x="409" y="527"/>
                </a:lnTo>
                <a:lnTo>
                  <a:pt x="413" y="524"/>
                </a:lnTo>
                <a:lnTo>
                  <a:pt x="417" y="520"/>
                </a:lnTo>
                <a:lnTo>
                  <a:pt x="421" y="516"/>
                </a:lnTo>
                <a:lnTo>
                  <a:pt x="425" y="513"/>
                </a:lnTo>
                <a:lnTo>
                  <a:pt x="429" y="509"/>
                </a:lnTo>
                <a:lnTo>
                  <a:pt x="433" y="504"/>
                </a:lnTo>
                <a:lnTo>
                  <a:pt x="437" y="500"/>
                </a:lnTo>
                <a:lnTo>
                  <a:pt x="441" y="495"/>
                </a:lnTo>
                <a:lnTo>
                  <a:pt x="445" y="490"/>
                </a:lnTo>
                <a:lnTo>
                  <a:pt x="449" y="484"/>
                </a:lnTo>
                <a:lnTo>
                  <a:pt x="453" y="478"/>
                </a:lnTo>
                <a:lnTo>
                  <a:pt x="457" y="472"/>
                </a:lnTo>
                <a:lnTo>
                  <a:pt x="461" y="466"/>
                </a:lnTo>
                <a:lnTo>
                  <a:pt x="465" y="459"/>
                </a:lnTo>
                <a:lnTo>
                  <a:pt x="469" y="453"/>
                </a:lnTo>
                <a:lnTo>
                  <a:pt x="473" y="445"/>
                </a:lnTo>
                <a:lnTo>
                  <a:pt x="477" y="438"/>
                </a:lnTo>
                <a:lnTo>
                  <a:pt x="481" y="430"/>
                </a:lnTo>
                <a:lnTo>
                  <a:pt x="485" y="422"/>
                </a:lnTo>
                <a:lnTo>
                  <a:pt x="490" y="413"/>
                </a:lnTo>
                <a:lnTo>
                  <a:pt x="494" y="404"/>
                </a:lnTo>
                <a:lnTo>
                  <a:pt x="498" y="395"/>
                </a:lnTo>
                <a:lnTo>
                  <a:pt x="502" y="386"/>
                </a:lnTo>
                <a:lnTo>
                  <a:pt x="506" y="376"/>
                </a:lnTo>
                <a:lnTo>
                  <a:pt x="510" y="366"/>
                </a:lnTo>
                <a:lnTo>
                  <a:pt x="514" y="356"/>
                </a:lnTo>
                <a:lnTo>
                  <a:pt x="518" y="346"/>
                </a:lnTo>
                <a:lnTo>
                  <a:pt x="522" y="335"/>
                </a:lnTo>
                <a:lnTo>
                  <a:pt x="526" y="324"/>
                </a:lnTo>
                <a:lnTo>
                  <a:pt x="530" y="313"/>
                </a:lnTo>
                <a:lnTo>
                  <a:pt x="534" y="302"/>
                </a:lnTo>
                <a:lnTo>
                  <a:pt x="538" y="290"/>
                </a:lnTo>
                <a:lnTo>
                  <a:pt x="542" y="279"/>
                </a:lnTo>
                <a:lnTo>
                  <a:pt x="546" y="267"/>
                </a:lnTo>
                <a:lnTo>
                  <a:pt x="550" y="255"/>
                </a:lnTo>
                <a:lnTo>
                  <a:pt x="554" y="243"/>
                </a:lnTo>
                <a:lnTo>
                  <a:pt x="558" y="231"/>
                </a:lnTo>
                <a:lnTo>
                  <a:pt x="562" y="219"/>
                </a:lnTo>
                <a:lnTo>
                  <a:pt x="566" y="207"/>
                </a:lnTo>
                <a:lnTo>
                  <a:pt x="570" y="195"/>
                </a:lnTo>
                <a:lnTo>
                  <a:pt x="574" y="183"/>
                </a:lnTo>
                <a:lnTo>
                  <a:pt x="579" y="171"/>
                </a:lnTo>
                <a:lnTo>
                  <a:pt x="583" y="160"/>
                </a:lnTo>
                <a:lnTo>
                  <a:pt x="587" y="148"/>
                </a:lnTo>
                <a:lnTo>
                  <a:pt x="591" y="137"/>
                </a:lnTo>
                <a:lnTo>
                  <a:pt x="595" y="126"/>
                </a:lnTo>
                <a:lnTo>
                  <a:pt x="599" y="115"/>
                </a:lnTo>
                <a:lnTo>
                  <a:pt x="603" y="104"/>
                </a:lnTo>
                <a:lnTo>
                  <a:pt x="607" y="94"/>
                </a:lnTo>
                <a:lnTo>
                  <a:pt x="611" y="84"/>
                </a:lnTo>
                <a:lnTo>
                  <a:pt x="615" y="75"/>
                </a:lnTo>
                <a:lnTo>
                  <a:pt x="619" y="66"/>
                </a:lnTo>
                <a:lnTo>
                  <a:pt x="623" y="58"/>
                </a:lnTo>
                <a:lnTo>
                  <a:pt x="627" y="50"/>
                </a:lnTo>
                <a:lnTo>
                  <a:pt x="631" y="42"/>
                </a:lnTo>
                <a:lnTo>
                  <a:pt x="635" y="35"/>
                </a:lnTo>
                <a:lnTo>
                  <a:pt x="639" y="29"/>
                </a:lnTo>
                <a:lnTo>
                  <a:pt x="643" y="23"/>
                </a:lnTo>
                <a:lnTo>
                  <a:pt x="647" y="18"/>
                </a:lnTo>
                <a:lnTo>
                  <a:pt x="651" y="14"/>
                </a:lnTo>
                <a:lnTo>
                  <a:pt x="655" y="10"/>
                </a:lnTo>
                <a:lnTo>
                  <a:pt x="659" y="6"/>
                </a:lnTo>
                <a:lnTo>
                  <a:pt x="663" y="4"/>
                </a:lnTo>
                <a:lnTo>
                  <a:pt x="667" y="2"/>
                </a:lnTo>
                <a:lnTo>
                  <a:pt x="672" y="1"/>
                </a:lnTo>
                <a:lnTo>
                  <a:pt x="676" y="0"/>
                </a:lnTo>
                <a:lnTo>
                  <a:pt x="680" y="1"/>
                </a:lnTo>
                <a:lnTo>
                  <a:pt x="684" y="2"/>
                </a:lnTo>
                <a:lnTo>
                  <a:pt x="688" y="3"/>
                </a:lnTo>
                <a:lnTo>
                  <a:pt x="692" y="6"/>
                </a:lnTo>
                <a:lnTo>
                  <a:pt x="696" y="9"/>
                </a:lnTo>
                <a:lnTo>
                  <a:pt x="700" y="12"/>
                </a:lnTo>
                <a:lnTo>
                  <a:pt x="704" y="17"/>
                </a:lnTo>
                <a:lnTo>
                  <a:pt x="708" y="21"/>
                </a:lnTo>
                <a:lnTo>
                  <a:pt x="712" y="27"/>
                </a:lnTo>
                <a:lnTo>
                  <a:pt x="716" y="33"/>
                </a:lnTo>
                <a:lnTo>
                  <a:pt x="720" y="40"/>
                </a:lnTo>
                <a:lnTo>
                  <a:pt x="724" y="47"/>
                </a:lnTo>
                <a:lnTo>
                  <a:pt x="728" y="55"/>
                </a:lnTo>
                <a:lnTo>
                  <a:pt x="732" y="63"/>
                </a:lnTo>
                <a:lnTo>
                  <a:pt x="736" y="72"/>
                </a:lnTo>
                <a:lnTo>
                  <a:pt x="740" y="82"/>
                </a:lnTo>
                <a:lnTo>
                  <a:pt x="744" y="91"/>
                </a:lnTo>
                <a:lnTo>
                  <a:pt x="748" y="101"/>
                </a:lnTo>
                <a:lnTo>
                  <a:pt x="752" y="112"/>
                </a:lnTo>
                <a:lnTo>
                  <a:pt x="756" y="122"/>
                </a:lnTo>
                <a:lnTo>
                  <a:pt x="761" y="133"/>
                </a:lnTo>
                <a:lnTo>
                  <a:pt x="765" y="144"/>
                </a:lnTo>
                <a:lnTo>
                  <a:pt x="769" y="156"/>
                </a:lnTo>
                <a:lnTo>
                  <a:pt x="773" y="168"/>
                </a:lnTo>
                <a:lnTo>
                  <a:pt x="777" y="179"/>
                </a:lnTo>
                <a:lnTo>
                  <a:pt x="781" y="191"/>
                </a:lnTo>
                <a:lnTo>
                  <a:pt x="785" y="203"/>
                </a:lnTo>
                <a:lnTo>
                  <a:pt x="789" y="215"/>
                </a:lnTo>
                <a:lnTo>
                  <a:pt x="793" y="227"/>
                </a:lnTo>
                <a:lnTo>
                  <a:pt x="797" y="239"/>
                </a:lnTo>
                <a:lnTo>
                  <a:pt x="801" y="251"/>
                </a:lnTo>
                <a:lnTo>
                  <a:pt x="805" y="263"/>
                </a:lnTo>
                <a:lnTo>
                  <a:pt x="809" y="275"/>
                </a:lnTo>
                <a:lnTo>
                  <a:pt x="813" y="287"/>
                </a:lnTo>
                <a:lnTo>
                  <a:pt x="817" y="298"/>
                </a:lnTo>
                <a:lnTo>
                  <a:pt x="821" y="309"/>
                </a:lnTo>
                <a:lnTo>
                  <a:pt x="825" y="321"/>
                </a:lnTo>
                <a:lnTo>
                  <a:pt x="829" y="332"/>
                </a:lnTo>
                <a:lnTo>
                  <a:pt x="833" y="342"/>
                </a:lnTo>
                <a:lnTo>
                  <a:pt x="837" y="353"/>
                </a:lnTo>
                <a:lnTo>
                  <a:pt x="841" y="363"/>
                </a:lnTo>
                <a:lnTo>
                  <a:pt x="845" y="373"/>
                </a:lnTo>
                <a:lnTo>
                  <a:pt x="850" y="383"/>
                </a:lnTo>
                <a:lnTo>
                  <a:pt x="854" y="392"/>
                </a:lnTo>
                <a:lnTo>
                  <a:pt x="858" y="402"/>
                </a:lnTo>
                <a:lnTo>
                  <a:pt x="862" y="411"/>
                </a:lnTo>
                <a:lnTo>
                  <a:pt x="866" y="419"/>
                </a:lnTo>
                <a:lnTo>
                  <a:pt x="870" y="427"/>
                </a:lnTo>
                <a:lnTo>
                  <a:pt x="874" y="435"/>
                </a:lnTo>
                <a:lnTo>
                  <a:pt x="878" y="443"/>
                </a:lnTo>
                <a:lnTo>
                  <a:pt x="882" y="450"/>
                </a:lnTo>
                <a:lnTo>
                  <a:pt x="886" y="457"/>
                </a:lnTo>
                <a:lnTo>
                  <a:pt x="890" y="464"/>
                </a:lnTo>
                <a:lnTo>
                  <a:pt x="894" y="470"/>
                </a:lnTo>
                <a:lnTo>
                  <a:pt x="898" y="477"/>
                </a:lnTo>
                <a:lnTo>
                  <a:pt x="902" y="482"/>
                </a:lnTo>
                <a:lnTo>
                  <a:pt x="906" y="488"/>
                </a:lnTo>
                <a:lnTo>
                  <a:pt x="910" y="493"/>
                </a:lnTo>
                <a:lnTo>
                  <a:pt x="914" y="498"/>
                </a:lnTo>
                <a:lnTo>
                  <a:pt x="918" y="503"/>
                </a:lnTo>
                <a:lnTo>
                  <a:pt x="922" y="507"/>
                </a:lnTo>
                <a:lnTo>
                  <a:pt x="926" y="511"/>
                </a:lnTo>
                <a:lnTo>
                  <a:pt x="930" y="515"/>
                </a:lnTo>
                <a:lnTo>
                  <a:pt x="934" y="519"/>
                </a:lnTo>
                <a:lnTo>
                  <a:pt x="938" y="522"/>
                </a:lnTo>
                <a:lnTo>
                  <a:pt x="943" y="526"/>
                </a:lnTo>
                <a:lnTo>
                  <a:pt x="947" y="529"/>
                </a:lnTo>
                <a:lnTo>
                  <a:pt x="951" y="532"/>
                </a:lnTo>
                <a:lnTo>
                  <a:pt x="955" y="534"/>
                </a:lnTo>
                <a:lnTo>
                  <a:pt x="959" y="537"/>
                </a:lnTo>
                <a:lnTo>
                  <a:pt x="963" y="539"/>
                </a:lnTo>
                <a:lnTo>
                  <a:pt x="967" y="541"/>
                </a:lnTo>
                <a:lnTo>
                  <a:pt x="971" y="543"/>
                </a:lnTo>
                <a:lnTo>
                  <a:pt x="975" y="545"/>
                </a:lnTo>
                <a:lnTo>
                  <a:pt x="979" y="547"/>
                </a:lnTo>
                <a:lnTo>
                  <a:pt x="983" y="548"/>
                </a:lnTo>
                <a:lnTo>
                  <a:pt x="987" y="550"/>
                </a:lnTo>
                <a:lnTo>
                  <a:pt x="991" y="551"/>
                </a:lnTo>
                <a:lnTo>
                  <a:pt x="995" y="552"/>
                </a:lnTo>
                <a:lnTo>
                  <a:pt x="999" y="553"/>
                </a:lnTo>
                <a:lnTo>
                  <a:pt x="1003" y="554"/>
                </a:lnTo>
                <a:lnTo>
                  <a:pt x="1007" y="555"/>
                </a:lnTo>
                <a:lnTo>
                  <a:pt x="1011" y="556"/>
                </a:lnTo>
                <a:lnTo>
                  <a:pt x="1015" y="557"/>
                </a:lnTo>
                <a:lnTo>
                  <a:pt x="1019" y="558"/>
                </a:lnTo>
                <a:lnTo>
                  <a:pt x="1023" y="558"/>
                </a:lnTo>
                <a:lnTo>
                  <a:pt x="1027" y="559"/>
                </a:lnTo>
                <a:lnTo>
                  <a:pt x="1032" y="560"/>
                </a:lnTo>
                <a:lnTo>
                  <a:pt x="1036" y="560"/>
                </a:lnTo>
                <a:lnTo>
                  <a:pt x="1040" y="561"/>
                </a:lnTo>
                <a:lnTo>
                  <a:pt x="1044" y="561"/>
                </a:lnTo>
                <a:lnTo>
                  <a:pt x="1048" y="561"/>
                </a:lnTo>
                <a:lnTo>
                  <a:pt x="1052" y="562"/>
                </a:lnTo>
                <a:lnTo>
                  <a:pt x="1056" y="562"/>
                </a:lnTo>
                <a:lnTo>
                  <a:pt x="1060" y="562"/>
                </a:lnTo>
                <a:lnTo>
                  <a:pt x="1064" y="562"/>
                </a:lnTo>
                <a:lnTo>
                  <a:pt x="1068" y="563"/>
                </a:lnTo>
                <a:lnTo>
                  <a:pt x="1072" y="563"/>
                </a:lnTo>
                <a:lnTo>
                  <a:pt x="1076" y="563"/>
                </a:lnTo>
                <a:lnTo>
                  <a:pt x="1080" y="563"/>
                </a:lnTo>
                <a:lnTo>
                  <a:pt x="1084" y="563"/>
                </a:lnTo>
                <a:lnTo>
                  <a:pt x="1088" y="563"/>
                </a:lnTo>
                <a:lnTo>
                  <a:pt x="1092" y="564"/>
                </a:lnTo>
                <a:lnTo>
                  <a:pt x="1096" y="564"/>
                </a:lnTo>
                <a:lnTo>
                  <a:pt x="1100" y="564"/>
                </a:lnTo>
                <a:lnTo>
                  <a:pt x="1104" y="564"/>
                </a:lnTo>
                <a:lnTo>
                  <a:pt x="1108" y="564"/>
                </a:lnTo>
                <a:lnTo>
                  <a:pt x="1112" y="564"/>
                </a:lnTo>
                <a:lnTo>
                  <a:pt x="1116" y="564"/>
                </a:lnTo>
                <a:lnTo>
                  <a:pt x="1121" y="564"/>
                </a:lnTo>
                <a:lnTo>
                  <a:pt x="1125" y="564"/>
                </a:lnTo>
                <a:lnTo>
                  <a:pt x="1129" y="564"/>
                </a:lnTo>
                <a:lnTo>
                  <a:pt x="1133" y="564"/>
                </a:lnTo>
                <a:lnTo>
                  <a:pt x="1137" y="564"/>
                </a:lnTo>
                <a:lnTo>
                  <a:pt x="1141" y="564"/>
                </a:lnTo>
                <a:lnTo>
                  <a:pt x="1145" y="564"/>
                </a:lnTo>
                <a:lnTo>
                  <a:pt x="1149" y="564"/>
                </a:lnTo>
                <a:lnTo>
                  <a:pt x="1153" y="564"/>
                </a:lnTo>
                <a:lnTo>
                  <a:pt x="1157" y="564"/>
                </a:lnTo>
                <a:lnTo>
                  <a:pt x="1161" y="564"/>
                </a:lnTo>
                <a:lnTo>
                  <a:pt x="1165" y="564"/>
                </a:lnTo>
                <a:lnTo>
                  <a:pt x="1169" y="564"/>
                </a:lnTo>
                <a:lnTo>
                  <a:pt x="1173" y="564"/>
                </a:lnTo>
                <a:lnTo>
                  <a:pt x="1177" y="564"/>
                </a:lnTo>
                <a:lnTo>
                  <a:pt x="1181" y="564"/>
                </a:lnTo>
                <a:lnTo>
                  <a:pt x="1185" y="564"/>
                </a:lnTo>
                <a:lnTo>
                  <a:pt x="1189" y="564"/>
                </a:lnTo>
                <a:lnTo>
                  <a:pt x="1193" y="564"/>
                </a:lnTo>
                <a:lnTo>
                  <a:pt x="1197" y="564"/>
                </a:lnTo>
                <a:lnTo>
                  <a:pt x="1201" y="564"/>
                </a:lnTo>
                <a:lnTo>
                  <a:pt x="1205" y="564"/>
                </a:lnTo>
                <a:lnTo>
                  <a:pt x="1210" y="564"/>
                </a:lnTo>
              </a:path>
            </a:pathLst>
          </a:custGeom>
          <a:noFill/>
          <a:ln w="28575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70" name="Rectangle 64"/>
          <p:cNvSpPr>
            <a:spLocks noChangeArrowheads="1"/>
          </p:cNvSpPr>
          <p:nvPr/>
        </p:nvSpPr>
        <p:spPr bwMode="auto">
          <a:xfrm rot="16200000">
            <a:off x="5394344" y="2912615"/>
            <a:ext cx="690895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height (m)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2B078-EEE3-0C85-C718-581416B1D513}"/>
              </a:ext>
            </a:extLst>
          </p:cNvPr>
          <p:cNvSpPr/>
          <p:nvPr/>
        </p:nvSpPr>
        <p:spPr>
          <a:xfrm>
            <a:off x="457657" y="6137681"/>
            <a:ext cx="79280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Normal distribution is completely specified by the mean and standard deviation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0817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2227225" y="5965475"/>
            <a:ext cx="5669865" cy="715326"/>
            <a:chOff x="2227225" y="5965475"/>
            <a:chExt cx="5669865" cy="715326"/>
          </a:xfrm>
        </p:grpSpPr>
        <p:sp>
          <p:nvSpPr>
            <p:cNvPr id="6" name="Rectangle 5"/>
            <p:cNvSpPr/>
            <p:nvPr/>
          </p:nvSpPr>
          <p:spPr>
            <a:xfrm>
              <a:off x="2227225" y="6311469"/>
              <a:ext cx="566986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population mean </a:t>
              </a:r>
              <a:r>
                <a:rPr lang="en-US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(the center of the distribution)</a:t>
              </a:r>
              <a:endParaRPr lang="en-GB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413142" y="5965475"/>
              <a:ext cx="31771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µ</a:t>
              </a:r>
              <a:endParaRPr lang="en-GB" dirty="0"/>
            </a:p>
          </p:txBody>
        </p:sp>
      </p:grpSp>
      <p:sp>
        <p:nvSpPr>
          <p:cNvPr id="11" name="Rectangle 10"/>
          <p:cNvSpPr/>
          <p:nvPr/>
        </p:nvSpPr>
        <p:spPr>
          <a:xfrm>
            <a:off x="470747" y="2486837"/>
            <a:ext cx="275654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σ</a:t>
            </a: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the </a:t>
            </a:r>
            <a:r>
              <a:rPr lang="en-US" b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population standard deviation</a:t>
            </a: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(spread of distribution) </a:t>
            </a:r>
            <a:endParaRPr lang="en-GB" dirty="0"/>
          </a:p>
        </p:txBody>
      </p:sp>
      <p:grpSp>
        <p:nvGrpSpPr>
          <p:cNvPr id="17" name="Group 16"/>
          <p:cNvGrpSpPr/>
          <p:nvPr/>
        </p:nvGrpSpPr>
        <p:grpSpPr>
          <a:xfrm>
            <a:off x="-1285441" y="492908"/>
            <a:ext cx="10512565" cy="5356020"/>
            <a:chOff x="-1285441" y="492908"/>
            <a:chExt cx="10512565" cy="5356020"/>
          </a:xfrm>
        </p:grpSpPr>
        <p:sp>
          <p:nvSpPr>
            <p:cNvPr id="2" name="Rectangle 1"/>
            <p:cNvSpPr/>
            <p:nvPr/>
          </p:nvSpPr>
          <p:spPr>
            <a:xfrm>
              <a:off x="923365" y="492908"/>
              <a:ext cx="7745506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80340" marR="188595">
                <a:lnSpc>
                  <a:spcPct val="150000"/>
                </a:lnSpc>
                <a:spcAft>
                  <a:spcPts val="600"/>
                </a:spcAft>
              </a:pPr>
              <a:r>
                <a:rPr lang="en-US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The Normal distribution is described by parameters </a:t>
              </a:r>
              <a:r>
                <a:rPr lang="en-US" b="1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µ</a:t>
              </a:r>
              <a:r>
                <a:rPr lang="en-US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and </a:t>
              </a:r>
              <a:r>
                <a:rPr lang="en-US" b="1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σ</a:t>
              </a:r>
              <a:r>
                <a:rPr lang="en-US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, </a:t>
              </a:r>
              <a:r>
                <a:rPr lang="en-US" sz="1400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 </a:t>
              </a:r>
              <a:endParaRPr lang="en-GB" sz="5400" kern="1400" dirty="0">
                <a:solidFill>
                  <a:srgbClr val="2A7B88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Freeform 38"/>
            <p:cNvSpPr>
              <a:spLocks/>
            </p:cNvSpPr>
            <p:nvPr/>
          </p:nvSpPr>
          <p:spPr bwMode="auto">
            <a:xfrm>
              <a:off x="-1285441" y="1617368"/>
              <a:ext cx="10512565" cy="4194247"/>
            </a:xfrm>
            <a:custGeom>
              <a:avLst/>
              <a:gdLst>
                <a:gd name="T0" fmla="*/ 16 w 1210"/>
                <a:gd name="T1" fmla="*/ 564 h 564"/>
                <a:gd name="T2" fmla="*/ 36 w 1210"/>
                <a:gd name="T3" fmla="*/ 564 h 564"/>
                <a:gd name="T4" fmla="*/ 57 w 1210"/>
                <a:gd name="T5" fmla="*/ 564 h 564"/>
                <a:gd name="T6" fmla="*/ 77 w 1210"/>
                <a:gd name="T7" fmla="*/ 564 h 564"/>
                <a:gd name="T8" fmla="*/ 97 w 1210"/>
                <a:gd name="T9" fmla="*/ 564 h 564"/>
                <a:gd name="T10" fmla="*/ 117 w 1210"/>
                <a:gd name="T11" fmla="*/ 564 h 564"/>
                <a:gd name="T12" fmla="*/ 138 w 1210"/>
                <a:gd name="T13" fmla="*/ 564 h 564"/>
                <a:gd name="T14" fmla="*/ 158 w 1210"/>
                <a:gd name="T15" fmla="*/ 564 h 564"/>
                <a:gd name="T16" fmla="*/ 178 w 1210"/>
                <a:gd name="T17" fmla="*/ 564 h 564"/>
                <a:gd name="T18" fmla="*/ 198 w 1210"/>
                <a:gd name="T19" fmla="*/ 564 h 564"/>
                <a:gd name="T20" fmla="*/ 219 w 1210"/>
                <a:gd name="T21" fmla="*/ 564 h 564"/>
                <a:gd name="T22" fmla="*/ 239 w 1210"/>
                <a:gd name="T23" fmla="*/ 564 h 564"/>
                <a:gd name="T24" fmla="*/ 259 w 1210"/>
                <a:gd name="T25" fmla="*/ 564 h 564"/>
                <a:gd name="T26" fmla="*/ 279 w 1210"/>
                <a:gd name="T27" fmla="*/ 563 h 564"/>
                <a:gd name="T28" fmla="*/ 299 w 1210"/>
                <a:gd name="T29" fmla="*/ 562 h 564"/>
                <a:gd name="T30" fmla="*/ 320 w 1210"/>
                <a:gd name="T31" fmla="*/ 560 h 564"/>
                <a:gd name="T32" fmla="*/ 340 w 1210"/>
                <a:gd name="T33" fmla="*/ 557 h 564"/>
                <a:gd name="T34" fmla="*/ 360 w 1210"/>
                <a:gd name="T35" fmla="*/ 551 h 564"/>
                <a:gd name="T36" fmla="*/ 380 w 1210"/>
                <a:gd name="T37" fmla="*/ 544 h 564"/>
                <a:gd name="T38" fmla="*/ 401 w 1210"/>
                <a:gd name="T39" fmla="*/ 532 h 564"/>
                <a:gd name="T40" fmla="*/ 421 w 1210"/>
                <a:gd name="T41" fmla="*/ 516 h 564"/>
                <a:gd name="T42" fmla="*/ 441 w 1210"/>
                <a:gd name="T43" fmla="*/ 495 h 564"/>
                <a:gd name="T44" fmla="*/ 461 w 1210"/>
                <a:gd name="T45" fmla="*/ 466 h 564"/>
                <a:gd name="T46" fmla="*/ 481 w 1210"/>
                <a:gd name="T47" fmla="*/ 430 h 564"/>
                <a:gd name="T48" fmla="*/ 502 w 1210"/>
                <a:gd name="T49" fmla="*/ 386 h 564"/>
                <a:gd name="T50" fmla="*/ 522 w 1210"/>
                <a:gd name="T51" fmla="*/ 335 h 564"/>
                <a:gd name="T52" fmla="*/ 542 w 1210"/>
                <a:gd name="T53" fmla="*/ 279 h 564"/>
                <a:gd name="T54" fmla="*/ 562 w 1210"/>
                <a:gd name="T55" fmla="*/ 219 h 564"/>
                <a:gd name="T56" fmla="*/ 583 w 1210"/>
                <a:gd name="T57" fmla="*/ 160 h 564"/>
                <a:gd name="T58" fmla="*/ 603 w 1210"/>
                <a:gd name="T59" fmla="*/ 104 h 564"/>
                <a:gd name="T60" fmla="*/ 623 w 1210"/>
                <a:gd name="T61" fmla="*/ 58 h 564"/>
                <a:gd name="T62" fmla="*/ 643 w 1210"/>
                <a:gd name="T63" fmla="*/ 23 h 564"/>
                <a:gd name="T64" fmla="*/ 663 w 1210"/>
                <a:gd name="T65" fmla="*/ 4 h 564"/>
                <a:gd name="T66" fmla="*/ 684 w 1210"/>
                <a:gd name="T67" fmla="*/ 2 h 564"/>
                <a:gd name="T68" fmla="*/ 704 w 1210"/>
                <a:gd name="T69" fmla="*/ 17 h 564"/>
                <a:gd name="T70" fmla="*/ 724 w 1210"/>
                <a:gd name="T71" fmla="*/ 47 h 564"/>
                <a:gd name="T72" fmla="*/ 744 w 1210"/>
                <a:gd name="T73" fmla="*/ 91 h 564"/>
                <a:gd name="T74" fmla="*/ 765 w 1210"/>
                <a:gd name="T75" fmla="*/ 144 h 564"/>
                <a:gd name="T76" fmla="*/ 785 w 1210"/>
                <a:gd name="T77" fmla="*/ 203 h 564"/>
                <a:gd name="T78" fmla="*/ 805 w 1210"/>
                <a:gd name="T79" fmla="*/ 263 h 564"/>
                <a:gd name="T80" fmla="*/ 825 w 1210"/>
                <a:gd name="T81" fmla="*/ 321 h 564"/>
                <a:gd name="T82" fmla="*/ 845 w 1210"/>
                <a:gd name="T83" fmla="*/ 373 h 564"/>
                <a:gd name="T84" fmla="*/ 866 w 1210"/>
                <a:gd name="T85" fmla="*/ 419 h 564"/>
                <a:gd name="T86" fmla="*/ 886 w 1210"/>
                <a:gd name="T87" fmla="*/ 457 h 564"/>
                <a:gd name="T88" fmla="*/ 906 w 1210"/>
                <a:gd name="T89" fmla="*/ 488 h 564"/>
                <a:gd name="T90" fmla="*/ 926 w 1210"/>
                <a:gd name="T91" fmla="*/ 511 h 564"/>
                <a:gd name="T92" fmla="*/ 947 w 1210"/>
                <a:gd name="T93" fmla="*/ 529 h 564"/>
                <a:gd name="T94" fmla="*/ 967 w 1210"/>
                <a:gd name="T95" fmla="*/ 541 h 564"/>
                <a:gd name="T96" fmla="*/ 987 w 1210"/>
                <a:gd name="T97" fmla="*/ 550 h 564"/>
                <a:gd name="T98" fmla="*/ 1007 w 1210"/>
                <a:gd name="T99" fmla="*/ 555 h 564"/>
                <a:gd name="T100" fmla="*/ 1027 w 1210"/>
                <a:gd name="T101" fmla="*/ 559 h 564"/>
                <a:gd name="T102" fmla="*/ 1048 w 1210"/>
                <a:gd name="T103" fmla="*/ 561 h 564"/>
                <a:gd name="T104" fmla="*/ 1068 w 1210"/>
                <a:gd name="T105" fmla="*/ 563 h 564"/>
                <a:gd name="T106" fmla="*/ 1088 w 1210"/>
                <a:gd name="T107" fmla="*/ 563 h 564"/>
                <a:gd name="T108" fmla="*/ 1108 w 1210"/>
                <a:gd name="T109" fmla="*/ 564 h 564"/>
                <a:gd name="T110" fmla="*/ 1129 w 1210"/>
                <a:gd name="T111" fmla="*/ 564 h 564"/>
                <a:gd name="T112" fmla="*/ 1149 w 1210"/>
                <a:gd name="T113" fmla="*/ 564 h 564"/>
                <a:gd name="T114" fmla="*/ 1169 w 1210"/>
                <a:gd name="T115" fmla="*/ 564 h 564"/>
                <a:gd name="T116" fmla="*/ 1189 w 1210"/>
                <a:gd name="T117" fmla="*/ 564 h 564"/>
                <a:gd name="T118" fmla="*/ 1210 w 1210"/>
                <a:gd name="T119" fmla="*/ 564 h 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210" h="564">
                  <a:moveTo>
                    <a:pt x="0" y="564"/>
                  </a:moveTo>
                  <a:lnTo>
                    <a:pt x="4" y="564"/>
                  </a:lnTo>
                  <a:lnTo>
                    <a:pt x="8" y="564"/>
                  </a:lnTo>
                  <a:lnTo>
                    <a:pt x="12" y="564"/>
                  </a:lnTo>
                  <a:lnTo>
                    <a:pt x="16" y="564"/>
                  </a:lnTo>
                  <a:lnTo>
                    <a:pt x="20" y="564"/>
                  </a:lnTo>
                  <a:lnTo>
                    <a:pt x="24" y="564"/>
                  </a:lnTo>
                  <a:lnTo>
                    <a:pt x="28" y="564"/>
                  </a:lnTo>
                  <a:lnTo>
                    <a:pt x="32" y="564"/>
                  </a:lnTo>
                  <a:lnTo>
                    <a:pt x="36" y="564"/>
                  </a:lnTo>
                  <a:lnTo>
                    <a:pt x="41" y="564"/>
                  </a:lnTo>
                  <a:lnTo>
                    <a:pt x="45" y="564"/>
                  </a:lnTo>
                  <a:lnTo>
                    <a:pt x="49" y="564"/>
                  </a:lnTo>
                  <a:lnTo>
                    <a:pt x="53" y="564"/>
                  </a:lnTo>
                  <a:lnTo>
                    <a:pt x="57" y="564"/>
                  </a:lnTo>
                  <a:lnTo>
                    <a:pt x="61" y="564"/>
                  </a:lnTo>
                  <a:lnTo>
                    <a:pt x="65" y="564"/>
                  </a:lnTo>
                  <a:lnTo>
                    <a:pt x="69" y="564"/>
                  </a:lnTo>
                  <a:lnTo>
                    <a:pt x="73" y="564"/>
                  </a:lnTo>
                  <a:lnTo>
                    <a:pt x="77" y="564"/>
                  </a:lnTo>
                  <a:lnTo>
                    <a:pt x="81" y="564"/>
                  </a:lnTo>
                  <a:lnTo>
                    <a:pt x="85" y="564"/>
                  </a:lnTo>
                  <a:lnTo>
                    <a:pt x="89" y="564"/>
                  </a:lnTo>
                  <a:lnTo>
                    <a:pt x="93" y="564"/>
                  </a:lnTo>
                  <a:lnTo>
                    <a:pt x="97" y="564"/>
                  </a:lnTo>
                  <a:lnTo>
                    <a:pt x="101" y="564"/>
                  </a:lnTo>
                  <a:lnTo>
                    <a:pt x="105" y="564"/>
                  </a:lnTo>
                  <a:lnTo>
                    <a:pt x="109" y="564"/>
                  </a:lnTo>
                  <a:lnTo>
                    <a:pt x="113" y="564"/>
                  </a:lnTo>
                  <a:lnTo>
                    <a:pt x="117" y="564"/>
                  </a:lnTo>
                  <a:lnTo>
                    <a:pt x="121" y="564"/>
                  </a:lnTo>
                  <a:lnTo>
                    <a:pt x="125" y="564"/>
                  </a:lnTo>
                  <a:lnTo>
                    <a:pt x="130" y="564"/>
                  </a:lnTo>
                  <a:lnTo>
                    <a:pt x="134" y="564"/>
                  </a:lnTo>
                  <a:lnTo>
                    <a:pt x="138" y="564"/>
                  </a:lnTo>
                  <a:lnTo>
                    <a:pt x="142" y="564"/>
                  </a:lnTo>
                  <a:lnTo>
                    <a:pt x="146" y="564"/>
                  </a:lnTo>
                  <a:lnTo>
                    <a:pt x="150" y="564"/>
                  </a:lnTo>
                  <a:lnTo>
                    <a:pt x="154" y="564"/>
                  </a:lnTo>
                  <a:lnTo>
                    <a:pt x="158" y="564"/>
                  </a:lnTo>
                  <a:lnTo>
                    <a:pt x="162" y="564"/>
                  </a:lnTo>
                  <a:lnTo>
                    <a:pt x="166" y="564"/>
                  </a:lnTo>
                  <a:lnTo>
                    <a:pt x="170" y="564"/>
                  </a:lnTo>
                  <a:lnTo>
                    <a:pt x="174" y="564"/>
                  </a:lnTo>
                  <a:lnTo>
                    <a:pt x="178" y="564"/>
                  </a:lnTo>
                  <a:lnTo>
                    <a:pt x="182" y="564"/>
                  </a:lnTo>
                  <a:lnTo>
                    <a:pt x="186" y="564"/>
                  </a:lnTo>
                  <a:lnTo>
                    <a:pt x="190" y="564"/>
                  </a:lnTo>
                  <a:lnTo>
                    <a:pt x="194" y="564"/>
                  </a:lnTo>
                  <a:lnTo>
                    <a:pt x="198" y="564"/>
                  </a:lnTo>
                  <a:lnTo>
                    <a:pt x="202" y="564"/>
                  </a:lnTo>
                  <a:lnTo>
                    <a:pt x="206" y="564"/>
                  </a:lnTo>
                  <a:lnTo>
                    <a:pt x="210" y="564"/>
                  </a:lnTo>
                  <a:lnTo>
                    <a:pt x="214" y="564"/>
                  </a:lnTo>
                  <a:lnTo>
                    <a:pt x="219" y="564"/>
                  </a:lnTo>
                  <a:lnTo>
                    <a:pt x="223" y="564"/>
                  </a:lnTo>
                  <a:lnTo>
                    <a:pt x="227" y="564"/>
                  </a:lnTo>
                  <a:lnTo>
                    <a:pt x="231" y="564"/>
                  </a:lnTo>
                  <a:lnTo>
                    <a:pt x="235" y="564"/>
                  </a:lnTo>
                  <a:lnTo>
                    <a:pt x="239" y="564"/>
                  </a:lnTo>
                  <a:lnTo>
                    <a:pt x="243" y="564"/>
                  </a:lnTo>
                  <a:lnTo>
                    <a:pt x="247" y="564"/>
                  </a:lnTo>
                  <a:lnTo>
                    <a:pt x="251" y="564"/>
                  </a:lnTo>
                  <a:lnTo>
                    <a:pt x="255" y="564"/>
                  </a:lnTo>
                  <a:lnTo>
                    <a:pt x="259" y="564"/>
                  </a:lnTo>
                  <a:lnTo>
                    <a:pt x="263" y="563"/>
                  </a:lnTo>
                  <a:lnTo>
                    <a:pt x="267" y="563"/>
                  </a:lnTo>
                  <a:lnTo>
                    <a:pt x="271" y="563"/>
                  </a:lnTo>
                  <a:lnTo>
                    <a:pt x="275" y="563"/>
                  </a:lnTo>
                  <a:lnTo>
                    <a:pt x="279" y="563"/>
                  </a:lnTo>
                  <a:lnTo>
                    <a:pt x="283" y="563"/>
                  </a:lnTo>
                  <a:lnTo>
                    <a:pt x="287" y="563"/>
                  </a:lnTo>
                  <a:lnTo>
                    <a:pt x="291" y="562"/>
                  </a:lnTo>
                  <a:lnTo>
                    <a:pt x="295" y="562"/>
                  </a:lnTo>
                  <a:lnTo>
                    <a:pt x="299" y="562"/>
                  </a:lnTo>
                  <a:lnTo>
                    <a:pt x="303" y="561"/>
                  </a:lnTo>
                  <a:lnTo>
                    <a:pt x="307" y="561"/>
                  </a:lnTo>
                  <a:lnTo>
                    <a:pt x="312" y="561"/>
                  </a:lnTo>
                  <a:lnTo>
                    <a:pt x="316" y="560"/>
                  </a:lnTo>
                  <a:lnTo>
                    <a:pt x="320" y="560"/>
                  </a:lnTo>
                  <a:lnTo>
                    <a:pt x="324" y="559"/>
                  </a:lnTo>
                  <a:lnTo>
                    <a:pt x="328" y="559"/>
                  </a:lnTo>
                  <a:lnTo>
                    <a:pt x="332" y="558"/>
                  </a:lnTo>
                  <a:lnTo>
                    <a:pt x="336" y="557"/>
                  </a:lnTo>
                  <a:lnTo>
                    <a:pt x="340" y="557"/>
                  </a:lnTo>
                  <a:lnTo>
                    <a:pt x="344" y="556"/>
                  </a:lnTo>
                  <a:lnTo>
                    <a:pt x="348" y="555"/>
                  </a:lnTo>
                  <a:lnTo>
                    <a:pt x="352" y="554"/>
                  </a:lnTo>
                  <a:lnTo>
                    <a:pt x="356" y="553"/>
                  </a:lnTo>
                  <a:lnTo>
                    <a:pt x="360" y="551"/>
                  </a:lnTo>
                  <a:lnTo>
                    <a:pt x="364" y="550"/>
                  </a:lnTo>
                  <a:lnTo>
                    <a:pt x="368" y="549"/>
                  </a:lnTo>
                  <a:lnTo>
                    <a:pt x="372" y="547"/>
                  </a:lnTo>
                  <a:lnTo>
                    <a:pt x="376" y="546"/>
                  </a:lnTo>
                  <a:lnTo>
                    <a:pt x="380" y="544"/>
                  </a:lnTo>
                  <a:lnTo>
                    <a:pt x="384" y="542"/>
                  </a:lnTo>
                  <a:lnTo>
                    <a:pt x="388" y="540"/>
                  </a:lnTo>
                  <a:lnTo>
                    <a:pt x="392" y="537"/>
                  </a:lnTo>
                  <a:lnTo>
                    <a:pt x="396" y="535"/>
                  </a:lnTo>
                  <a:lnTo>
                    <a:pt x="401" y="532"/>
                  </a:lnTo>
                  <a:lnTo>
                    <a:pt x="405" y="530"/>
                  </a:lnTo>
                  <a:lnTo>
                    <a:pt x="409" y="527"/>
                  </a:lnTo>
                  <a:lnTo>
                    <a:pt x="413" y="524"/>
                  </a:lnTo>
                  <a:lnTo>
                    <a:pt x="417" y="520"/>
                  </a:lnTo>
                  <a:lnTo>
                    <a:pt x="421" y="516"/>
                  </a:lnTo>
                  <a:lnTo>
                    <a:pt x="425" y="513"/>
                  </a:lnTo>
                  <a:lnTo>
                    <a:pt x="429" y="509"/>
                  </a:lnTo>
                  <a:lnTo>
                    <a:pt x="433" y="504"/>
                  </a:lnTo>
                  <a:lnTo>
                    <a:pt x="437" y="500"/>
                  </a:lnTo>
                  <a:lnTo>
                    <a:pt x="441" y="495"/>
                  </a:lnTo>
                  <a:lnTo>
                    <a:pt x="445" y="490"/>
                  </a:lnTo>
                  <a:lnTo>
                    <a:pt x="449" y="484"/>
                  </a:lnTo>
                  <a:lnTo>
                    <a:pt x="453" y="478"/>
                  </a:lnTo>
                  <a:lnTo>
                    <a:pt x="457" y="472"/>
                  </a:lnTo>
                  <a:lnTo>
                    <a:pt x="461" y="466"/>
                  </a:lnTo>
                  <a:lnTo>
                    <a:pt x="465" y="459"/>
                  </a:lnTo>
                  <a:lnTo>
                    <a:pt x="469" y="453"/>
                  </a:lnTo>
                  <a:lnTo>
                    <a:pt x="473" y="445"/>
                  </a:lnTo>
                  <a:lnTo>
                    <a:pt x="477" y="438"/>
                  </a:lnTo>
                  <a:lnTo>
                    <a:pt x="481" y="430"/>
                  </a:lnTo>
                  <a:lnTo>
                    <a:pt x="485" y="422"/>
                  </a:lnTo>
                  <a:lnTo>
                    <a:pt x="490" y="413"/>
                  </a:lnTo>
                  <a:lnTo>
                    <a:pt x="494" y="404"/>
                  </a:lnTo>
                  <a:lnTo>
                    <a:pt x="498" y="395"/>
                  </a:lnTo>
                  <a:lnTo>
                    <a:pt x="502" y="386"/>
                  </a:lnTo>
                  <a:lnTo>
                    <a:pt x="506" y="376"/>
                  </a:lnTo>
                  <a:lnTo>
                    <a:pt x="510" y="366"/>
                  </a:lnTo>
                  <a:lnTo>
                    <a:pt x="514" y="356"/>
                  </a:lnTo>
                  <a:lnTo>
                    <a:pt x="518" y="346"/>
                  </a:lnTo>
                  <a:lnTo>
                    <a:pt x="522" y="335"/>
                  </a:lnTo>
                  <a:lnTo>
                    <a:pt x="526" y="324"/>
                  </a:lnTo>
                  <a:lnTo>
                    <a:pt x="530" y="313"/>
                  </a:lnTo>
                  <a:lnTo>
                    <a:pt x="534" y="302"/>
                  </a:lnTo>
                  <a:lnTo>
                    <a:pt x="538" y="290"/>
                  </a:lnTo>
                  <a:lnTo>
                    <a:pt x="542" y="279"/>
                  </a:lnTo>
                  <a:lnTo>
                    <a:pt x="546" y="267"/>
                  </a:lnTo>
                  <a:lnTo>
                    <a:pt x="550" y="255"/>
                  </a:lnTo>
                  <a:lnTo>
                    <a:pt x="554" y="243"/>
                  </a:lnTo>
                  <a:lnTo>
                    <a:pt x="558" y="231"/>
                  </a:lnTo>
                  <a:lnTo>
                    <a:pt x="562" y="219"/>
                  </a:lnTo>
                  <a:lnTo>
                    <a:pt x="566" y="207"/>
                  </a:lnTo>
                  <a:lnTo>
                    <a:pt x="570" y="195"/>
                  </a:lnTo>
                  <a:lnTo>
                    <a:pt x="574" y="183"/>
                  </a:lnTo>
                  <a:lnTo>
                    <a:pt x="579" y="171"/>
                  </a:lnTo>
                  <a:lnTo>
                    <a:pt x="583" y="160"/>
                  </a:lnTo>
                  <a:lnTo>
                    <a:pt x="587" y="148"/>
                  </a:lnTo>
                  <a:lnTo>
                    <a:pt x="591" y="137"/>
                  </a:lnTo>
                  <a:lnTo>
                    <a:pt x="595" y="126"/>
                  </a:lnTo>
                  <a:lnTo>
                    <a:pt x="599" y="115"/>
                  </a:lnTo>
                  <a:lnTo>
                    <a:pt x="603" y="104"/>
                  </a:lnTo>
                  <a:lnTo>
                    <a:pt x="607" y="94"/>
                  </a:lnTo>
                  <a:lnTo>
                    <a:pt x="611" y="84"/>
                  </a:lnTo>
                  <a:lnTo>
                    <a:pt x="615" y="75"/>
                  </a:lnTo>
                  <a:lnTo>
                    <a:pt x="619" y="66"/>
                  </a:lnTo>
                  <a:lnTo>
                    <a:pt x="623" y="58"/>
                  </a:lnTo>
                  <a:lnTo>
                    <a:pt x="627" y="50"/>
                  </a:lnTo>
                  <a:lnTo>
                    <a:pt x="631" y="42"/>
                  </a:lnTo>
                  <a:lnTo>
                    <a:pt x="635" y="35"/>
                  </a:lnTo>
                  <a:lnTo>
                    <a:pt x="639" y="29"/>
                  </a:lnTo>
                  <a:lnTo>
                    <a:pt x="643" y="23"/>
                  </a:lnTo>
                  <a:lnTo>
                    <a:pt x="647" y="18"/>
                  </a:lnTo>
                  <a:lnTo>
                    <a:pt x="651" y="14"/>
                  </a:lnTo>
                  <a:lnTo>
                    <a:pt x="655" y="10"/>
                  </a:lnTo>
                  <a:lnTo>
                    <a:pt x="659" y="6"/>
                  </a:lnTo>
                  <a:lnTo>
                    <a:pt x="663" y="4"/>
                  </a:lnTo>
                  <a:lnTo>
                    <a:pt x="667" y="2"/>
                  </a:lnTo>
                  <a:lnTo>
                    <a:pt x="672" y="1"/>
                  </a:lnTo>
                  <a:lnTo>
                    <a:pt x="676" y="0"/>
                  </a:lnTo>
                  <a:lnTo>
                    <a:pt x="680" y="1"/>
                  </a:lnTo>
                  <a:lnTo>
                    <a:pt x="684" y="2"/>
                  </a:lnTo>
                  <a:lnTo>
                    <a:pt x="688" y="3"/>
                  </a:lnTo>
                  <a:lnTo>
                    <a:pt x="692" y="6"/>
                  </a:lnTo>
                  <a:lnTo>
                    <a:pt x="696" y="9"/>
                  </a:lnTo>
                  <a:lnTo>
                    <a:pt x="700" y="12"/>
                  </a:lnTo>
                  <a:lnTo>
                    <a:pt x="704" y="17"/>
                  </a:lnTo>
                  <a:lnTo>
                    <a:pt x="708" y="21"/>
                  </a:lnTo>
                  <a:lnTo>
                    <a:pt x="712" y="27"/>
                  </a:lnTo>
                  <a:lnTo>
                    <a:pt x="716" y="33"/>
                  </a:lnTo>
                  <a:lnTo>
                    <a:pt x="720" y="40"/>
                  </a:lnTo>
                  <a:lnTo>
                    <a:pt x="724" y="47"/>
                  </a:lnTo>
                  <a:lnTo>
                    <a:pt x="728" y="55"/>
                  </a:lnTo>
                  <a:lnTo>
                    <a:pt x="732" y="63"/>
                  </a:lnTo>
                  <a:lnTo>
                    <a:pt x="736" y="72"/>
                  </a:lnTo>
                  <a:lnTo>
                    <a:pt x="740" y="82"/>
                  </a:lnTo>
                  <a:lnTo>
                    <a:pt x="744" y="91"/>
                  </a:lnTo>
                  <a:lnTo>
                    <a:pt x="748" y="101"/>
                  </a:lnTo>
                  <a:lnTo>
                    <a:pt x="752" y="112"/>
                  </a:lnTo>
                  <a:lnTo>
                    <a:pt x="756" y="122"/>
                  </a:lnTo>
                  <a:lnTo>
                    <a:pt x="761" y="133"/>
                  </a:lnTo>
                  <a:lnTo>
                    <a:pt x="765" y="144"/>
                  </a:lnTo>
                  <a:lnTo>
                    <a:pt x="769" y="156"/>
                  </a:lnTo>
                  <a:lnTo>
                    <a:pt x="773" y="168"/>
                  </a:lnTo>
                  <a:lnTo>
                    <a:pt x="777" y="179"/>
                  </a:lnTo>
                  <a:lnTo>
                    <a:pt x="781" y="191"/>
                  </a:lnTo>
                  <a:lnTo>
                    <a:pt x="785" y="203"/>
                  </a:lnTo>
                  <a:lnTo>
                    <a:pt x="789" y="215"/>
                  </a:lnTo>
                  <a:lnTo>
                    <a:pt x="793" y="227"/>
                  </a:lnTo>
                  <a:lnTo>
                    <a:pt x="797" y="239"/>
                  </a:lnTo>
                  <a:lnTo>
                    <a:pt x="801" y="251"/>
                  </a:lnTo>
                  <a:lnTo>
                    <a:pt x="805" y="263"/>
                  </a:lnTo>
                  <a:lnTo>
                    <a:pt x="809" y="275"/>
                  </a:lnTo>
                  <a:lnTo>
                    <a:pt x="813" y="287"/>
                  </a:lnTo>
                  <a:lnTo>
                    <a:pt x="817" y="298"/>
                  </a:lnTo>
                  <a:lnTo>
                    <a:pt x="821" y="309"/>
                  </a:lnTo>
                  <a:lnTo>
                    <a:pt x="825" y="321"/>
                  </a:lnTo>
                  <a:lnTo>
                    <a:pt x="829" y="332"/>
                  </a:lnTo>
                  <a:lnTo>
                    <a:pt x="833" y="342"/>
                  </a:lnTo>
                  <a:lnTo>
                    <a:pt x="837" y="353"/>
                  </a:lnTo>
                  <a:lnTo>
                    <a:pt x="841" y="363"/>
                  </a:lnTo>
                  <a:lnTo>
                    <a:pt x="845" y="373"/>
                  </a:lnTo>
                  <a:lnTo>
                    <a:pt x="850" y="383"/>
                  </a:lnTo>
                  <a:lnTo>
                    <a:pt x="854" y="392"/>
                  </a:lnTo>
                  <a:lnTo>
                    <a:pt x="858" y="402"/>
                  </a:lnTo>
                  <a:lnTo>
                    <a:pt x="862" y="411"/>
                  </a:lnTo>
                  <a:lnTo>
                    <a:pt x="866" y="419"/>
                  </a:lnTo>
                  <a:lnTo>
                    <a:pt x="870" y="427"/>
                  </a:lnTo>
                  <a:lnTo>
                    <a:pt x="874" y="435"/>
                  </a:lnTo>
                  <a:lnTo>
                    <a:pt x="878" y="443"/>
                  </a:lnTo>
                  <a:lnTo>
                    <a:pt x="882" y="450"/>
                  </a:lnTo>
                  <a:lnTo>
                    <a:pt x="886" y="457"/>
                  </a:lnTo>
                  <a:lnTo>
                    <a:pt x="890" y="464"/>
                  </a:lnTo>
                  <a:lnTo>
                    <a:pt x="894" y="470"/>
                  </a:lnTo>
                  <a:lnTo>
                    <a:pt x="898" y="477"/>
                  </a:lnTo>
                  <a:lnTo>
                    <a:pt x="902" y="482"/>
                  </a:lnTo>
                  <a:lnTo>
                    <a:pt x="906" y="488"/>
                  </a:lnTo>
                  <a:lnTo>
                    <a:pt x="910" y="493"/>
                  </a:lnTo>
                  <a:lnTo>
                    <a:pt x="914" y="498"/>
                  </a:lnTo>
                  <a:lnTo>
                    <a:pt x="918" y="503"/>
                  </a:lnTo>
                  <a:lnTo>
                    <a:pt x="922" y="507"/>
                  </a:lnTo>
                  <a:lnTo>
                    <a:pt x="926" y="511"/>
                  </a:lnTo>
                  <a:lnTo>
                    <a:pt x="930" y="515"/>
                  </a:lnTo>
                  <a:lnTo>
                    <a:pt x="934" y="519"/>
                  </a:lnTo>
                  <a:lnTo>
                    <a:pt x="938" y="522"/>
                  </a:lnTo>
                  <a:lnTo>
                    <a:pt x="943" y="526"/>
                  </a:lnTo>
                  <a:lnTo>
                    <a:pt x="947" y="529"/>
                  </a:lnTo>
                  <a:lnTo>
                    <a:pt x="951" y="532"/>
                  </a:lnTo>
                  <a:lnTo>
                    <a:pt x="955" y="534"/>
                  </a:lnTo>
                  <a:lnTo>
                    <a:pt x="959" y="537"/>
                  </a:lnTo>
                  <a:lnTo>
                    <a:pt x="963" y="539"/>
                  </a:lnTo>
                  <a:lnTo>
                    <a:pt x="967" y="541"/>
                  </a:lnTo>
                  <a:lnTo>
                    <a:pt x="971" y="543"/>
                  </a:lnTo>
                  <a:lnTo>
                    <a:pt x="975" y="545"/>
                  </a:lnTo>
                  <a:lnTo>
                    <a:pt x="979" y="547"/>
                  </a:lnTo>
                  <a:lnTo>
                    <a:pt x="983" y="548"/>
                  </a:lnTo>
                  <a:lnTo>
                    <a:pt x="987" y="550"/>
                  </a:lnTo>
                  <a:lnTo>
                    <a:pt x="991" y="551"/>
                  </a:lnTo>
                  <a:lnTo>
                    <a:pt x="995" y="552"/>
                  </a:lnTo>
                  <a:lnTo>
                    <a:pt x="999" y="553"/>
                  </a:lnTo>
                  <a:lnTo>
                    <a:pt x="1003" y="554"/>
                  </a:lnTo>
                  <a:lnTo>
                    <a:pt x="1007" y="555"/>
                  </a:lnTo>
                  <a:lnTo>
                    <a:pt x="1011" y="556"/>
                  </a:lnTo>
                  <a:lnTo>
                    <a:pt x="1015" y="557"/>
                  </a:lnTo>
                  <a:lnTo>
                    <a:pt x="1019" y="558"/>
                  </a:lnTo>
                  <a:lnTo>
                    <a:pt x="1023" y="558"/>
                  </a:lnTo>
                  <a:lnTo>
                    <a:pt x="1027" y="559"/>
                  </a:lnTo>
                  <a:lnTo>
                    <a:pt x="1032" y="560"/>
                  </a:lnTo>
                  <a:lnTo>
                    <a:pt x="1036" y="560"/>
                  </a:lnTo>
                  <a:lnTo>
                    <a:pt x="1040" y="561"/>
                  </a:lnTo>
                  <a:lnTo>
                    <a:pt x="1044" y="561"/>
                  </a:lnTo>
                  <a:lnTo>
                    <a:pt x="1048" y="561"/>
                  </a:lnTo>
                  <a:lnTo>
                    <a:pt x="1052" y="562"/>
                  </a:lnTo>
                  <a:lnTo>
                    <a:pt x="1056" y="562"/>
                  </a:lnTo>
                  <a:lnTo>
                    <a:pt x="1060" y="562"/>
                  </a:lnTo>
                  <a:lnTo>
                    <a:pt x="1064" y="562"/>
                  </a:lnTo>
                  <a:lnTo>
                    <a:pt x="1068" y="563"/>
                  </a:lnTo>
                  <a:lnTo>
                    <a:pt x="1072" y="563"/>
                  </a:lnTo>
                  <a:lnTo>
                    <a:pt x="1076" y="563"/>
                  </a:lnTo>
                  <a:lnTo>
                    <a:pt x="1080" y="563"/>
                  </a:lnTo>
                  <a:lnTo>
                    <a:pt x="1084" y="563"/>
                  </a:lnTo>
                  <a:lnTo>
                    <a:pt x="1088" y="563"/>
                  </a:lnTo>
                  <a:lnTo>
                    <a:pt x="1092" y="564"/>
                  </a:lnTo>
                  <a:lnTo>
                    <a:pt x="1096" y="564"/>
                  </a:lnTo>
                  <a:lnTo>
                    <a:pt x="1100" y="564"/>
                  </a:lnTo>
                  <a:lnTo>
                    <a:pt x="1104" y="564"/>
                  </a:lnTo>
                  <a:lnTo>
                    <a:pt x="1108" y="564"/>
                  </a:lnTo>
                  <a:lnTo>
                    <a:pt x="1112" y="564"/>
                  </a:lnTo>
                  <a:lnTo>
                    <a:pt x="1116" y="564"/>
                  </a:lnTo>
                  <a:lnTo>
                    <a:pt x="1121" y="564"/>
                  </a:lnTo>
                  <a:lnTo>
                    <a:pt x="1125" y="564"/>
                  </a:lnTo>
                  <a:lnTo>
                    <a:pt x="1129" y="564"/>
                  </a:lnTo>
                  <a:lnTo>
                    <a:pt x="1133" y="564"/>
                  </a:lnTo>
                  <a:lnTo>
                    <a:pt x="1137" y="564"/>
                  </a:lnTo>
                  <a:lnTo>
                    <a:pt x="1141" y="564"/>
                  </a:lnTo>
                  <a:lnTo>
                    <a:pt x="1145" y="564"/>
                  </a:lnTo>
                  <a:lnTo>
                    <a:pt x="1149" y="564"/>
                  </a:lnTo>
                  <a:lnTo>
                    <a:pt x="1153" y="564"/>
                  </a:lnTo>
                  <a:lnTo>
                    <a:pt x="1157" y="564"/>
                  </a:lnTo>
                  <a:lnTo>
                    <a:pt x="1161" y="564"/>
                  </a:lnTo>
                  <a:lnTo>
                    <a:pt x="1165" y="564"/>
                  </a:lnTo>
                  <a:lnTo>
                    <a:pt x="1169" y="564"/>
                  </a:lnTo>
                  <a:lnTo>
                    <a:pt x="1173" y="564"/>
                  </a:lnTo>
                  <a:lnTo>
                    <a:pt x="1177" y="564"/>
                  </a:lnTo>
                  <a:lnTo>
                    <a:pt x="1181" y="564"/>
                  </a:lnTo>
                  <a:lnTo>
                    <a:pt x="1185" y="564"/>
                  </a:lnTo>
                  <a:lnTo>
                    <a:pt x="1189" y="564"/>
                  </a:lnTo>
                  <a:lnTo>
                    <a:pt x="1193" y="564"/>
                  </a:lnTo>
                  <a:lnTo>
                    <a:pt x="1197" y="564"/>
                  </a:lnTo>
                  <a:lnTo>
                    <a:pt x="1201" y="564"/>
                  </a:lnTo>
                  <a:lnTo>
                    <a:pt x="1205" y="564"/>
                  </a:lnTo>
                  <a:lnTo>
                    <a:pt x="1210" y="564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0" y="5848928"/>
              <a:ext cx="9144000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6" name="Straight Connector 15"/>
          <p:cNvCxnSpPr/>
          <p:nvPr/>
        </p:nvCxnSpPr>
        <p:spPr>
          <a:xfrm flipV="1">
            <a:off x="4572000" y="1551709"/>
            <a:ext cx="0" cy="4259906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7018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23365" y="492908"/>
            <a:ext cx="774550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8595">
              <a:lnSpc>
                <a:spcPct val="150000"/>
              </a:lnSpc>
              <a:spcAft>
                <a:spcPts val="600"/>
              </a:spcAft>
            </a:pP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Normal distribution is described by parameters </a:t>
            </a:r>
            <a:r>
              <a:rPr lang="en-US" b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µ</a:t>
            </a: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and </a:t>
            </a:r>
            <a:r>
              <a:rPr lang="en-US" b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σ</a:t>
            </a: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1400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GB" sz="5400" kern="1400" dirty="0">
              <a:solidFill>
                <a:srgbClr val="2A7B88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5746" y="2475914"/>
            <a:ext cx="56698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µ </a:t>
            </a: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</a:t>
            </a:r>
            <a:r>
              <a:rPr lang="en-US" b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population mean</a:t>
            </a:r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4421713" y="5965475"/>
            <a:ext cx="317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µ</a:t>
            </a:r>
            <a:endParaRPr lang="en-GB" dirty="0"/>
          </a:p>
        </p:txBody>
      </p:sp>
      <p:sp>
        <p:nvSpPr>
          <p:cNvPr id="11" name="Rectangle 10"/>
          <p:cNvSpPr/>
          <p:nvPr/>
        </p:nvSpPr>
        <p:spPr>
          <a:xfrm>
            <a:off x="254187" y="1463279"/>
            <a:ext cx="30893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σ</a:t>
            </a: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the </a:t>
            </a:r>
            <a:r>
              <a:rPr lang="en-US" b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population standard deviation</a:t>
            </a: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en-GB" dirty="0"/>
          </a:p>
        </p:txBody>
      </p:sp>
      <p:sp>
        <p:nvSpPr>
          <p:cNvPr id="12" name="Freeform 38"/>
          <p:cNvSpPr>
            <a:spLocks/>
          </p:cNvSpPr>
          <p:nvPr/>
        </p:nvSpPr>
        <p:spPr bwMode="auto">
          <a:xfrm>
            <a:off x="-1285441" y="1617368"/>
            <a:ext cx="10512565" cy="4194247"/>
          </a:xfrm>
          <a:custGeom>
            <a:avLst/>
            <a:gdLst>
              <a:gd name="T0" fmla="*/ 16 w 1210"/>
              <a:gd name="T1" fmla="*/ 564 h 564"/>
              <a:gd name="T2" fmla="*/ 36 w 1210"/>
              <a:gd name="T3" fmla="*/ 564 h 564"/>
              <a:gd name="T4" fmla="*/ 57 w 1210"/>
              <a:gd name="T5" fmla="*/ 564 h 564"/>
              <a:gd name="T6" fmla="*/ 77 w 1210"/>
              <a:gd name="T7" fmla="*/ 564 h 564"/>
              <a:gd name="T8" fmla="*/ 97 w 1210"/>
              <a:gd name="T9" fmla="*/ 564 h 564"/>
              <a:gd name="T10" fmla="*/ 117 w 1210"/>
              <a:gd name="T11" fmla="*/ 564 h 564"/>
              <a:gd name="T12" fmla="*/ 138 w 1210"/>
              <a:gd name="T13" fmla="*/ 564 h 564"/>
              <a:gd name="T14" fmla="*/ 158 w 1210"/>
              <a:gd name="T15" fmla="*/ 564 h 564"/>
              <a:gd name="T16" fmla="*/ 178 w 1210"/>
              <a:gd name="T17" fmla="*/ 564 h 564"/>
              <a:gd name="T18" fmla="*/ 198 w 1210"/>
              <a:gd name="T19" fmla="*/ 564 h 564"/>
              <a:gd name="T20" fmla="*/ 219 w 1210"/>
              <a:gd name="T21" fmla="*/ 564 h 564"/>
              <a:gd name="T22" fmla="*/ 239 w 1210"/>
              <a:gd name="T23" fmla="*/ 564 h 564"/>
              <a:gd name="T24" fmla="*/ 259 w 1210"/>
              <a:gd name="T25" fmla="*/ 564 h 564"/>
              <a:gd name="T26" fmla="*/ 279 w 1210"/>
              <a:gd name="T27" fmla="*/ 563 h 564"/>
              <a:gd name="T28" fmla="*/ 299 w 1210"/>
              <a:gd name="T29" fmla="*/ 562 h 564"/>
              <a:gd name="T30" fmla="*/ 320 w 1210"/>
              <a:gd name="T31" fmla="*/ 560 h 564"/>
              <a:gd name="T32" fmla="*/ 340 w 1210"/>
              <a:gd name="T33" fmla="*/ 557 h 564"/>
              <a:gd name="T34" fmla="*/ 360 w 1210"/>
              <a:gd name="T35" fmla="*/ 551 h 564"/>
              <a:gd name="T36" fmla="*/ 380 w 1210"/>
              <a:gd name="T37" fmla="*/ 544 h 564"/>
              <a:gd name="T38" fmla="*/ 401 w 1210"/>
              <a:gd name="T39" fmla="*/ 532 h 564"/>
              <a:gd name="T40" fmla="*/ 421 w 1210"/>
              <a:gd name="T41" fmla="*/ 516 h 564"/>
              <a:gd name="T42" fmla="*/ 441 w 1210"/>
              <a:gd name="T43" fmla="*/ 495 h 564"/>
              <a:gd name="T44" fmla="*/ 461 w 1210"/>
              <a:gd name="T45" fmla="*/ 466 h 564"/>
              <a:gd name="T46" fmla="*/ 481 w 1210"/>
              <a:gd name="T47" fmla="*/ 430 h 564"/>
              <a:gd name="T48" fmla="*/ 502 w 1210"/>
              <a:gd name="T49" fmla="*/ 386 h 564"/>
              <a:gd name="T50" fmla="*/ 522 w 1210"/>
              <a:gd name="T51" fmla="*/ 335 h 564"/>
              <a:gd name="T52" fmla="*/ 542 w 1210"/>
              <a:gd name="T53" fmla="*/ 279 h 564"/>
              <a:gd name="T54" fmla="*/ 562 w 1210"/>
              <a:gd name="T55" fmla="*/ 219 h 564"/>
              <a:gd name="T56" fmla="*/ 583 w 1210"/>
              <a:gd name="T57" fmla="*/ 160 h 564"/>
              <a:gd name="T58" fmla="*/ 603 w 1210"/>
              <a:gd name="T59" fmla="*/ 104 h 564"/>
              <a:gd name="T60" fmla="*/ 623 w 1210"/>
              <a:gd name="T61" fmla="*/ 58 h 564"/>
              <a:gd name="T62" fmla="*/ 643 w 1210"/>
              <a:gd name="T63" fmla="*/ 23 h 564"/>
              <a:gd name="T64" fmla="*/ 663 w 1210"/>
              <a:gd name="T65" fmla="*/ 4 h 564"/>
              <a:gd name="T66" fmla="*/ 684 w 1210"/>
              <a:gd name="T67" fmla="*/ 2 h 564"/>
              <a:gd name="T68" fmla="*/ 704 w 1210"/>
              <a:gd name="T69" fmla="*/ 17 h 564"/>
              <a:gd name="T70" fmla="*/ 724 w 1210"/>
              <a:gd name="T71" fmla="*/ 47 h 564"/>
              <a:gd name="T72" fmla="*/ 744 w 1210"/>
              <a:gd name="T73" fmla="*/ 91 h 564"/>
              <a:gd name="T74" fmla="*/ 765 w 1210"/>
              <a:gd name="T75" fmla="*/ 144 h 564"/>
              <a:gd name="T76" fmla="*/ 785 w 1210"/>
              <a:gd name="T77" fmla="*/ 203 h 564"/>
              <a:gd name="T78" fmla="*/ 805 w 1210"/>
              <a:gd name="T79" fmla="*/ 263 h 564"/>
              <a:gd name="T80" fmla="*/ 825 w 1210"/>
              <a:gd name="T81" fmla="*/ 321 h 564"/>
              <a:gd name="T82" fmla="*/ 845 w 1210"/>
              <a:gd name="T83" fmla="*/ 373 h 564"/>
              <a:gd name="T84" fmla="*/ 866 w 1210"/>
              <a:gd name="T85" fmla="*/ 419 h 564"/>
              <a:gd name="T86" fmla="*/ 886 w 1210"/>
              <a:gd name="T87" fmla="*/ 457 h 564"/>
              <a:gd name="T88" fmla="*/ 906 w 1210"/>
              <a:gd name="T89" fmla="*/ 488 h 564"/>
              <a:gd name="T90" fmla="*/ 926 w 1210"/>
              <a:gd name="T91" fmla="*/ 511 h 564"/>
              <a:gd name="T92" fmla="*/ 947 w 1210"/>
              <a:gd name="T93" fmla="*/ 529 h 564"/>
              <a:gd name="T94" fmla="*/ 967 w 1210"/>
              <a:gd name="T95" fmla="*/ 541 h 564"/>
              <a:gd name="T96" fmla="*/ 987 w 1210"/>
              <a:gd name="T97" fmla="*/ 550 h 564"/>
              <a:gd name="T98" fmla="*/ 1007 w 1210"/>
              <a:gd name="T99" fmla="*/ 555 h 564"/>
              <a:gd name="T100" fmla="*/ 1027 w 1210"/>
              <a:gd name="T101" fmla="*/ 559 h 564"/>
              <a:gd name="T102" fmla="*/ 1048 w 1210"/>
              <a:gd name="T103" fmla="*/ 561 h 564"/>
              <a:gd name="T104" fmla="*/ 1068 w 1210"/>
              <a:gd name="T105" fmla="*/ 563 h 564"/>
              <a:gd name="T106" fmla="*/ 1088 w 1210"/>
              <a:gd name="T107" fmla="*/ 563 h 564"/>
              <a:gd name="T108" fmla="*/ 1108 w 1210"/>
              <a:gd name="T109" fmla="*/ 564 h 564"/>
              <a:gd name="T110" fmla="*/ 1129 w 1210"/>
              <a:gd name="T111" fmla="*/ 564 h 564"/>
              <a:gd name="T112" fmla="*/ 1149 w 1210"/>
              <a:gd name="T113" fmla="*/ 564 h 564"/>
              <a:gd name="T114" fmla="*/ 1169 w 1210"/>
              <a:gd name="T115" fmla="*/ 564 h 564"/>
              <a:gd name="T116" fmla="*/ 1189 w 1210"/>
              <a:gd name="T117" fmla="*/ 564 h 564"/>
              <a:gd name="T118" fmla="*/ 1210 w 1210"/>
              <a:gd name="T119" fmla="*/ 564 h 5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210" h="564">
                <a:moveTo>
                  <a:pt x="0" y="564"/>
                </a:moveTo>
                <a:lnTo>
                  <a:pt x="4" y="564"/>
                </a:lnTo>
                <a:lnTo>
                  <a:pt x="8" y="564"/>
                </a:lnTo>
                <a:lnTo>
                  <a:pt x="12" y="564"/>
                </a:lnTo>
                <a:lnTo>
                  <a:pt x="16" y="564"/>
                </a:lnTo>
                <a:lnTo>
                  <a:pt x="20" y="564"/>
                </a:lnTo>
                <a:lnTo>
                  <a:pt x="24" y="564"/>
                </a:lnTo>
                <a:lnTo>
                  <a:pt x="28" y="564"/>
                </a:lnTo>
                <a:lnTo>
                  <a:pt x="32" y="564"/>
                </a:lnTo>
                <a:lnTo>
                  <a:pt x="36" y="564"/>
                </a:lnTo>
                <a:lnTo>
                  <a:pt x="41" y="564"/>
                </a:lnTo>
                <a:lnTo>
                  <a:pt x="45" y="564"/>
                </a:lnTo>
                <a:lnTo>
                  <a:pt x="49" y="564"/>
                </a:lnTo>
                <a:lnTo>
                  <a:pt x="53" y="564"/>
                </a:lnTo>
                <a:lnTo>
                  <a:pt x="57" y="564"/>
                </a:lnTo>
                <a:lnTo>
                  <a:pt x="61" y="564"/>
                </a:lnTo>
                <a:lnTo>
                  <a:pt x="65" y="564"/>
                </a:lnTo>
                <a:lnTo>
                  <a:pt x="69" y="564"/>
                </a:lnTo>
                <a:lnTo>
                  <a:pt x="73" y="564"/>
                </a:lnTo>
                <a:lnTo>
                  <a:pt x="77" y="564"/>
                </a:lnTo>
                <a:lnTo>
                  <a:pt x="81" y="564"/>
                </a:lnTo>
                <a:lnTo>
                  <a:pt x="85" y="564"/>
                </a:lnTo>
                <a:lnTo>
                  <a:pt x="89" y="564"/>
                </a:lnTo>
                <a:lnTo>
                  <a:pt x="93" y="564"/>
                </a:lnTo>
                <a:lnTo>
                  <a:pt x="97" y="564"/>
                </a:lnTo>
                <a:lnTo>
                  <a:pt x="101" y="564"/>
                </a:lnTo>
                <a:lnTo>
                  <a:pt x="105" y="564"/>
                </a:lnTo>
                <a:lnTo>
                  <a:pt x="109" y="564"/>
                </a:lnTo>
                <a:lnTo>
                  <a:pt x="113" y="564"/>
                </a:lnTo>
                <a:lnTo>
                  <a:pt x="117" y="564"/>
                </a:lnTo>
                <a:lnTo>
                  <a:pt x="121" y="564"/>
                </a:lnTo>
                <a:lnTo>
                  <a:pt x="125" y="564"/>
                </a:lnTo>
                <a:lnTo>
                  <a:pt x="130" y="564"/>
                </a:lnTo>
                <a:lnTo>
                  <a:pt x="134" y="564"/>
                </a:lnTo>
                <a:lnTo>
                  <a:pt x="138" y="564"/>
                </a:lnTo>
                <a:lnTo>
                  <a:pt x="142" y="564"/>
                </a:lnTo>
                <a:lnTo>
                  <a:pt x="146" y="564"/>
                </a:lnTo>
                <a:lnTo>
                  <a:pt x="150" y="564"/>
                </a:lnTo>
                <a:lnTo>
                  <a:pt x="154" y="564"/>
                </a:lnTo>
                <a:lnTo>
                  <a:pt x="158" y="564"/>
                </a:lnTo>
                <a:lnTo>
                  <a:pt x="162" y="564"/>
                </a:lnTo>
                <a:lnTo>
                  <a:pt x="166" y="564"/>
                </a:lnTo>
                <a:lnTo>
                  <a:pt x="170" y="564"/>
                </a:lnTo>
                <a:lnTo>
                  <a:pt x="174" y="564"/>
                </a:lnTo>
                <a:lnTo>
                  <a:pt x="178" y="564"/>
                </a:lnTo>
                <a:lnTo>
                  <a:pt x="182" y="564"/>
                </a:lnTo>
                <a:lnTo>
                  <a:pt x="186" y="564"/>
                </a:lnTo>
                <a:lnTo>
                  <a:pt x="190" y="564"/>
                </a:lnTo>
                <a:lnTo>
                  <a:pt x="194" y="564"/>
                </a:lnTo>
                <a:lnTo>
                  <a:pt x="198" y="564"/>
                </a:lnTo>
                <a:lnTo>
                  <a:pt x="202" y="564"/>
                </a:lnTo>
                <a:lnTo>
                  <a:pt x="206" y="564"/>
                </a:lnTo>
                <a:lnTo>
                  <a:pt x="210" y="564"/>
                </a:lnTo>
                <a:lnTo>
                  <a:pt x="214" y="564"/>
                </a:lnTo>
                <a:lnTo>
                  <a:pt x="219" y="564"/>
                </a:lnTo>
                <a:lnTo>
                  <a:pt x="223" y="564"/>
                </a:lnTo>
                <a:lnTo>
                  <a:pt x="227" y="564"/>
                </a:lnTo>
                <a:lnTo>
                  <a:pt x="231" y="564"/>
                </a:lnTo>
                <a:lnTo>
                  <a:pt x="235" y="564"/>
                </a:lnTo>
                <a:lnTo>
                  <a:pt x="239" y="564"/>
                </a:lnTo>
                <a:lnTo>
                  <a:pt x="243" y="564"/>
                </a:lnTo>
                <a:lnTo>
                  <a:pt x="247" y="564"/>
                </a:lnTo>
                <a:lnTo>
                  <a:pt x="251" y="564"/>
                </a:lnTo>
                <a:lnTo>
                  <a:pt x="255" y="564"/>
                </a:lnTo>
                <a:lnTo>
                  <a:pt x="259" y="564"/>
                </a:lnTo>
                <a:lnTo>
                  <a:pt x="263" y="563"/>
                </a:lnTo>
                <a:lnTo>
                  <a:pt x="267" y="563"/>
                </a:lnTo>
                <a:lnTo>
                  <a:pt x="271" y="563"/>
                </a:lnTo>
                <a:lnTo>
                  <a:pt x="275" y="563"/>
                </a:lnTo>
                <a:lnTo>
                  <a:pt x="279" y="563"/>
                </a:lnTo>
                <a:lnTo>
                  <a:pt x="283" y="563"/>
                </a:lnTo>
                <a:lnTo>
                  <a:pt x="287" y="563"/>
                </a:lnTo>
                <a:lnTo>
                  <a:pt x="291" y="562"/>
                </a:lnTo>
                <a:lnTo>
                  <a:pt x="295" y="562"/>
                </a:lnTo>
                <a:lnTo>
                  <a:pt x="299" y="562"/>
                </a:lnTo>
                <a:lnTo>
                  <a:pt x="303" y="561"/>
                </a:lnTo>
                <a:lnTo>
                  <a:pt x="307" y="561"/>
                </a:lnTo>
                <a:lnTo>
                  <a:pt x="312" y="561"/>
                </a:lnTo>
                <a:lnTo>
                  <a:pt x="316" y="560"/>
                </a:lnTo>
                <a:lnTo>
                  <a:pt x="320" y="560"/>
                </a:lnTo>
                <a:lnTo>
                  <a:pt x="324" y="559"/>
                </a:lnTo>
                <a:lnTo>
                  <a:pt x="328" y="559"/>
                </a:lnTo>
                <a:lnTo>
                  <a:pt x="332" y="558"/>
                </a:lnTo>
                <a:lnTo>
                  <a:pt x="336" y="557"/>
                </a:lnTo>
                <a:lnTo>
                  <a:pt x="340" y="557"/>
                </a:lnTo>
                <a:lnTo>
                  <a:pt x="344" y="556"/>
                </a:lnTo>
                <a:lnTo>
                  <a:pt x="348" y="555"/>
                </a:lnTo>
                <a:lnTo>
                  <a:pt x="352" y="554"/>
                </a:lnTo>
                <a:lnTo>
                  <a:pt x="356" y="553"/>
                </a:lnTo>
                <a:lnTo>
                  <a:pt x="360" y="551"/>
                </a:lnTo>
                <a:lnTo>
                  <a:pt x="364" y="550"/>
                </a:lnTo>
                <a:lnTo>
                  <a:pt x="368" y="549"/>
                </a:lnTo>
                <a:lnTo>
                  <a:pt x="372" y="547"/>
                </a:lnTo>
                <a:lnTo>
                  <a:pt x="376" y="546"/>
                </a:lnTo>
                <a:lnTo>
                  <a:pt x="380" y="544"/>
                </a:lnTo>
                <a:lnTo>
                  <a:pt x="384" y="542"/>
                </a:lnTo>
                <a:lnTo>
                  <a:pt x="388" y="540"/>
                </a:lnTo>
                <a:lnTo>
                  <a:pt x="392" y="537"/>
                </a:lnTo>
                <a:lnTo>
                  <a:pt x="396" y="535"/>
                </a:lnTo>
                <a:lnTo>
                  <a:pt x="401" y="532"/>
                </a:lnTo>
                <a:lnTo>
                  <a:pt x="405" y="530"/>
                </a:lnTo>
                <a:lnTo>
                  <a:pt x="409" y="527"/>
                </a:lnTo>
                <a:lnTo>
                  <a:pt x="413" y="524"/>
                </a:lnTo>
                <a:lnTo>
                  <a:pt x="417" y="520"/>
                </a:lnTo>
                <a:lnTo>
                  <a:pt x="421" y="516"/>
                </a:lnTo>
                <a:lnTo>
                  <a:pt x="425" y="513"/>
                </a:lnTo>
                <a:lnTo>
                  <a:pt x="429" y="509"/>
                </a:lnTo>
                <a:lnTo>
                  <a:pt x="433" y="504"/>
                </a:lnTo>
                <a:lnTo>
                  <a:pt x="437" y="500"/>
                </a:lnTo>
                <a:lnTo>
                  <a:pt x="441" y="495"/>
                </a:lnTo>
                <a:lnTo>
                  <a:pt x="445" y="490"/>
                </a:lnTo>
                <a:lnTo>
                  <a:pt x="449" y="484"/>
                </a:lnTo>
                <a:lnTo>
                  <a:pt x="453" y="478"/>
                </a:lnTo>
                <a:lnTo>
                  <a:pt x="457" y="472"/>
                </a:lnTo>
                <a:lnTo>
                  <a:pt x="461" y="466"/>
                </a:lnTo>
                <a:lnTo>
                  <a:pt x="465" y="459"/>
                </a:lnTo>
                <a:lnTo>
                  <a:pt x="469" y="453"/>
                </a:lnTo>
                <a:lnTo>
                  <a:pt x="473" y="445"/>
                </a:lnTo>
                <a:lnTo>
                  <a:pt x="477" y="438"/>
                </a:lnTo>
                <a:lnTo>
                  <a:pt x="481" y="430"/>
                </a:lnTo>
                <a:lnTo>
                  <a:pt x="485" y="422"/>
                </a:lnTo>
                <a:lnTo>
                  <a:pt x="490" y="413"/>
                </a:lnTo>
                <a:lnTo>
                  <a:pt x="494" y="404"/>
                </a:lnTo>
                <a:lnTo>
                  <a:pt x="498" y="395"/>
                </a:lnTo>
                <a:lnTo>
                  <a:pt x="502" y="386"/>
                </a:lnTo>
                <a:lnTo>
                  <a:pt x="506" y="376"/>
                </a:lnTo>
                <a:lnTo>
                  <a:pt x="510" y="366"/>
                </a:lnTo>
                <a:lnTo>
                  <a:pt x="514" y="356"/>
                </a:lnTo>
                <a:lnTo>
                  <a:pt x="518" y="346"/>
                </a:lnTo>
                <a:lnTo>
                  <a:pt x="522" y="335"/>
                </a:lnTo>
                <a:lnTo>
                  <a:pt x="526" y="324"/>
                </a:lnTo>
                <a:lnTo>
                  <a:pt x="530" y="313"/>
                </a:lnTo>
                <a:lnTo>
                  <a:pt x="534" y="302"/>
                </a:lnTo>
                <a:lnTo>
                  <a:pt x="538" y="290"/>
                </a:lnTo>
                <a:lnTo>
                  <a:pt x="542" y="279"/>
                </a:lnTo>
                <a:lnTo>
                  <a:pt x="546" y="267"/>
                </a:lnTo>
                <a:lnTo>
                  <a:pt x="550" y="255"/>
                </a:lnTo>
                <a:lnTo>
                  <a:pt x="554" y="243"/>
                </a:lnTo>
                <a:lnTo>
                  <a:pt x="558" y="231"/>
                </a:lnTo>
                <a:lnTo>
                  <a:pt x="562" y="219"/>
                </a:lnTo>
                <a:lnTo>
                  <a:pt x="566" y="207"/>
                </a:lnTo>
                <a:lnTo>
                  <a:pt x="570" y="195"/>
                </a:lnTo>
                <a:lnTo>
                  <a:pt x="574" y="183"/>
                </a:lnTo>
                <a:lnTo>
                  <a:pt x="579" y="171"/>
                </a:lnTo>
                <a:lnTo>
                  <a:pt x="583" y="160"/>
                </a:lnTo>
                <a:lnTo>
                  <a:pt x="587" y="148"/>
                </a:lnTo>
                <a:lnTo>
                  <a:pt x="591" y="137"/>
                </a:lnTo>
                <a:lnTo>
                  <a:pt x="595" y="126"/>
                </a:lnTo>
                <a:lnTo>
                  <a:pt x="599" y="115"/>
                </a:lnTo>
                <a:lnTo>
                  <a:pt x="603" y="104"/>
                </a:lnTo>
                <a:lnTo>
                  <a:pt x="607" y="94"/>
                </a:lnTo>
                <a:lnTo>
                  <a:pt x="611" y="84"/>
                </a:lnTo>
                <a:lnTo>
                  <a:pt x="615" y="75"/>
                </a:lnTo>
                <a:lnTo>
                  <a:pt x="619" y="66"/>
                </a:lnTo>
                <a:lnTo>
                  <a:pt x="623" y="58"/>
                </a:lnTo>
                <a:lnTo>
                  <a:pt x="627" y="50"/>
                </a:lnTo>
                <a:lnTo>
                  <a:pt x="631" y="42"/>
                </a:lnTo>
                <a:lnTo>
                  <a:pt x="635" y="35"/>
                </a:lnTo>
                <a:lnTo>
                  <a:pt x="639" y="29"/>
                </a:lnTo>
                <a:lnTo>
                  <a:pt x="643" y="23"/>
                </a:lnTo>
                <a:lnTo>
                  <a:pt x="647" y="18"/>
                </a:lnTo>
                <a:lnTo>
                  <a:pt x="651" y="14"/>
                </a:lnTo>
                <a:lnTo>
                  <a:pt x="655" y="10"/>
                </a:lnTo>
                <a:lnTo>
                  <a:pt x="659" y="6"/>
                </a:lnTo>
                <a:lnTo>
                  <a:pt x="663" y="4"/>
                </a:lnTo>
                <a:lnTo>
                  <a:pt x="667" y="2"/>
                </a:lnTo>
                <a:lnTo>
                  <a:pt x="672" y="1"/>
                </a:lnTo>
                <a:lnTo>
                  <a:pt x="676" y="0"/>
                </a:lnTo>
                <a:lnTo>
                  <a:pt x="680" y="1"/>
                </a:lnTo>
                <a:lnTo>
                  <a:pt x="684" y="2"/>
                </a:lnTo>
                <a:lnTo>
                  <a:pt x="688" y="3"/>
                </a:lnTo>
                <a:lnTo>
                  <a:pt x="692" y="6"/>
                </a:lnTo>
                <a:lnTo>
                  <a:pt x="696" y="9"/>
                </a:lnTo>
                <a:lnTo>
                  <a:pt x="700" y="12"/>
                </a:lnTo>
                <a:lnTo>
                  <a:pt x="704" y="17"/>
                </a:lnTo>
                <a:lnTo>
                  <a:pt x="708" y="21"/>
                </a:lnTo>
                <a:lnTo>
                  <a:pt x="712" y="27"/>
                </a:lnTo>
                <a:lnTo>
                  <a:pt x="716" y="33"/>
                </a:lnTo>
                <a:lnTo>
                  <a:pt x="720" y="40"/>
                </a:lnTo>
                <a:lnTo>
                  <a:pt x="724" y="47"/>
                </a:lnTo>
                <a:lnTo>
                  <a:pt x="728" y="55"/>
                </a:lnTo>
                <a:lnTo>
                  <a:pt x="732" y="63"/>
                </a:lnTo>
                <a:lnTo>
                  <a:pt x="736" y="72"/>
                </a:lnTo>
                <a:lnTo>
                  <a:pt x="740" y="82"/>
                </a:lnTo>
                <a:lnTo>
                  <a:pt x="744" y="91"/>
                </a:lnTo>
                <a:lnTo>
                  <a:pt x="748" y="101"/>
                </a:lnTo>
                <a:lnTo>
                  <a:pt x="752" y="112"/>
                </a:lnTo>
                <a:lnTo>
                  <a:pt x="756" y="122"/>
                </a:lnTo>
                <a:lnTo>
                  <a:pt x="761" y="133"/>
                </a:lnTo>
                <a:lnTo>
                  <a:pt x="765" y="144"/>
                </a:lnTo>
                <a:lnTo>
                  <a:pt x="769" y="156"/>
                </a:lnTo>
                <a:lnTo>
                  <a:pt x="773" y="168"/>
                </a:lnTo>
                <a:lnTo>
                  <a:pt x="777" y="179"/>
                </a:lnTo>
                <a:lnTo>
                  <a:pt x="781" y="191"/>
                </a:lnTo>
                <a:lnTo>
                  <a:pt x="785" y="203"/>
                </a:lnTo>
                <a:lnTo>
                  <a:pt x="789" y="215"/>
                </a:lnTo>
                <a:lnTo>
                  <a:pt x="793" y="227"/>
                </a:lnTo>
                <a:lnTo>
                  <a:pt x="797" y="239"/>
                </a:lnTo>
                <a:lnTo>
                  <a:pt x="801" y="251"/>
                </a:lnTo>
                <a:lnTo>
                  <a:pt x="805" y="263"/>
                </a:lnTo>
                <a:lnTo>
                  <a:pt x="809" y="275"/>
                </a:lnTo>
                <a:lnTo>
                  <a:pt x="813" y="287"/>
                </a:lnTo>
                <a:lnTo>
                  <a:pt x="817" y="298"/>
                </a:lnTo>
                <a:lnTo>
                  <a:pt x="821" y="309"/>
                </a:lnTo>
                <a:lnTo>
                  <a:pt x="825" y="321"/>
                </a:lnTo>
                <a:lnTo>
                  <a:pt x="829" y="332"/>
                </a:lnTo>
                <a:lnTo>
                  <a:pt x="833" y="342"/>
                </a:lnTo>
                <a:lnTo>
                  <a:pt x="837" y="353"/>
                </a:lnTo>
                <a:lnTo>
                  <a:pt x="841" y="363"/>
                </a:lnTo>
                <a:lnTo>
                  <a:pt x="845" y="373"/>
                </a:lnTo>
                <a:lnTo>
                  <a:pt x="850" y="383"/>
                </a:lnTo>
                <a:lnTo>
                  <a:pt x="854" y="392"/>
                </a:lnTo>
                <a:lnTo>
                  <a:pt x="858" y="402"/>
                </a:lnTo>
                <a:lnTo>
                  <a:pt x="862" y="411"/>
                </a:lnTo>
                <a:lnTo>
                  <a:pt x="866" y="419"/>
                </a:lnTo>
                <a:lnTo>
                  <a:pt x="870" y="427"/>
                </a:lnTo>
                <a:lnTo>
                  <a:pt x="874" y="435"/>
                </a:lnTo>
                <a:lnTo>
                  <a:pt x="878" y="443"/>
                </a:lnTo>
                <a:lnTo>
                  <a:pt x="882" y="450"/>
                </a:lnTo>
                <a:lnTo>
                  <a:pt x="886" y="457"/>
                </a:lnTo>
                <a:lnTo>
                  <a:pt x="890" y="464"/>
                </a:lnTo>
                <a:lnTo>
                  <a:pt x="894" y="470"/>
                </a:lnTo>
                <a:lnTo>
                  <a:pt x="898" y="477"/>
                </a:lnTo>
                <a:lnTo>
                  <a:pt x="902" y="482"/>
                </a:lnTo>
                <a:lnTo>
                  <a:pt x="906" y="488"/>
                </a:lnTo>
                <a:lnTo>
                  <a:pt x="910" y="493"/>
                </a:lnTo>
                <a:lnTo>
                  <a:pt x="914" y="498"/>
                </a:lnTo>
                <a:lnTo>
                  <a:pt x="918" y="503"/>
                </a:lnTo>
                <a:lnTo>
                  <a:pt x="922" y="507"/>
                </a:lnTo>
                <a:lnTo>
                  <a:pt x="926" y="511"/>
                </a:lnTo>
                <a:lnTo>
                  <a:pt x="930" y="515"/>
                </a:lnTo>
                <a:lnTo>
                  <a:pt x="934" y="519"/>
                </a:lnTo>
                <a:lnTo>
                  <a:pt x="938" y="522"/>
                </a:lnTo>
                <a:lnTo>
                  <a:pt x="943" y="526"/>
                </a:lnTo>
                <a:lnTo>
                  <a:pt x="947" y="529"/>
                </a:lnTo>
                <a:lnTo>
                  <a:pt x="951" y="532"/>
                </a:lnTo>
                <a:lnTo>
                  <a:pt x="955" y="534"/>
                </a:lnTo>
                <a:lnTo>
                  <a:pt x="959" y="537"/>
                </a:lnTo>
                <a:lnTo>
                  <a:pt x="963" y="539"/>
                </a:lnTo>
                <a:lnTo>
                  <a:pt x="967" y="541"/>
                </a:lnTo>
                <a:lnTo>
                  <a:pt x="971" y="543"/>
                </a:lnTo>
                <a:lnTo>
                  <a:pt x="975" y="545"/>
                </a:lnTo>
                <a:lnTo>
                  <a:pt x="979" y="547"/>
                </a:lnTo>
                <a:lnTo>
                  <a:pt x="983" y="548"/>
                </a:lnTo>
                <a:lnTo>
                  <a:pt x="987" y="550"/>
                </a:lnTo>
                <a:lnTo>
                  <a:pt x="991" y="551"/>
                </a:lnTo>
                <a:lnTo>
                  <a:pt x="995" y="552"/>
                </a:lnTo>
                <a:lnTo>
                  <a:pt x="999" y="553"/>
                </a:lnTo>
                <a:lnTo>
                  <a:pt x="1003" y="554"/>
                </a:lnTo>
                <a:lnTo>
                  <a:pt x="1007" y="555"/>
                </a:lnTo>
                <a:lnTo>
                  <a:pt x="1011" y="556"/>
                </a:lnTo>
                <a:lnTo>
                  <a:pt x="1015" y="557"/>
                </a:lnTo>
                <a:lnTo>
                  <a:pt x="1019" y="558"/>
                </a:lnTo>
                <a:lnTo>
                  <a:pt x="1023" y="558"/>
                </a:lnTo>
                <a:lnTo>
                  <a:pt x="1027" y="559"/>
                </a:lnTo>
                <a:lnTo>
                  <a:pt x="1032" y="560"/>
                </a:lnTo>
                <a:lnTo>
                  <a:pt x="1036" y="560"/>
                </a:lnTo>
                <a:lnTo>
                  <a:pt x="1040" y="561"/>
                </a:lnTo>
                <a:lnTo>
                  <a:pt x="1044" y="561"/>
                </a:lnTo>
                <a:lnTo>
                  <a:pt x="1048" y="561"/>
                </a:lnTo>
                <a:lnTo>
                  <a:pt x="1052" y="562"/>
                </a:lnTo>
                <a:lnTo>
                  <a:pt x="1056" y="562"/>
                </a:lnTo>
                <a:lnTo>
                  <a:pt x="1060" y="562"/>
                </a:lnTo>
                <a:lnTo>
                  <a:pt x="1064" y="562"/>
                </a:lnTo>
                <a:lnTo>
                  <a:pt x="1068" y="563"/>
                </a:lnTo>
                <a:lnTo>
                  <a:pt x="1072" y="563"/>
                </a:lnTo>
                <a:lnTo>
                  <a:pt x="1076" y="563"/>
                </a:lnTo>
                <a:lnTo>
                  <a:pt x="1080" y="563"/>
                </a:lnTo>
                <a:lnTo>
                  <a:pt x="1084" y="563"/>
                </a:lnTo>
                <a:lnTo>
                  <a:pt x="1088" y="563"/>
                </a:lnTo>
                <a:lnTo>
                  <a:pt x="1092" y="564"/>
                </a:lnTo>
                <a:lnTo>
                  <a:pt x="1096" y="564"/>
                </a:lnTo>
                <a:lnTo>
                  <a:pt x="1100" y="564"/>
                </a:lnTo>
                <a:lnTo>
                  <a:pt x="1104" y="564"/>
                </a:lnTo>
                <a:lnTo>
                  <a:pt x="1108" y="564"/>
                </a:lnTo>
                <a:lnTo>
                  <a:pt x="1112" y="564"/>
                </a:lnTo>
                <a:lnTo>
                  <a:pt x="1116" y="564"/>
                </a:lnTo>
                <a:lnTo>
                  <a:pt x="1121" y="564"/>
                </a:lnTo>
                <a:lnTo>
                  <a:pt x="1125" y="564"/>
                </a:lnTo>
                <a:lnTo>
                  <a:pt x="1129" y="564"/>
                </a:lnTo>
                <a:lnTo>
                  <a:pt x="1133" y="564"/>
                </a:lnTo>
                <a:lnTo>
                  <a:pt x="1137" y="564"/>
                </a:lnTo>
                <a:lnTo>
                  <a:pt x="1141" y="564"/>
                </a:lnTo>
                <a:lnTo>
                  <a:pt x="1145" y="564"/>
                </a:lnTo>
                <a:lnTo>
                  <a:pt x="1149" y="564"/>
                </a:lnTo>
                <a:lnTo>
                  <a:pt x="1153" y="564"/>
                </a:lnTo>
                <a:lnTo>
                  <a:pt x="1157" y="564"/>
                </a:lnTo>
                <a:lnTo>
                  <a:pt x="1161" y="564"/>
                </a:lnTo>
                <a:lnTo>
                  <a:pt x="1165" y="564"/>
                </a:lnTo>
                <a:lnTo>
                  <a:pt x="1169" y="564"/>
                </a:lnTo>
                <a:lnTo>
                  <a:pt x="1173" y="564"/>
                </a:lnTo>
                <a:lnTo>
                  <a:pt x="1177" y="564"/>
                </a:lnTo>
                <a:lnTo>
                  <a:pt x="1181" y="564"/>
                </a:lnTo>
                <a:lnTo>
                  <a:pt x="1185" y="564"/>
                </a:lnTo>
                <a:lnTo>
                  <a:pt x="1189" y="564"/>
                </a:lnTo>
                <a:lnTo>
                  <a:pt x="1193" y="564"/>
                </a:lnTo>
                <a:lnTo>
                  <a:pt x="1197" y="564"/>
                </a:lnTo>
                <a:lnTo>
                  <a:pt x="1201" y="564"/>
                </a:lnTo>
                <a:lnTo>
                  <a:pt x="1205" y="564"/>
                </a:lnTo>
                <a:lnTo>
                  <a:pt x="1210" y="564"/>
                </a:lnTo>
              </a:path>
            </a:pathLst>
          </a:custGeom>
          <a:noFill/>
          <a:ln w="28575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5848928"/>
            <a:ext cx="9144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4572000" y="1551709"/>
            <a:ext cx="0" cy="4259906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" name="Group 2"/>
          <p:cNvGrpSpPr/>
          <p:nvPr/>
        </p:nvGrpSpPr>
        <p:grpSpPr>
          <a:xfrm>
            <a:off x="3202301" y="3422064"/>
            <a:ext cx="2775012" cy="2898376"/>
            <a:chOff x="3202301" y="3422064"/>
            <a:chExt cx="2775012" cy="2898376"/>
          </a:xfrm>
        </p:grpSpPr>
        <p:cxnSp>
          <p:nvCxnSpPr>
            <p:cNvPr id="18" name="Straight Connector 17"/>
            <p:cNvCxnSpPr/>
            <p:nvPr/>
          </p:nvCxnSpPr>
          <p:spPr>
            <a:xfrm flipV="1">
              <a:off x="5666504" y="3422064"/>
              <a:ext cx="0" cy="2412000"/>
            </a:xfrm>
            <a:prstGeom prst="line">
              <a:avLst/>
            </a:prstGeom>
            <a:ln w="28575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3509815" y="3482104"/>
              <a:ext cx="0" cy="2412000"/>
            </a:xfrm>
            <a:prstGeom prst="line">
              <a:avLst/>
            </a:prstGeom>
            <a:ln w="28575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5" name="Group 4"/>
            <p:cNvGrpSpPr/>
            <p:nvPr/>
          </p:nvGrpSpPr>
          <p:grpSpPr>
            <a:xfrm>
              <a:off x="3202301" y="5578764"/>
              <a:ext cx="2775012" cy="741676"/>
              <a:chOff x="3202301" y="5578764"/>
              <a:chExt cx="2775012" cy="741676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5356630" y="5916837"/>
                <a:ext cx="6206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kern="1400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µ+σ</a:t>
                </a:r>
                <a:endParaRPr lang="en-GB" dirty="0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3202301" y="5951108"/>
                <a:ext cx="57900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kern="1400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µ-σ</a:t>
                </a:r>
                <a:endParaRPr lang="en-GB" dirty="0"/>
              </a:p>
            </p:txBody>
          </p:sp>
          <p:cxnSp>
            <p:nvCxnSpPr>
              <p:cNvPr id="26" name="Straight Connector 25"/>
              <p:cNvCxnSpPr/>
              <p:nvPr/>
            </p:nvCxnSpPr>
            <p:spPr>
              <a:xfrm>
                <a:off x="3537526" y="5578764"/>
                <a:ext cx="2088000" cy="0"/>
              </a:xfrm>
              <a:prstGeom prst="line">
                <a:avLst/>
              </a:prstGeom>
              <a:ln w="19050">
                <a:headEnd type="arrow" w="med" len="med"/>
                <a:tailEnd type="arrow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" name="Group 3"/>
          <p:cNvGrpSpPr/>
          <p:nvPr/>
        </p:nvGrpSpPr>
        <p:grpSpPr>
          <a:xfrm>
            <a:off x="3578702" y="3681662"/>
            <a:ext cx="1986596" cy="1058802"/>
            <a:chOff x="5569527" y="2035922"/>
            <a:chExt cx="1986596" cy="1058802"/>
          </a:xfrm>
        </p:grpSpPr>
        <p:sp>
          <p:nvSpPr>
            <p:cNvPr id="24" name="Rectangle 23"/>
            <p:cNvSpPr/>
            <p:nvPr/>
          </p:nvSpPr>
          <p:spPr>
            <a:xfrm>
              <a:off x="5581817" y="2035922"/>
              <a:ext cx="1974306" cy="105880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569527" y="2103658"/>
              <a:ext cx="1977271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Area contains 68% of population</a:t>
              </a:r>
              <a:endParaRPr lang="en-GB" dirty="0"/>
            </a:p>
          </p:txBody>
        </p:sp>
      </p:grpSp>
      <p:sp>
        <p:nvSpPr>
          <p:cNvPr id="27" name="Rectangle 26"/>
          <p:cNvSpPr/>
          <p:nvPr/>
        </p:nvSpPr>
        <p:spPr>
          <a:xfrm>
            <a:off x="5902988" y="1786444"/>
            <a:ext cx="3241012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8595">
              <a:lnSpc>
                <a:spcPct val="150000"/>
              </a:lnSpc>
              <a:spcAft>
                <a:spcPts val="600"/>
              </a:spcAft>
            </a:pP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This is called a </a:t>
            </a:r>
            <a:r>
              <a:rPr lang="en-US" b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reference range, </a:t>
            </a: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 this example, it is the range in which 68% of the population lie.</a:t>
            </a:r>
            <a:endParaRPr lang="en-GB" sz="5400" kern="1400" dirty="0">
              <a:solidFill>
                <a:srgbClr val="2A7B88"/>
              </a:solidFill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4481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23365" y="492908"/>
            <a:ext cx="774550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8595">
              <a:lnSpc>
                <a:spcPct val="150000"/>
              </a:lnSpc>
              <a:spcAft>
                <a:spcPts val="600"/>
              </a:spcAft>
            </a:pP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Normal distribution is described by parameters </a:t>
            </a:r>
            <a:r>
              <a:rPr lang="en-US" b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µ</a:t>
            </a: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and </a:t>
            </a:r>
            <a:r>
              <a:rPr lang="en-US" b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σ</a:t>
            </a: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1400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GB" sz="5400" kern="1400" dirty="0">
              <a:solidFill>
                <a:srgbClr val="2A7B88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5746" y="2475914"/>
            <a:ext cx="56698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µ </a:t>
            </a: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</a:t>
            </a:r>
            <a:r>
              <a:rPr lang="en-US" b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population mean</a:t>
            </a:r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4421713" y="5965475"/>
            <a:ext cx="317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µ</a:t>
            </a:r>
            <a:endParaRPr lang="en-GB" dirty="0"/>
          </a:p>
        </p:txBody>
      </p:sp>
      <p:sp>
        <p:nvSpPr>
          <p:cNvPr id="11" name="Rectangle 10"/>
          <p:cNvSpPr/>
          <p:nvPr/>
        </p:nvSpPr>
        <p:spPr>
          <a:xfrm>
            <a:off x="254187" y="1463279"/>
            <a:ext cx="30893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σ</a:t>
            </a: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the </a:t>
            </a:r>
            <a:r>
              <a:rPr lang="en-US" b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population standard deviation</a:t>
            </a: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en-GB" dirty="0"/>
          </a:p>
        </p:txBody>
      </p:sp>
      <p:sp>
        <p:nvSpPr>
          <p:cNvPr id="12" name="Freeform 38"/>
          <p:cNvSpPr>
            <a:spLocks/>
          </p:cNvSpPr>
          <p:nvPr/>
        </p:nvSpPr>
        <p:spPr bwMode="auto">
          <a:xfrm>
            <a:off x="-1285441" y="1617368"/>
            <a:ext cx="10512565" cy="4194247"/>
          </a:xfrm>
          <a:custGeom>
            <a:avLst/>
            <a:gdLst>
              <a:gd name="T0" fmla="*/ 16 w 1210"/>
              <a:gd name="T1" fmla="*/ 564 h 564"/>
              <a:gd name="T2" fmla="*/ 36 w 1210"/>
              <a:gd name="T3" fmla="*/ 564 h 564"/>
              <a:gd name="T4" fmla="*/ 57 w 1210"/>
              <a:gd name="T5" fmla="*/ 564 h 564"/>
              <a:gd name="T6" fmla="*/ 77 w 1210"/>
              <a:gd name="T7" fmla="*/ 564 h 564"/>
              <a:gd name="T8" fmla="*/ 97 w 1210"/>
              <a:gd name="T9" fmla="*/ 564 h 564"/>
              <a:gd name="T10" fmla="*/ 117 w 1210"/>
              <a:gd name="T11" fmla="*/ 564 h 564"/>
              <a:gd name="T12" fmla="*/ 138 w 1210"/>
              <a:gd name="T13" fmla="*/ 564 h 564"/>
              <a:gd name="T14" fmla="*/ 158 w 1210"/>
              <a:gd name="T15" fmla="*/ 564 h 564"/>
              <a:gd name="T16" fmla="*/ 178 w 1210"/>
              <a:gd name="T17" fmla="*/ 564 h 564"/>
              <a:gd name="T18" fmla="*/ 198 w 1210"/>
              <a:gd name="T19" fmla="*/ 564 h 564"/>
              <a:gd name="T20" fmla="*/ 219 w 1210"/>
              <a:gd name="T21" fmla="*/ 564 h 564"/>
              <a:gd name="T22" fmla="*/ 239 w 1210"/>
              <a:gd name="T23" fmla="*/ 564 h 564"/>
              <a:gd name="T24" fmla="*/ 259 w 1210"/>
              <a:gd name="T25" fmla="*/ 564 h 564"/>
              <a:gd name="T26" fmla="*/ 279 w 1210"/>
              <a:gd name="T27" fmla="*/ 563 h 564"/>
              <a:gd name="T28" fmla="*/ 299 w 1210"/>
              <a:gd name="T29" fmla="*/ 562 h 564"/>
              <a:gd name="T30" fmla="*/ 320 w 1210"/>
              <a:gd name="T31" fmla="*/ 560 h 564"/>
              <a:gd name="T32" fmla="*/ 340 w 1210"/>
              <a:gd name="T33" fmla="*/ 557 h 564"/>
              <a:gd name="T34" fmla="*/ 360 w 1210"/>
              <a:gd name="T35" fmla="*/ 551 h 564"/>
              <a:gd name="T36" fmla="*/ 380 w 1210"/>
              <a:gd name="T37" fmla="*/ 544 h 564"/>
              <a:gd name="T38" fmla="*/ 401 w 1210"/>
              <a:gd name="T39" fmla="*/ 532 h 564"/>
              <a:gd name="T40" fmla="*/ 421 w 1210"/>
              <a:gd name="T41" fmla="*/ 516 h 564"/>
              <a:gd name="T42" fmla="*/ 441 w 1210"/>
              <a:gd name="T43" fmla="*/ 495 h 564"/>
              <a:gd name="T44" fmla="*/ 461 w 1210"/>
              <a:gd name="T45" fmla="*/ 466 h 564"/>
              <a:gd name="T46" fmla="*/ 481 w 1210"/>
              <a:gd name="T47" fmla="*/ 430 h 564"/>
              <a:gd name="T48" fmla="*/ 502 w 1210"/>
              <a:gd name="T49" fmla="*/ 386 h 564"/>
              <a:gd name="T50" fmla="*/ 522 w 1210"/>
              <a:gd name="T51" fmla="*/ 335 h 564"/>
              <a:gd name="T52" fmla="*/ 542 w 1210"/>
              <a:gd name="T53" fmla="*/ 279 h 564"/>
              <a:gd name="T54" fmla="*/ 562 w 1210"/>
              <a:gd name="T55" fmla="*/ 219 h 564"/>
              <a:gd name="T56" fmla="*/ 583 w 1210"/>
              <a:gd name="T57" fmla="*/ 160 h 564"/>
              <a:gd name="T58" fmla="*/ 603 w 1210"/>
              <a:gd name="T59" fmla="*/ 104 h 564"/>
              <a:gd name="T60" fmla="*/ 623 w 1210"/>
              <a:gd name="T61" fmla="*/ 58 h 564"/>
              <a:gd name="T62" fmla="*/ 643 w 1210"/>
              <a:gd name="T63" fmla="*/ 23 h 564"/>
              <a:gd name="T64" fmla="*/ 663 w 1210"/>
              <a:gd name="T65" fmla="*/ 4 h 564"/>
              <a:gd name="T66" fmla="*/ 684 w 1210"/>
              <a:gd name="T67" fmla="*/ 2 h 564"/>
              <a:gd name="T68" fmla="*/ 704 w 1210"/>
              <a:gd name="T69" fmla="*/ 17 h 564"/>
              <a:gd name="T70" fmla="*/ 724 w 1210"/>
              <a:gd name="T71" fmla="*/ 47 h 564"/>
              <a:gd name="T72" fmla="*/ 744 w 1210"/>
              <a:gd name="T73" fmla="*/ 91 h 564"/>
              <a:gd name="T74" fmla="*/ 765 w 1210"/>
              <a:gd name="T75" fmla="*/ 144 h 564"/>
              <a:gd name="T76" fmla="*/ 785 w 1210"/>
              <a:gd name="T77" fmla="*/ 203 h 564"/>
              <a:gd name="T78" fmla="*/ 805 w 1210"/>
              <a:gd name="T79" fmla="*/ 263 h 564"/>
              <a:gd name="T80" fmla="*/ 825 w 1210"/>
              <a:gd name="T81" fmla="*/ 321 h 564"/>
              <a:gd name="T82" fmla="*/ 845 w 1210"/>
              <a:gd name="T83" fmla="*/ 373 h 564"/>
              <a:gd name="T84" fmla="*/ 866 w 1210"/>
              <a:gd name="T85" fmla="*/ 419 h 564"/>
              <a:gd name="T86" fmla="*/ 886 w 1210"/>
              <a:gd name="T87" fmla="*/ 457 h 564"/>
              <a:gd name="T88" fmla="*/ 906 w 1210"/>
              <a:gd name="T89" fmla="*/ 488 h 564"/>
              <a:gd name="T90" fmla="*/ 926 w 1210"/>
              <a:gd name="T91" fmla="*/ 511 h 564"/>
              <a:gd name="T92" fmla="*/ 947 w 1210"/>
              <a:gd name="T93" fmla="*/ 529 h 564"/>
              <a:gd name="T94" fmla="*/ 967 w 1210"/>
              <a:gd name="T95" fmla="*/ 541 h 564"/>
              <a:gd name="T96" fmla="*/ 987 w 1210"/>
              <a:gd name="T97" fmla="*/ 550 h 564"/>
              <a:gd name="T98" fmla="*/ 1007 w 1210"/>
              <a:gd name="T99" fmla="*/ 555 h 564"/>
              <a:gd name="T100" fmla="*/ 1027 w 1210"/>
              <a:gd name="T101" fmla="*/ 559 h 564"/>
              <a:gd name="T102" fmla="*/ 1048 w 1210"/>
              <a:gd name="T103" fmla="*/ 561 h 564"/>
              <a:gd name="T104" fmla="*/ 1068 w 1210"/>
              <a:gd name="T105" fmla="*/ 563 h 564"/>
              <a:gd name="T106" fmla="*/ 1088 w 1210"/>
              <a:gd name="T107" fmla="*/ 563 h 564"/>
              <a:gd name="T108" fmla="*/ 1108 w 1210"/>
              <a:gd name="T109" fmla="*/ 564 h 564"/>
              <a:gd name="T110" fmla="*/ 1129 w 1210"/>
              <a:gd name="T111" fmla="*/ 564 h 564"/>
              <a:gd name="T112" fmla="*/ 1149 w 1210"/>
              <a:gd name="T113" fmla="*/ 564 h 564"/>
              <a:gd name="T114" fmla="*/ 1169 w 1210"/>
              <a:gd name="T115" fmla="*/ 564 h 564"/>
              <a:gd name="T116" fmla="*/ 1189 w 1210"/>
              <a:gd name="T117" fmla="*/ 564 h 564"/>
              <a:gd name="T118" fmla="*/ 1210 w 1210"/>
              <a:gd name="T119" fmla="*/ 564 h 5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210" h="564">
                <a:moveTo>
                  <a:pt x="0" y="564"/>
                </a:moveTo>
                <a:lnTo>
                  <a:pt x="4" y="564"/>
                </a:lnTo>
                <a:lnTo>
                  <a:pt x="8" y="564"/>
                </a:lnTo>
                <a:lnTo>
                  <a:pt x="12" y="564"/>
                </a:lnTo>
                <a:lnTo>
                  <a:pt x="16" y="564"/>
                </a:lnTo>
                <a:lnTo>
                  <a:pt x="20" y="564"/>
                </a:lnTo>
                <a:lnTo>
                  <a:pt x="24" y="564"/>
                </a:lnTo>
                <a:lnTo>
                  <a:pt x="28" y="564"/>
                </a:lnTo>
                <a:lnTo>
                  <a:pt x="32" y="564"/>
                </a:lnTo>
                <a:lnTo>
                  <a:pt x="36" y="564"/>
                </a:lnTo>
                <a:lnTo>
                  <a:pt x="41" y="564"/>
                </a:lnTo>
                <a:lnTo>
                  <a:pt x="45" y="564"/>
                </a:lnTo>
                <a:lnTo>
                  <a:pt x="49" y="564"/>
                </a:lnTo>
                <a:lnTo>
                  <a:pt x="53" y="564"/>
                </a:lnTo>
                <a:lnTo>
                  <a:pt x="57" y="564"/>
                </a:lnTo>
                <a:lnTo>
                  <a:pt x="61" y="564"/>
                </a:lnTo>
                <a:lnTo>
                  <a:pt x="65" y="564"/>
                </a:lnTo>
                <a:lnTo>
                  <a:pt x="69" y="564"/>
                </a:lnTo>
                <a:lnTo>
                  <a:pt x="73" y="564"/>
                </a:lnTo>
                <a:lnTo>
                  <a:pt x="77" y="564"/>
                </a:lnTo>
                <a:lnTo>
                  <a:pt x="81" y="564"/>
                </a:lnTo>
                <a:lnTo>
                  <a:pt x="85" y="564"/>
                </a:lnTo>
                <a:lnTo>
                  <a:pt x="89" y="564"/>
                </a:lnTo>
                <a:lnTo>
                  <a:pt x="93" y="564"/>
                </a:lnTo>
                <a:lnTo>
                  <a:pt x="97" y="564"/>
                </a:lnTo>
                <a:lnTo>
                  <a:pt x="101" y="564"/>
                </a:lnTo>
                <a:lnTo>
                  <a:pt x="105" y="564"/>
                </a:lnTo>
                <a:lnTo>
                  <a:pt x="109" y="564"/>
                </a:lnTo>
                <a:lnTo>
                  <a:pt x="113" y="564"/>
                </a:lnTo>
                <a:lnTo>
                  <a:pt x="117" y="564"/>
                </a:lnTo>
                <a:lnTo>
                  <a:pt x="121" y="564"/>
                </a:lnTo>
                <a:lnTo>
                  <a:pt x="125" y="564"/>
                </a:lnTo>
                <a:lnTo>
                  <a:pt x="130" y="564"/>
                </a:lnTo>
                <a:lnTo>
                  <a:pt x="134" y="564"/>
                </a:lnTo>
                <a:lnTo>
                  <a:pt x="138" y="564"/>
                </a:lnTo>
                <a:lnTo>
                  <a:pt x="142" y="564"/>
                </a:lnTo>
                <a:lnTo>
                  <a:pt x="146" y="564"/>
                </a:lnTo>
                <a:lnTo>
                  <a:pt x="150" y="564"/>
                </a:lnTo>
                <a:lnTo>
                  <a:pt x="154" y="564"/>
                </a:lnTo>
                <a:lnTo>
                  <a:pt x="158" y="564"/>
                </a:lnTo>
                <a:lnTo>
                  <a:pt x="162" y="564"/>
                </a:lnTo>
                <a:lnTo>
                  <a:pt x="166" y="564"/>
                </a:lnTo>
                <a:lnTo>
                  <a:pt x="170" y="564"/>
                </a:lnTo>
                <a:lnTo>
                  <a:pt x="174" y="564"/>
                </a:lnTo>
                <a:lnTo>
                  <a:pt x="178" y="564"/>
                </a:lnTo>
                <a:lnTo>
                  <a:pt x="182" y="564"/>
                </a:lnTo>
                <a:lnTo>
                  <a:pt x="186" y="564"/>
                </a:lnTo>
                <a:lnTo>
                  <a:pt x="190" y="564"/>
                </a:lnTo>
                <a:lnTo>
                  <a:pt x="194" y="564"/>
                </a:lnTo>
                <a:lnTo>
                  <a:pt x="198" y="564"/>
                </a:lnTo>
                <a:lnTo>
                  <a:pt x="202" y="564"/>
                </a:lnTo>
                <a:lnTo>
                  <a:pt x="206" y="564"/>
                </a:lnTo>
                <a:lnTo>
                  <a:pt x="210" y="564"/>
                </a:lnTo>
                <a:lnTo>
                  <a:pt x="214" y="564"/>
                </a:lnTo>
                <a:lnTo>
                  <a:pt x="219" y="564"/>
                </a:lnTo>
                <a:lnTo>
                  <a:pt x="223" y="564"/>
                </a:lnTo>
                <a:lnTo>
                  <a:pt x="227" y="564"/>
                </a:lnTo>
                <a:lnTo>
                  <a:pt x="231" y="564"/>
                </a:lnTo>
                <a:lnTo>
                  <a:pt x="235" y="564"/>
                </a:lnTo>
                <a:lnTo>
                  <a:pt x="239" y="564"/>
                </a:lnTo>
                <a:lnTo>
                  <a:pt x="243" y="564"/>
                </a:lnTo>
                <a:lnTo>
                  <a:pt x="247" y="564"/>
                </a:lnTo>
                <a:lnTo>
                  <a:pt x="251" y="564"/>
                </a:lnTo>
                <a:lnTo>
                  <a:pt x="255" y="564"/>
                </a:lnTo>
                <a:lnTo>
                  <a:pt x="259" y="564"/>
                </a:lnTo>
                <a:lnTo>
                  <a:pt x="263" y="563"/>
                </a:lnTo>
                <a:lnTo>
                  <a:pt x="267" y="563"/>
                </a:lnTo>
                <a:lnTo>
                  <a:pt x="271" y="563"/>
                </a:lnTo>
                <a:lnTo>
                  <a:pt x="275" y="563"/>
                </a:lnTo>
                <a:lnTo>
                  <a:pt x="279" y="563"/>
                </a:lnTo>
                <a:lnTo>
                  <a:pt x="283" y="563"/>
                </a:lnTo>
                <a:lnTo>
                  <a:pt x="287" y="563"/>
                </a:lnTo>
                <a:lnTo>
                  <a:pt x="291" y="562"/>
                </a:lnTo>
                <a:lnTo>
                  <a:pt x="295" y="562"/>
                </a:lnTo>
                <a:lnTo>
                  <a:pt x="299" y="562"/>
                </a:lnTo>
                <a:lnTo>
                  <a:pt x="303" y="561"/>
                </a:lnTo>
                <a:lnTo>
                  <a:pt x="307" y="561"/>
                </a:lnTo>
                <a:lnTo>
                  <a:pt x="312" y="561"/>
                </a:lnTo>
                <a:lnTo>
                  <a:pt x="316" y="560"/>
                </a:lnTo>
                <a:lnTo>
                  <a:pt x="320" y="560"/>
                </a:lnTo>
                <a:lnTo>
                  <a:pt x="324" y="559"/>
                </a:lnTo>
                <a:lnTo>
                  <a:pt x="328" y="559"/>
                </a:lnTo>
                <a:lnTo>
                  <a:pt x="332" y="558"/>
                </a:lnTo>
                <a:lnTo>
                  <a:pt x="336" y="557"/>
                </a:lnTo>
                <a:lnTo>
                  <a:pt x="340" y="557"/>
                </a:lnTo>
                <a:lnTo>
                  <a:pt x="344" y="556"/>
                </a:lnTo>
                <a:lnTo>
                  <a:pt x="348" y="555"/>
                </a:lnTo>
                <a:lnTo>
                  <a:pt x="352" y="554"/>
                </a:lnTo>
                <a:lnTo>
                  <a:pt x="356" y="553"/>
                </a:lnTo>
                <a:lnTo>
                  <a:pt x="360" y="551"/>
                </a:lnTo>
                <a:lnTo>
                  <a:pt x="364" y="550"/>
                </a:lnTo>
                <a:lnTo>
                  <a:pt x="368" y="549"/>
                </a:lnTo>
                <a:lnTo>
                  <a:pt x="372" y="547"/>
                </a:lnTo>
                <a:lnTo>
                  <a:pt x="376" y="546"/>
                </a:lnTo>
                <a:lnTo>
                  <a:pt x="380" y="544"/>
                </a:lnTo>
                <a:lnTo>
                  <a:pt x="384" y="542"/>
                </a:lnTo>
                <a:lnTo>
                  <a:pt x="388" y="540"/>
                </a:lnTo>
                <a:lnTo>
                  <a:pt x="392" y="537"/>
                </a:lnTo>
                <a:lnTo>
                  <a:pt x="396" y="535"/>
                </a:lnTo>
                <a:lnTo>
                  <a:pt x="401" y="532"/>
                </a:lnTo>
                <a:lnTo>
                  <a:pt x="405" y="530"/>
                </a:lnTo>
                <a:lnTo>
                  <a:pt x="409" y="527"/>
                </a:lnTo>
                <a:lnTo>
                  <a:pt x="413" y="524"/>
                </a:lnTo>
                <a:lnTo>
                  <a:pt x="417" y="520"/>
                </a:lnTo>
                <a:lnTo>
                  <a:pt x="421" y="516"/>
                </a:lnTo>
                <a:lnTo>
                  <a:pt x="425" y="513"/>
                </a:lnTo>
                <a:lnTo>
                  <a:pt x="429" y="509"/>
                </a:lnTo>
                <a:lnTo>
                  <a:pt x="433" y="504"/>
                </a:lnTo>
                <a:lnTo>
                  <a:pt x="437" y="500"/>
                </a:lnTo>
                <a:lnTo>
                  <a:pt x="441" y="495"/>
                </a:lnTo>
                <a:lnTo>
                  <a:pt x="445" y="490"/>
                </a:lnTo>
                <a:lnTo>
                  <a:pt x="449" y="484"/>
                </a:lnTo>
                <a:lnTo>
                  <a:pt x="453" y="478"/>
                </a:lnTo>
                <a:lnTo>
                  <a:pt x="457" y="472"/>
                </a:lnTo>
                <a:lnTo>
                  <a:pt x="461" y="466"/>
                </a:lnTo>
                <a:lnTo>
                  <a:pt x="465" y="459"/>
                </a:lnTo>
                <a:lnTo>
                  <a:pt x="469" y="453"/>
                </a:lnTo>
                <a:lnTo>
                  <a:pt x="473" y="445"/>
                </a:lnTo>
                <a:lnTo>
                  <a:pt x="477" y="438"/>
                </a:lnTo>
                <a:lnTo>
                  <a:pt x="481" y="430"/>
                </a:lnTo>
                <a:lnTo>
                  <a:pt x="485" y="422"/>
                </a:lnTo>
                <a:lnTo>
                  <a:pt x="490" y="413"/>
                </a:lnTo>
                <a:lnTo>
                  <a:pt x="494" y="404"/>
                </a:lnTo>
                <a:lnTo>
                  <a:pt x="498" y="395"/>
                </a:lnTo>
                <a:lnTo>
                  <a:pt x="502" y="386"/>
                </a:lnTo>
                <a:lnTo>
                  <a:pt x="506" y="376"/>
                </a:lnTo>
                <a:lnTo>
                  <a:pt x="510" y="366"/>
                </a:lnTo>
                <a:lnTo>
                  <a:pt x="514" y="356"/>
                </a:lnTo>
                <a:lnTo>
                  <a:pt x="518" y="346"/>
                </a:lnTo>
                <a:lnTo>
                  <a:pt x="522" y="335"/>
                </a:lnTo>
                <a:lnTo>
                  <a:pt x="526" y="324"/>
                </a:lnTo>
                <a:lnTo>
                  <a:pt x="530" y="313"/>
                </a:lnTo>
                <a:lnTo>
                  <a:pt x="534" y="302"/>
                </a:lnTo>
                <a:lnTo>
                  <a:pt x="538" y="290"/>
                </a:lnTo>
                <a:lnTo>
                  <a:pt x="542" y="279"/>
                </a:lnTo>
                <a:lnTo>
                  <a:pt x="546" y="267"/>
                </a:lnTo>
                <a:lnTo>
                  <a:pt x="550" y="255"/>
                </a:lnTo>
                <a:lnTo>
                  <a:pt x="554" y="243"/>
                </a:lnTo>
                <a:lnTo>
                  <a:pt x="558" y="231"/>
                </a:lnTo>
                <a:lnTo>
                  <a:pt x="562" y="219"/>
                </a:lnTo>
                <a:lnTo>
                  <a:pt x="566" y="207"/>
                </a:lnTo>
                <a:lnTo>
                  <a:pt x="570" y="195"/>
                </a:lnTo>
                <a:lnTo>
                  <a:pt x="574" y="183"/>
                </a:lnTo>
                <a:lnTo>
                  <a:pt x="579" y="171"/>
                </a:lnTo>
                <a:lnTo>
                  <a:pt x="583" y="160"/>
                </a:lnTo>
                <a:lnTo>
                  <a:pt x="587" y="148"/>
                </a:lnTo>
                <a:lnTo>
                  <a:pt x="591" y="137"/>
                </a:lnTo>
                <a:lnTo>
                  <a:pt x="595" y="126"/>
                </a:lnTo>
                <a:lnTo>
                  <a:pt x="599" y="115"/>
                </a:lnTo>
                <a:lnTo>
                  <a:pt x="603" y="104"/>
                </a:lnTo>
                <a:lnTo>
                  <a:pt x="607" y="94"/>
                </a:lnTo>
                <a:lnTo>
                  <a:pt x="611" y="84"/>
                </a:lnTo>
                <a:lnTo>
                  <a:pt x="615" y="75"/>
                </a:lnTo>
                <a:lnTo>
                  <a:pt x="619" y="66"/>
                </a:lnTo>
                <a:lnTo>
                  <a:pt x="623" y="58"/>
                </a:lnTo>
                <a:lnTo>
                  <a:pt x="627" y="50"/>
                </a:lnTo>
                <a:lnTo>
                  <a:pt x="631" y="42"/>
                </a:lnTo>
                <a:lnTo>
                  <a:pt x="635" y="35"/>
                </a:lnTo>
                <a:lnTo>
                  <a:pt x="639" y="29"/>
                </a:lnTo>
                <a:lnTo>
                  <a:pt x="643" y="23"/>
                </a:lnTo>
                <a:lnTo>
                  <a:pt x="647" y="18"/>
                </a:lnTo>
                <a:lnTo>
                  <a:pt x="651" y="14"/>
                </a:lnTo>
                <a:lnTo>
                  <a:pt x="655" y="10"/>
                </a:lnTo>
                <a:lnTo>
                  <a:pt x="659" y="6"/>
                </a:lnTo>
                <a:lnTo>
                  <a:pt x="663" y="4"/>
                </a:lnTo>
                <a:lnTo>
                  <a:pt x="667" y="2"/>
                </a:lnTo>
                <a:lnTo>
                  <a:pt x="672" y="1"/>
                </a:lnTo>
                <a:lnTo>
                  <a:pt x="676" y="0"/>
                </a:lnTo>
                <a:lnTo>
                  <a:pt x="680" y="1"/>
                </a:lnTo>
                <a:lnTo>
                  <a:pt x="684" y="2"/>
                </a:lnTo>
                <a:lnTo>
                  <a:pt x="688" y="3"/>
                </a:lnTo>
                <a:lnTo>
                  <a:pt x="692" y="6"/>
                </a:lnTo>
                <a:lnTo>
                  <a:pt x="696" y="9"/>
                </a:lnTo>
                <a:lnTo>
                  <a:pt x="700" y="12"/>
                </a:lnTo>
                <a:lnTo>
                  <a:pt x="704" y="17"/>
                </a:lnTo>
                <a:lnTo>
                  <a:pt x="708" y="21"/>
                </a:lnTo>
                <a:lnTo>
                  <a:pt x="712" y="27"/>
                </a:lnTo>
                <a:lnTo>
                  <a:pt x="716" y="33"/>
                </a:lnTo>
                <a:lnTo>
                  <a:pt x="720" y="40"/>
                </a:lnTo>
                <a:lnTo>
                  <a:pt x="724" y="47"/>
                </a:lnTo>
                <a:lnTo>
                  <a:pt x="728" y="55"/>
                </a:lnTo>
                <a:lnTo>
                  <a:pt x="732" y="63"/>
                </a:lnTo>
                <a:lnTo>
                  <a:pt x="736" y="72"/>
                </a:lnTo>
                <a:lnTo>
                  <a:pt x="740" y="82"/>
                </a:lnTo>
                <a:lnTo>
                  <a:pt x="744" y="91"/>
                </a:lnTo>
                <a:lnTo>
                  <a:pt x="748" y="101"/>
                </a:lnTo>
                <a:lnTo>
                  <a:pt x="752" y="112"/>
                </a:lnTo>
                <a:lnTo>
                  <a:pt x="756" y="122"/>
                </a:lnTo>
                <a:lnTo>
                  <a:pt x="761" y="133"/>
                </a:lnTo>
                <a:lnTo>
                  <a:pt x="765" y="144"/>
                </a:lnTo>
                <a:lnTo>
                  <a:pt x="769" y="156"/>
                </a:lnTo>
                <a:lnTo>
                  <a:pt x="773" y="168"/>
                </a:lnTo>
                <a:lnTo>
                  <a:pt x="777" y="179"/>
                </a:lnTo>
                <a:lnTo>
                  <a:pt x="781" y="191"/>
                </a:lnTo>
                <a:lnTo>
                  <a:pt x="785" y="203"/>
                </a:lnTo>
                <a:lnTo>
                  <a:pt x="789" y="215"/>
                </a:lnTo>
                <a:lnTo>
                  <a:pt x="793" y="227"/>
                </a:lnTo>
                <a:lnTo>
                  <a:pt x="797" y="239"/>
                </a:lnTo>
                <a:lnTo>
                  <a:pt x="801" y="251"/>
                </a:lnTo>
                <a:lnTo>
                  <a:pt x="805" y="263"/>
                </a:lnTo>
                <a:lnTo>
                  <a:pt x="809" y="275"/>
                </a:lnTo>
                <a:lnTo>
                  <a:pt x="813" y="287"/>
                </a:lnTo>
                <a:lnTo>
                  <a:pt x="817" y="298"/>
                </a:lnTo>
                <a:lnTo>
                  <a:pt x="821" y="309"/>
                </a:lnTo>
                <a:lnTo>
                  <a:pt x="825" y="321"/>
                </a:lnTo>
                <a:lnTo>
                  <a:pt x="829" y="332"/>
                </a:lnTo>
                <a:lnTo>
                  <a:pt x="833" y="342"/>
                </a:lnTo>
                <a:lnTo>
                  <a:pt x="837" y="353"/>
                </a:lnTo>
                <a:lnTo>
                  <a:pt x="841" y="363"/>
                </a:lnTo>
                <a:lnTo>
                  <a:pt x="845" y="373"/>
                </a:lnTo>
                <a:lnTo>
                  <a:pt x="850" y="383"/>
                </a:lnTo>
                <a:lnTo>
                  <a:pt x="854" y="392"/>
                </a:lnTo>
                <a:lnTo>
                  <a:pt x="858" y="402"/>
                </a:lnTo>
                <a:lnTo>
                  <a:pt x="862" y="411"/>
                </a:lnTo>
                <a:lnTo>
                  <a:pt x="866" y="419"/>
                </a:lnTo>
                <a:lnTo>
                  <a:pt x="870" y="427"/>
                </a:lnTo>
                <a:lnTo>
                  <a:pt x="874" y="435"/>
                </a:lnTo>
                <a:lnTo>
                  <a:pt x="878" y="443"/>
                </a:lnTo>
                <a:lnTo>
                  <a:pt x="882" y="450"/>
                </a:lnTo>
                <a:lnTo>
                  <a:pt x="886" y="457"/>
                </a:lnTo>
                <a:lnTo>
                  <a:pt x="890" y="464"/>
                </a:lnTo>
                <a:lnTo>
                  <a:pt x="894" y="470"/>
                </a:lnTo>
                <a:lnTo>
                  <a:pt x="898" y="477"/>
                </a:lnTo>
                <a:lnTo>
                  <a:pt x="902" y="482"/>
                </a:lnTo>
                <a:lnTo>
                  <a:pt x="906" y="488"/>
                </a:lnTo>
                <a:lnTo>
                  <a:pt x="910" y="493"/>
                </a:lnTo>
                <a:lnTo>
                  <a:pt x="914" y="498"/>
                </a:lnTo>
                <a:lnTo>
                  <a:pt x="918" y="503"/>
                </a:lnTo>
                <a:lnTo>
                  <a:pt x="922" y="507"/>
                </a:lnTo>
                <a:lnTo>
                  <a:pt x="926" y="511"/>
                </a:lnTo>
                <a:lnTo>
                  <a:pt x="930" y="515"/>
                </a:lnTo>
                <a:lnTo>
                  <a:pt x="934" y="519"/>
                </a:lnTo>
                <a:lnTo>
                  <a:pt x="938" y="522"/>
                </a:lnTo>
                <a:lnTo>
                  <a:pt x="943" y="526"/>
                </a:lnTo>
                <a:lnTo>
                  <a:pt x="947" y="529"/>
                </a:lnTo>
                <a:lnTo>
                  <a:pt x="951" y="532"/>
                </a:lnTo>
                <a:lnTo>
                  <a:pt x="955" y="534"/>
                </a:lnTo>
                <a:lnTo>
                  <a:pt x="959" y="537"/>
                </a:lnTo>
                <a:lnTo>
                  <a:pt x="963" y="539"/>
                </a:lnTo>
                <a:lnTo>
                  <a:pt x="967" y="541"/>
                </a:lnTo>
                <a:lnTo>
                  <a:pt x="971" y="543"/>
                </a:lnTo>
                <a:lnTo>
                  <a:pt x="975" y="545"/>
                </a:lnTo>
                <a:lnTo>
                  <a:pt x="979" y="547"/>
                </a:lnTo>
                <a:lnTo>
                  <a:pt x="983" y="548"/>
                </a:lnTo>
                <a:lnTo>
                  <a:pt x="987" y="550"/>
                </a:lnTo>
                <a:lnTo>
                  <a:pt x="991" y="551"/>
                </a:lnTo>
                <a:lnTo>
                  <a:pt x="995" y="552"/>
                </a:lnTo>
                <a:lnTo>
                  <a:pt x="999" y="553"/>
                </a:lnTo>
                <a:lnTo>
                  <a:pt x="1003" y="554"/>
                </a:lnTo>
                <a:lnTo>
                  <a:pt x="1007" y="555"/>
                </a:lnTo>
                <a:lnTo>
                  <a:pt x="1011" y="556"/>
                </a:lnTo>
                <a:lnTo>
                  <a:pt x="1015" y="557"/>
                </a:lnTo>
                <a:lnTo>
                  <a:pt x="1019" y="558"/>
                </a:lnTo>
                <a:lnTo>
                  <a:pt x="1023" y="558"/>
                </a:lnTo>
                <a:lnTo>
                  <a:pt x="1027" y="559"/>
                </a:lnTo>
                <a:lnTo>
                  <a:pt x="1032" y="560"/>
                </a:lnTo>
                <a:lnTo>
                  <a:pt x="1036" y="560"/>
                </a:lnTo>
                <a:lnTo>
                  <a:pt x="1040" y="561"/>
                </a:lnTo>
                <a:lnTo>
                  <a:pt x="1044" y="561"/>
                </a:lnTo>
                <a:lnTo>
                  <a:pt x="1048" y="561"/>
                </a:lnTo>
                <a:lnTo>
                  <a:pt x="1052" y="562"/>
                </a:lnTo>
                <a:lnTo>
                  <a:pt x="1056" y="562"/>
                </a:lnTo>
                <a:lnTo>
                  <a:pt x="1060" y="562"/>
                </a:lnTo>
                <a:lnTo>
                  <a:pt x="1064" y="562"/>
                </a:lnTo>
                <a:lnTo>
                  <a:pt x="1068" y="563"/>
                </a:lnTo>
                <a:lnTo>
                  <a:pt x="1072" y="563"/>
                </a:lnTo>
                <a:lnTo>
                  <a:pt x="1076" y="563"/>
                </a:lnTo>
                <a:lnTo>
                  <a:pt x="1080" y="563"/>
                </a:lnTo>
                <a:lnTo>
                  <a:pt x="1084" y="563"/>
                </a:lnTo>
                <a:lnTo>
                  <a:pt x="1088" y="563"/>
                </a:lnTo>
                <a:lnTo>
                  <a:pt x="1092" y="564"/>
                </a:lnTo>
                <a:lnTo>
                  <a:pt x="1096" y="564"/>
                </a:lnTo>
                <a:lnTo>
                  <a:pt x="1100" y="564"/>
                </a:lnTo>
                <a:lnTo>
                  <a:pt x="1104" y="564"/>
                </a:lnTo>
                <a:lnTo>
                  <a:pt x="1108" y="564"/>
                </a:lnTo>
                <a:lnTo>
                  <a:pt x="1112" y="564"/>
                </a:lnTo>
                <a:lnTo>
                  <a:pt x="1116" y="564"/>
                </a:lnTo>
                <a:lnTo>
                  <a:pt x="1121" y="564"/>
                </a:lnTo>
                <a:lnTo>
                  <a:pt x="1125" y="564"/>
                </a:lnTo>
                <a:lnTo>
                  <a:pt x="1129" y="564"/>
                </a:lnTo>
                <a:lnTo>
                  <a:pt x="1133" y="564"/>
                </a:lnTo>
                <a:lnTo>
                  <a:pt x="1137" y="564"/>
                </a:lnTo>
                <a:lnTo>
                  <a:pt x="1141" y="564"/>
                </a:lnTo>
                <a:lnTo>
                  <a:pt x="1145" y="564"/>
                </a:lnTo>
                <a:lnTo>
                  <a:pt x="1149" y="564"/>
                </a:lnTo>
                <a:lnTo>
                  <a:pt x="1153" y="564"/>
                </a:lnTo>
                <a:lnTo>
                  <a:pt x="1157" y="564"/>
                </a:lnTo>
                <a:lnTo>
                  <a:pt x="1161" y="564"/>
                </a:lnTo>
                <a:lnTo>
                  <a:pt x="1165" y="564"/>
                </a:lnTo>
                <a:lnTo>
                  <a:pt x="1169" y="564"/>
                </a:lnTo>
                <a:lnTo>
                  <a:pt x="1173" y="564"/>
                </a:lnTo>
                <a:lnTo>
                  <a:pt x="1177" y="564"/>
                </a:lnTo>
                <a:lnTo>
                  <a:pt x="1181" y="564"/>
                </a:lnTo>
                <a:lnTo>
                  <a:pt x="1185" y="564"/>
                </a:lnTo>
                <a:lnTo>
                  <a:pt x="1189" y="564"/>
                </a:lnTo>
                <a:lnTo>
                  <a:pt x="1193" y="564"/>
                </a:lnTo>
                <a:lnTo>
                  <a:pt x="1197" y="564"/>
                </a:lnTo>
                <a:lnTo>
                  <a:pt x="1201" y="564"/>
                </a:lnTo>
                <a:lnTo>
                  <a:pt x="1205" y="564"/>
                </a:lnTo>
                <a:lnTo>
                  <a:pt x="1210" y="564"/>
                </a:lnTo>
              </a:path>
            </a:pathLst>
          </a:custGeom>
          <a:noFill/>
          <a:ln w="28575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5848928"/>
            <a:ext cx="9144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4572000" y="1551709"/>
            <a:ext cx="0" cy="4259906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" name="Group 4"/>
          <p:cNvGrpSpPr/>
          <p:nvPr/>
        </p:nvGrpSpPr>
        <p:grpSpPr>
          <a:xfrm>
            <a:off x="1876252" y="5488928"/>
            <a:ext cx="5746416" cy="806364"/>
            <a:chOff x="1876252" y="5488928"/>
            <a:chExt cx="5746416" cy="806364"/>
          </a:xfrm>
        </p:grpSpPr>
        <p:sp>
          <p:nvSpPr>
            <p:cNvPr id="13" name="Rectangle 12"/>
            <p:cNvSpPr/>
            <p:nvPr/>
          </p:nvSpPr>
          <p:spPr>
            <a:xfrm>
              <a:off x="6548335" y="5925960"/>
              <a:ext cx="107433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µ+1.96σ</a:t>
              </a:r>
              <a:endParaRPr lang="en-GB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876252" y="5894104"/>
              <a:ext cx="103265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µ-1.96σ</a:t>
              </a:r>
              <a:endParaRPr lang="en-GB" dirty="0"/>
            </a:p>
          </p:txBody>
        </p:sp>
        <p:cxnSp>
          <p:nvCxnSpPr>
            <p:cNvPr id="20" name="Straight Connector 19"/>
            <p:cNvCxnSpPr/>
            <p:nvPr/>
          </p:nvCxnSpPr>
          <p:spPr>
            <a:xfrm flipV="1">
              <a:off x="6922652" y="5488928"/>
              <a:ext cx="0" cy="360000"/>
            </a:xfrm>
            <a:prstGeom prst="line">
              <a:avLst/>
            </a:prstGeom>
            <a:ln w="28575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V="1">
              <a:off x="2227225" y="5488928"/>
              <a:ext cx="0" cy="360000"/>
            </a:xfrm>
            <a:prstGeom prst="line">
              <a:avLst/>
            </a:prstGeom>
            <a:ln w="28575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2364509" y="5578764"/>
              <a:ext cx="4451927" cy="0"/>
            </a:xfrm>
            <a:prstGeom prst="line">
              <a:avLst/>
            </a:prstGeom>
            <a:ln w="19050">
              <a:headEnd type="arrow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3343563" y="3987616"/>
            <a:ext cx="2424363" cy="1228437"/>
            <a:chOff x="5992182" y="1911927"/>
            <a:chExt cx="2424363" cy="1228437"/>
          </a:xfrm>
        </p:grpSpPr>
        <p:sp>
          <p:nvSpPr>
            <p:cNvPr id="10" name="Rectangle 9"/>
            <p:cNvSpPr/>
            <p:nvPr/>
          </p:nvSpPr>
          <p:spPr>
            <a:xfrm>
              <a:off x="6059055" y="1911927"/>
              <a:ext cx="2290618" cy="122843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992182" y="2229141"/>
              <a:ext cx="2424363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Area contains 95% of population</a:t>
              </a:r>
              <a:endParaRPr lang="en-GB" dirty="0"/>
            </a:p>
          </p:txBody>
        </p:sp>
      </p:grpSp>
      <p:sp>
        <p:nvSpPr>
          <p:cNvPr id="18" name="Rectangle 17"/>
          <p:cNvSpPr/>
          <p:nvPr/>
        </p:nvSpPr>
        <p:spPr>
          <a:xfrm>
            <a:off x="5902988" y="1786444"/>
            <a:ext cx="3241012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8595">
              <a:lnSpc>
                <a:spcPct val="150000"/>
              </a:lnSpc>
              <a:spcAft>
                <a:spcPts val="600"/>
              </a:spcAft>
            </a:pP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This is called a </a:t>
            </a:r>
            <a:r>
              <a:rPr lang="en-US" b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reference range, </a:t>
            </a: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 this example, it is the range in which 95% of the population lie.</a:t>
            </a:r>
            <a:endParaRPr lang="en-GB" sz="5400" kern="1400" dirty="0">
              <a:solidFill>
                <a:srgbClr val="2A7B88"/>
              </a:solidFill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-13221" y="4260706"/>
            <a:ext cx="9133947" cy="1599304"/>
            <a:chOff x="-13221" y="4260706"/>
            <a:chExt cx="9133947" cy="1599304"/>
          </a:xfrm>
        </p:grpSpPr>
        <p:sp>
          <p:nvSpPr>
            <p:cNvPr id="3" name="Freeform 2"/>
            <p:cNvSpPr/>
            <p:nvPr/>
          </p:nvSpPr>
          <p:spPr>
            <a:xfrm>
              <a:off x="6921791" y="5629318"/>
              <a:ext cx="1124929" cy="230692"/>
            </a:xfrm>
            <a:custGeom>
              <a:avLst/>
              <a:gdLst>
                <a:gd name="connsiteX0" fmla="*/ 4789 w 1124929"/>
                <a:gd name="connsiteY0" fmla="*/ 1862 h 230692"/>
                <a:gd name="connsiteX1" fmla="*/ 12409 w 1124929"/>
                <a:gd name="connsiteY1" fmla="*/ 116162 h 230692"/>
                <a:gd name="connsiteX2" fmla="*/ 111469 w 1124929"/>
                <a:gd name="connsiteY2" fmla="*/ 1862 h 230692"/>
                <a:gd name="connsiteX3" fmla="*/ 50509 w 1124929"/>
                <a:gd name="connsiteY3" fmla="*/ 230462 h 230692"/>
                <a:gd name="connsiteX4" fmla="*/ 195289 w 1124929"/>
                <a:gd name="connsiteY4" fmla="*/ 47582 h 230692"/>
                <a:gd name="connsiteX5" fmla="*/ 180049 w 1124929"/>
                <a:gd name="connsiteY5" fmla="*/ 192362 h 230692"/>
                <a:gd name="connsiteX6" fmla="*/ 347689 w 1124929"/>
                <a:gd name="connsiteY6" fmla="*/ 85682 h 230692"/>
                <a:gd name="connsiteX7" fmla="*/ 332449 w 1124929"/>
                <a:gd name="connsiteY7" fmla="*/ 207602 h 230692"/>
                <a:gd name="connsiteX8" fmla="*/ 469609 w 1124929"/>
                <a:gd name="connsiteY8" fmla="*/ 131402 h 230692"/>
                <a:gd name="connsiteX9" fmla="*/ 492469 w 1124929"/>
                <a:gd name="connsiteY9" fmla="*/ 199982 h 230692"/>
                <a:gd name="connsiteX10" fmla="*/ 622009 w 1124929"/>
                <a:gd name="connsiteY10" fmla="*/ 131402 h 230692"/>
                <a:gd name="connsiteX11" fmla="*/ 629629 w 1124929"/>
                <a:gd name="connsiteY11" fmla="*/ 184742 h 230692"/>
                <a:gd name="connsiteX12" fmla="*/ 721069 w 1124929"/>
                <a:gd name="connsiteY12" fmla="*/ 184742 h 230692"/>
                <a:gd name="connsiteX13" fmla="*/ 812509 w 1124929"/>
                <a:gd name="connsiteY13" fmla="*/ 169502 h 230692"/>
                <a:gd name="connsiteX14" fmla="*/ 881089 w 1124929"/>
                <a:gd name="connsiteY14" fmla="*/ 184742 h 230692"/>
                <a:gd name="connsiteX15" fmla="*/ 896329 w 1124929"/>
                <a:gd name="connsiteY15" fmla="*/ 207602 h 230692"/>
                <a:gd name="connsiteX16" fmla="*/ 1056349 w 1124929"/>
                <a:gd name="connsiteY16" fmla="*/ 207602 h 230692"/>
                <a:gd name="connsiteX17" fmla="*/ 1124929 w 1124929"/>
                <a:gd name="connsiteY17" fmla="*/ 199982 h 23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24929" h="230692">
                  <a:moveTo>
                    <a:pt x="4789" y="1862"/>
                  </a:moveTo>
                  <a:cubicBezTo>
                    <a:pt x="-291" y="59012"/>
                    <a:pt x="-5371" y="116162"/>
                    <a:pt x="12409" y="116162"/>
                  </a:cubicBezTo>
                  <a:cubicBezTo>
                    <a:pt x="30189" y="116162"/>
                    <a:pt x="105119" y="-17188"/>
                    <a:pt x="111469" y="1862"/>
                  </a:cubicBezTo>
                  <a:cubicBezTo>
                    <a:pt x="117819" y="20912"/>
                    <a:pt x="36539" y="222842"/>
                    <a:pt x="50509" y="230462"/>
                  </a:cubicBezTo>
                  <a:cubicBezTo>
                    <a:pt x="64479" y="238082"/>
                    <a:pt x="173699" y="53932"/>
                    <a:pt x="195289" y="47582"/>
                  </a:cubicBezTo>
                  <a:cubicBezTo>
                    <a:pt x="216879" y="41232"/>
                    <a:pt x="154649" y="186012"/>
                    <a:pt x="180049" y="192362"/>
                  </a:cubicBezTo>
                  <a:cubicBezTo>
                    <a:pt x="205449" y="198712"/>
                    <a:pt x="322289" y="83142"/>
                    <a:pt x="347689" y="85682"/>
                  </a:cubicBezTo>
                  <a:cubicBezTo>
                    <a:pt x="373089" y="88222"/>
                    <a:pt x="312129" y="199982"/>
                    <a:pt x="332449" y="207602"/>
                  </a:cubicBezTo>
                  <a:cubicBezTo>
                    <a:pt x="352769" y="215222"/>
                    <a:pt x="442939" y="132672"/>
                    <a:pt x="469609" y="131402"/>
                  </a:cubicBezTo>
                  <a:cubicBezTo>
                    <a:pt x="496279" y="130132"/>
                    <a:pt x="467069" y="199982"/>
                    <a:pt x="492469" y="199982"/>
                  </a:cubicBezTo>
                  <a:cubicBezTo>
                    <a:pt x="517869" y="199982"/>
                    <a:pt x="599149" y="133942"/>
                    <a:pt x="622009" y="131402"/>
                  </a:cubicBezTo>
                  <a:cubicBezTo>
                    <a:pt x="644869" y="128862"/>
                    <a:pt x="613119" y="175852"/>
                    <a:pt x="629629" y="184742"/>
                  </a:cubicBezTo>
                  <a:cubicBezTo>
                    <a:pt x="646139" y="193632"/>
                    <a:pt x="690589" y="187282"/>
                    <a:pt x="721069" y="184742"/>
                  </a:cubicBezTo>
                  <a:cubicBezTo>
                    <a:pt x="751549" y="182202"/>
                    <a:pt x="785839" y="169502"/>
                    <a:pt x="812509" y="169502"/>
                  </a:cubicBezTo>
                  <a:cubicBezTo>
                    <a:pt x="839179" y="169502"/>
                    <a:pt x="867119" y="178392"/>
                    <a:pt x="881089" y="184742"/>
                  </a:cubicBezTo>
                  <a:cubicBezTo>
                    <a:pt x="895059" y="191092"/>
                    <a:pt x="867119" y="203792"/>
                    <a:pt x="896329" y="207602"/>
                  </a:cubicBezTo>
                  <a:cubicBezTo>
                    <a:pt x="925539" y="211412"/>
                    <a:pt x="1018249" y="208872"/>
                    <a:pt x="1056349" y="207602"/>
                  </a:cubicBezTo>
                  <a:cubicBezTo>
                    <a:pt x="1094449" y="206332"/>
                    <a:pt x="1109689" y="203157"/>
                    <a:pt x="1124929" y="199982"/>
                  </a:cubicBezTo>
                </a:path>
              </a:pathLst>
            </a:cu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" name="Freeform 3"/>
            <p:cNvSpPr/>
            <p:nvPr/>
          </p:nvSpPr>
          <p:spPr>
            <a:xfrm>
              <a:off x="689501" y="5593080"/>
              <a:ext cx="1559365" cy="266799"/>
            </a:xfrm>
            <a:custGeom>
              <a:avLst/>
              <a:gdLst>
                <a:gd name="connsiteX0" fmla="*/ 1459339 w 1559365"/>
                <a:gd name="connsiteY0" fmla="*/ 0 h 266799"/>
                <a:gd name="connsiteX1" fmla="*/ 1558399 w 1559365"/>
                <a:gd name="connsiteY1" fmla="*/ 106680 h 266799"/>
                <a:gd name="connsiteX2" fmla="*/ 1405999 w 1559365"/>
                <a:gd name="connsiteY2" fmla="*/ 45720 h 266799"/>
                <a:gd name="connsiteX3" fmla="*/ 1535539 w 1559365"/>
                <a:gd name="connsiteY3" fmla="*/ 236220 h 266799"/>
                <a:gd name="connsiteX4" fmla="*/ 1261219 w 1559365"/>
                <a:gd name="connsiteY4" fmla="*/ 76200 h 266799"/>
                <a:gd name="connsiteX5" fmla="*/ 1329799 w 1559365"/>
                <a:gd name="connsiteY5" fmla="*/ 228600 h 266799"/>
                <a:gd name="connsiteX6" fmla="*/ 1200259 w 1559365"/>
                <a:gd name="connsiteY6" fmla="*/ 137160 h 266799"/>
                <a:gd name="connsiteX7" fmla="*/ 1238359 w 1559365"/>
                <a:gd name="connsiteY7" fmla="*/ 266700 h 266799"/>
                <a:gd name="connsiteX8" fmla="*/ 1085959 w 1559365"/>
                <a:gd name="connsiteY8" fmla="*/ 160020 h 266799"/>
                <a:gd name="connsiteX9" fmla="*/ 1101199 w 1559365"/>
                <a:gd name="connsiteY9" fmla="*/ 243840 h 266799"/>
                <a:gd name="connsiteX10" fmla="*/ 994519 w 1559365"/>
                <a:gd name="connsiteY10" fmla="*/ 167640 h 266799"/>
                <a:gd name="connsiteX11" fmla="*/ 994519 w 1559365"/>
                <a:gd name="connsiteY11" fmla="*/ 236220 h 266799"/>
                <a:gd name="connsiteX12" fmla="*/ 864979 w 1559365"/>
                <a:gd name="connsiteY12" fmla="*/ 175260 h 266799"/>
                <a:gd name="connsiteX13" fmla="*/ 864979 w 1559365"/>
                <a:gd name="connsiteY13" fmla="*/ 266700 h 266799"/>
                <a:gd name="connsiteX14" fmla="*/ 773539 w 1559365"/>
                <a:gd name="connsiteY14" fmla="*/ 190500 h 266799"/>
                <a:gd name="connsiteX15" fmla="*/ 743059 w 1559365"/>
                <a:gd name="connsiteY15" fmla="*/ 251460 h 266799"/>
                <a:gd name="connsiteX16" fmla="*/ 605899 w 1559365"/>
                <a:gd name="connsiteY16" fmla="*/ 205740 h 266799"/>
                <a:gd name="connsiteX17" fmla="*/ 598279 w 1559365"/>
                <a:gd name="connsiteY17" fmla="*/ 236220 h 266799"/>
                <a:gd name="connsiteX18" fmla="*/ 438259 w 1559365"/>
                <a:gd name="connsiteY18" fmla="*/ 228600 h 266799"/>
                <a:gd name="connsiteX19" fmla="*/ 354439 w 1559365"/>
                <a:gd name="connsiteY19" fmla="*/ 243840 h 266799"/>
                <a:gd name="connsiteX20" fmla="*/ 308719 w 1559365"/>
                <a:gd name="connsiteY20" fmla="*/ 198120 h 266799"/>
                <a:gd name="connsiteX21" fmla="*/ 125839 w 1559365"/>
                <a:gd name="connsiteY21" fmla="*/ 236220 h 266799"/>
                <a:gd name="connsiteX22" fmla="*/ 11539 w 1559365"/>
                <a:gd name="connsiteY22" fmla="*/ 213360 h 266799"/>
                <a:gd name="connsiteX23" fmla="*/ 3919 w 1559365"/>
                <a:gd name="connsiteY23" fmla="*/ 236220 h 266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59365" h="266799">
                  <a:moveTo>
                    <a:pt x="1459339" y="0"/>
                  </a:moveTo>
                  <a:cubicBezTo>
                    <a:pt x="1513314" y="49530"/>
                    <a:pt x="1567289" y="99060"/>
                    <a:pt x="1558399" y="106680"/>
                  </a:cubicBezTo>
                  <a:cubicBezTo>
                    <a:pt x="1549509" y="114300"/>
                    <a:pt x="1409809" y="24130"/>
                    <a:pt x="1405999" y="45720"/>
                  </a:cubicBezTo>
                  <a:cubicBezTo>
                    <a:pt x="1402189" y="67310"/>
                    <a:pt x="1559669" y="231140"/>
                    <a:pt x="1535539" y="236220"/>
                  </a:cubicBezTo>
                  <a:cubicBezTo>
                    <a:pt x="1511409" y="241300"/>
                    <a:pt x="1295509" y="77470"/>
                    <a:pt x="1261219" y="76200"/>
                  </a:cubicBezTo>
                  <a:cubicBezTo>
                    <a:pt x="1226929" y="74930"/>
                    <a:pt x="1339959" y="218440"/>
                    <a:pt x="1329799" y="228600"/>
                  </a:cubicBezTo>
                  <a:cubicBezTo>
                    <a:pt x="1319639" y="238760"/>
                    <a:pt x="1215499" y="130810"/>
                    <a:pt x="1200259" y="137160"/>
                  </a:cubicBezTo>
                  <a:cubicBezTo>
                    <a:pt x="1185019" y="143510"/>
                    <a:pt x="1257409" y="262890"/>
                    <a:pt x="1238359" y="266700"/>
                  </a:cubicBezTo>
                  <a:cubicBezTo>
                    <a:pt x="1219309" y="270510"/>
                    <a:pt x="1108819" y="163830"/>
                    <a:pt x="1085959" y="160020"/>
                  </a:cubicBezTo>
                  <a:cubicBezTo>
                    <a:pt x="1063099" y="156210"/>
                    <a:pt x="1116439" y="242570"/>
                    <a:pt x="1101199" y="243840"/>
                  </a:cubicBezTo>
                  <a:cubicBezTo>
                    <a:pt x="1085959" y="245110"/>
                    <a:pt x="1012299" y="168910"/>
                    <a:pt x="994519" y="167640"/>
                  </a:cubicBezTo>
                  <a:cubicBezTo>
                    <a:pt x="976739" y="166370"/>
                    <a:pt x="1016109" y="234950"/>
                    <a:pt x="994519" y="236220"/>
                  </a:cubicBezTo>
                  <a:cubicBezTo>
                    <a:pt x="972929" y="237490"/>
                    <a:pt x="886569" y="170180"/>
                    <a:pt x="864979" y="175260"/>
                  </a:cubicBezTo>
                  <a:cubicBezTo>
                    <a:pt x="843389" y="180340"/>
                    <a:pt x="880219" y="264160"/>
                    <a:pt x="864979" y="266700"/>
                  </a:cubicBezTo>
                  <a:cubicBezTo>
                    <a:pt x="849739" y="269240"/>
                    <a:pt x="793859" y="193040"/>
                    <a:pt x="773539" y="190500"/>
                  </a:cubicBezTo>
                  <a:cubicBezTo>
                    <a:pt x="753219" y="187960"/>
                    <a:pt x="770999" y="248920"/>
                    <a:pt x="743059" y="251460"/>
                  </a:cubicBezTo>
                  <a:cubicBezTo>
                    <a:pt x="715119" y="254000"/>
                    <a:pt x="630029" y="208280"/>
                    <a:pt x="605899" y="205740"/>
                  </a:cubicBezTo>
                  <a:cubicBezTo>
                    <a:pt x="581769" y="203200"/>
                    <a:pt x="626219" y="232410"/>
                    <a:pt x="598279" y="236220"/>
                  </a:cubicBezTo>
                  <a:cubicBezTo>
                    <a:pt x="570339" y="240030"/>
                    <a:pt x="478899" y="227330"/>
                    <a:pt x="438259" y="228600"/>
                  </a:cubicBezTo>
                  <a:cubicBezTo>
                    <a:pt x="397619" y="229870"/>
                    <a:pt x="376029" y="248920"/>
                    <a:pt x="354439" y="243840"/>
                  </a:cubicBezTo>
                  <a:cubicBezTo>
                    <a:pt x="332849" y="238760"/>
                    <a:pt x="346819" y="199390"/>
                    <a:pt x="308719" y="198120"/>
                  </a:cubicBezTo>
                  <a:cubicBezTo>
                    <a:pt x="270619" y="196850"/>
                    <a:pt x="175369" y="233680"/>
                    <a:pt x="125839" y="236220"/>
                  </a:cubicBezTo>
                  <a:cubicBezTo>
                    <a:pt x="76309" y="238760"/>
                    <a:pt x="31859" y="213360"/>
                    <a:pt x="11539" y="213360"/>
                  </a:cubicBezTo>
                  <a:cubicBezTo>
                    <a:pt x="-8781" y="213360"/>
                    <a:pt x="3919" y="236220"/>
                    <a:pt x="3919" y="236220"/>
                  </a:cubicBezTo>
                </a:path>
              </a:pathLst>
            </a:cu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-13221" y="4278668"/>
              <a:ext cx="2424363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Area contains 2.5% of population</a:t>
              </a:r>
              <a:endParaRPr lang="en-GB" dirty="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696363" y="4260706"/>
              <a:ext cx="2424363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kern="1400" dirty="0">
                  <a:solidFill>
                    <a:srgbClr val="000000"/>
                  </a:solidFill>
                  <a:latin typeface="Century Gothic" panose="020B0502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Area contains 2.5% of population</a:t>
              </a:r>
              <a:endParaRPr lang="en-GB" dirty="0"/>
            </a:p>
          </p:txBody>
        </p:sp>
        <p:cxnSp>
          <p:nvCxnSpPr>
            <p:cNvPr id="9" name="Straight Arrow Connector 8"/>
            <p:cNvCxnSpPr>
              <a:stCxn id="24" idx="2"/>
            </p:cNvCxnSpPr>
            <p:nvPr/>
          </p:nvCxnSpPr>
          <p:spPr>
            <a:xfrm>
              <a:off x="1198961" y="4924999"/>
              <a:ext cx="385075" cy="71718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H="1">
              <a:off x="7503367" y="4830266"/>
              <a:ext cx="483012" cy="81192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42927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23365" y="492908"/>
            <a:ext cx="774550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8595">
              <a:lnSpc>
                <a:spcPct val="150000"/>
              </a:lnSpc>
              <a:spcAft>
                <a:spcPts val="600"/>
              </a:spcAft>
            </a:pP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Normal distribution is described by parameters </a:t>
            </a:r>
            <a:r>
              <a:rPr lang="en-US" b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µ</a:t>
            </a: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and </a:t>
            </a:r>
            <a:r>
              <a:rPr lang="en-US" b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σ</a:t>
            </a: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1400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GB" sz="5400" kern="1400" dirty="0">
              <a:solidFill>
                <a:srgbClr val="2A7B88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54187" y="2475914"/>
            <a:ext cx="56698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µ </a:t>
            </a: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</a:t>
            </a:r>
            <a:r>
              <a:rPr lang="en-US" b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population mean</a:t>
            </a:r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4421713" y="5965475"/>
            <a:ext cx="317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µ</a:t>
            </a:r>
            <a:endParaRPr lang="en-GB" dirty="0"/>
          </a:p>
        </p:txBody>
      </p:sp>
      <p:sp>
        <p:nvSpPr>
          <p:cNvPr id="11" name="Rectangle 10"/>
          <p:cNvSpPr/>
          <p:nvPr/>
        </p:nvSpPr>
        <p:spPr>
          <a:xfrm>
            <a:off x="254187" y="1463279"/>
            <a:ext cx="30893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σ</a:t>
            </a: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the </a:t>
            </a:r>
            <a:r>
              <a:rPr lang="en-US" b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population standard deviation</a:t>
            </a:r>
            <a:r>
              <a:rPr lang="en-US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en-GB" dirty="0"/>
          </a:p>
        </p:txBody>
      </p:sp>
      <p:sp>
        <p:nvSpPr>
          <p:cNvPr id="12" name="Freeform 38"/>
          <p:cNvSpPr>
            <a:spLocks/>
          </p:cNvSpPr>
          <p:nvPr/>
        </p:nvSpPr>
        <p:spPr bwMode="auto">
          <a:xfrm>
            <a:off x="-1285441" y="1617368"/>
            <a:ext cx="10512565" cy="4194247"/>
          </a:xfrm>
          <a:custGeom>
            <a:avLst/>
            <a:gdLst>
              <a:gd name="T0" fmla="*/ 16 w 1210"/>
              <a:gd name="T1" fmla="*/ 564 h 564"/>
              <a:gd name="T2" fmla="*/ 36 w 1210"/>
              <a:gd name="T3" fmla="*/ 564 h 564"/>
              <a:gd name="T4" fmla="*/ 57 w 1210"/>
              <a:gd name="T5" fmla="*/ 564 h 564"/>
              <a:gd name="T6" fmla="*/ 77 w 1210"/>
              <a:gd name="T7" fmla="*/ 564 h 564"/>
              <a:gd name="T8" fmla="*/ 97 w 1210"/>
              <a:gd name="T9" fmla="*/ 564 h 564"/>
              <a:gd name="T10" fmla="*/ 117 w 1210"/>
              <a:gd name="T11" fmla="*/ 564 h 564"/>
              <a:gd name="T12" fmla="*/ 138 w 1210"/>
              <a:gd name="T13" fmla="*/ 564 h 564"/>
              <a:gd name="T14" fmla="*/ 158 w 1210"/>
              <a:gd name="T15" fmla="*/ 564 h 564"/>
              <a:gd name="T16" fmla="*/ 178 w 1210"/>
              <a:gd name="T17" fmla="*/ 564 h 564"/>
              <a:gd name="T18" fmla="*/ 198 w 1210"/>
              <a:gd name="T19" fmla="*/ 564 h 564"/>
              <a:gd name="T20" fmla="*/ 219 w 1210"/>
              <a:gd name="T21" fmla="*/ 564 h 564"/>
              <a:gd name="T22" fmla="*/ 239 w 1210"/>
              <a:gd name="T23" fmla="*/ 564 h 564"/>
              <a:gd name="T24" fmla="*/ 259 w 1210"/>
              <a:gd name="T25" fmla="*/ 564 h 564"/>
              <a:gd name="T26" fmla="*/ 279 w 1210"/>
              <a:gd name="T27" fmla="*/ 563 h 564"/>
              <a:gd name="T28" fmla="*/ 299 w 1210"/>
              <a:gd name="T29" fmla="*/ 562 h 564"/>
              <a:gd name="T30" fmla="*/ 320 w 1210"/>
              <a:gd name="T31" fmla="*/ 560 h 564"/>
              <a:gd name="T32" fmla="*/ 340 w 1210"/>
              <a:gd name="T33" fmla="*/ 557 h 564"/>
              <a:gd name="T34" fmla="*/ 360 w 1210"/>
              <a:gd name="T35" fmla="*/ 551 h 564"/>
              <a:gd name="T36" fmla="*/ 380 w 1210"/>
              <a:gd name="T37" fmla="*/ 544 h 564"/>
              <a:gd name="T38" fmla="*/ 401 w 1210"/>
              <a:gd name="T39" fmla="*/ 532 h 564"/>
              <a:gd name="T40" fmla="*/ 421 w 1210"/>
              <a:gd name="T41" fmla="*/ 516 h 564"/>
              <a:gd name="T42" fmla="*/ 441 w 1210"/>
              <a:gd name="T43" fmla="*/ 495 h 564"/>
              <a:gd name="T44" fmla="*/ 461 w 1210"/>
              <a:gd name="T45" fmla="*/ 466 h 564"/>
              <a:gd name="T46" fmla="*/ 481 w 1210"/>
              <a:gd name="T47" fmla="*/ 430 h 564"/>
              <a:gd name="T48" fmla="*/ 502 w 1210"/>
              <a:gd name="T49" fmla="*/ 386 h 564"/>
              <a:gd name="T50" fmla="*/ 522 w 1210"/>
              <a:gd name="T51" fmla="*/ 335 h 564"/>
              <a:gd name="T52" fmla="*/ 542 w 1210"/>
              <a:gd name="T53" fmla="*/ 279 h 564"/>
              <a:gd name="T54" fmla="*/ 562 w 1210"/>
              <a:gd name="T55" fmla="*/ 219 h 564"/>
              <a:gd name="T56" fmla="*/ 583 w 1210"/>
              <a:gd name="T57" fmla="*/ 160 h 564"/>
              <a:gd name="T58" fmla="*/ 603 w 1210"/>
              <a:gd name="T59" fmla="*/ 104 h 564"/>
              <a:gd name="T60" fmla="*/ 623 w 1210"/>
              <a:gd name="T61" fmla="*/ 58 h 564"/>
              <a:gd name="T62" fmla="*/ 643 w 1210"/>
              <a:gd name="T63" fmla="*/ 23 h 564"/>
              <a:gd name="T64" fmla="*/ 663 w 1210"/>
              <a:gd name="T65" fmla="*/ 4 h 564"/>
              <a:gd name="T66" fmla="*/ 684 w 1210"/>
              <a:gd name="T67" fmla="*/ 2 h 564"/>
              <a:gd name="T68" fmla="*/ 704 w 1210"/>
              <a:gd name="T69" fmla="*/ 17 h 564"/>
              <a:gd name="T70" fmla="*/ 724 w 1210"/>
              <a:gd name="T71" fmla="*/ 47 h 564"/>
              <a:gd name="T72" fmla="*/ 744 w 1210"/>
              <a:gd name="T73" fmla="*/ 91 h 564"/>
              <a:gd name="T74" fmla="*/ 765 w 1210"/>
              <a:gd name="T75" fmla="*/ 144 h 564"/>
              <a:gd name="T76" fmla="*/ 785 w 1210"/>
              <a:gd name="T77" fmla="*/ 203 h 564"/>
              <a:gd name="T78" fmla="*/ 805 w 1210"/>
              <a:gd name="T79" fmla="*/ 263 h 564"/>
              <a:gd name="T80" fmla="*/ 825 w 1210"/>
              <a:gd name="T81" fmla="*/ 321 h 564"/>
              <a:gd name="T82" fmla="*/ 845 w 1210"/>
              <a:gd name="T83" fmla="*/ 373 h 564"/>
              <a:gd name="T84" fmla="*/ 866 w 1210"/>
              <a:gd name="T85" fmla="*/ 419 h 564"/>
              <a:gd name="T86" fmla="*/ 886 w 1210"/>
              <a:gd name="T87" fmla="*/ 457 h 564"/>
              <a:gd name="T88" fmla="*/ 906 w 1210"/>
              <a:gd name="T89" fmla="*/ 488 h 564"/>
              <a:gd name="T90" fmla="*/ 926 w 1210"/>
              <a:gd name="T91" fmla="*/ 511 h 564"/>
              <a:gd name="T92" fmla="*/ 947 w 1210"/>
              <a:gd name="T93" fmla="*/ 529 h 564"/>
              <a:gd name="T94" fmla="*/ 967 w 1210"/>
              <a:gd name="T95" fmla="*/ 541 h 564"/>
              <a:gd name="T96" fmla="*/ 987 w 1210"/>
              <a:gd name="T97" fmla="*/ 550 h 564"/>
              <a:gd name="T98" fmla="*/ 1007 w 1210"/>
              <a:gd name="T99" fmla="*/ 555 h 564"/>
              <a:gd name="T100" fmla="*/ 1027 w 1210"/>
              <a:gd name="T101" fmla="*/ 559 h 564"/>
              <a:gd name="T102" fmla="*/ 1048 w 1210"/>
              <a:gd name="T103" fmla="*/ 561 h 564"/>
              <a:gd name="T104" fmla="*/ 1068 w 1210"/>
              <a:gd name="T105" fmla="*/ 563 h 564"/>
              <a:gd name="T106" fmla="*/ 1088 w 1210"/>
              <a:gd name="T107" fmla="*/ 563 h 564"/>
              <a:gd name="T108" fmla="*/ 1108 w 1210"/>
              <a:gd name="T109" fmla="*/ 564 h 564"/>
              <a:gd name="T110" fmla="*/ 1129 w 1210"/>
              <a:gd name="T111" fmla="*/ 564 h 564"/>
              <a:gd name="T112" fmla="*/ 1149 w 1210"/>
              <a:gd name="T113" fmla="*/ 564 h 564"/>
              <a:gd name="T114" fmla="*/ 1169 w 1210"/>
              <a:gd name="T115" fmla="*/ 564 h 564"/>
              <a:gd name="T116" fmla="*/ 1189 w 1210"/>
              <a:gd name="T117" fmla="*/ 564 h 564"/>
              <a:gd name="T118" fmla="*/ 1210 w 1210"/>
              <a:gd name="T119" fmla="*/ 564 h 5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210" h="564">
                <a:moveTo>
                  <a:pt x="0" y="564"/>
                </a:moveTo>
                <a:lnTo>
                  <a:pt x="4" y="564"/>
                </a:lnTo>
                <a:lnTo>
                  <a:pt x="8" y="564"/>
                </a:lnTo>
                <a:lnTo>
                  <a:pt x="12" y="564"/>
                </a:lnTo>
                <a:lnTo>
                  <a:pt x="16" y="564"/>
                </a:lnTo>
                <a:lnTo>
                  <a:pt x="20" y="564"/>
                </a:lnTo>
                <a:lnTo>
                  <a:pt x="24" y="564"/>
                </a:lnTo>
                <a:lnTo>
                  <a:pt x="28" y="564"/>
                </a:lnTo>
                <a:lnTo>
                  <a:pt x="32" y="564"/>
                </a:lnTo>
                <a:lnTo>
                  <a:pt x="36" y="564"/>
                </a:lnTo>
                <a:lnTo>
                  <a:pt x="41" y="564"/>
                </a:lnTo>
                <a:lnTo>
                  <a:pt x="45" y="564"/>
                </a:lnTo>
                <a:lnTo>
                  <a:pt x="49" y="564"/>
                </a:lnTo>
                <a:lnTo>
                  <a:pt x="53" y="564"/>
                </a:lnTo>
                <a:lnTo>
                  <a:pt x="57" y="564"/>
                </a:lnTo>
                <a:lnTo>
                  <a:pt x="61" y="564"/>
                </a:lnTo>
                <a:lnTo>
                  <a:pt x="65" y="564"/>
                </a:lnTo>
                <a:lnTo>
                  <a:pt x="69" y="564"/>
                </a:lnTo>
                <a:lnTo>
                  <a:pt x="73" y="564"/>
                </a:lnTo>
                <a:lnTo>
                  <a:pt x="77" y="564"/>
                </a:lnTo>
                <a:lnTo>
                  <a:pt x="81" y="564"/>
                </a:lnTo>
                <a:lnTo>
                  <a:pt x="85" y="564"/>
                </a:lnTo>
                <a:lnTo>
                  <a:pt x="89" y="564"/>
                </a:lnTo>
                <a:lnTo>
                  <a:pt x="93" y="564"/>
                </a:lnTo>
                <a:lnTo>
                  <a:pt x="97" y="564"/>
                </a:lnTo>
                <a:lnTo>
                  <a:pt x="101" y="564"/>
                </a:lnTo>
                <a:lnTo>
                  <a:pt x="105" y="564"/>
                </a:lnTo>
                <a:lnTo>
                  <a:pt x="109" y="564"/>
                </a:lnTo>
                <a:lnTo>
                  <a:pt x="113" y="564"/>
                </a:lnTo>
                <a:lnTo>
                  <a:pt x="117" y="564"/>
                </a:lnTo>
                <a:lnTo>
                  <a:pt x="121" y="564"/>
                </a:lnTo>
                <a:lnTo>
                  <a:pt x="125" y="564"/>
                </a:lnTo>
                <a:lnTo>
                  <a:pt x="130" y="564"/>
                </a:lnTo>
                <a:lnTo>
                  <a:pt x="134" y="564"/>
                </a:lnTo>
                <a:lnTo>
                  <a:pt x="138" y="564"/>
                </a:lnTo>
                <a:lnTo>
                  <a:pt x="142" y="564"/>
                </a:lnTo>
                <a:lnTo>
                  <a:pt x="146" y="564"/>
                </a:lnTo>
                <a:lnTo>
                  <a:pt x="150" y="564"/>
                </a:lnTo>
                <a:lnTo>
                  <a:pt x="154" y="564"/>
                </a:lnTo>
                <a:lnTo>
                  <a:pt x="158" y="564"/>
                </a:lnTo>
                <a:lnTo>
                  <a:pt x="162" y="564"/>
                </a:lnTo>
                <a:lnTo>
                  <a:pt x="166" y="564"/>
                </a:lnTo>
                <a:lnTo>
                  <a:pt x="170" y="564"/>
                </a:lnTo>
                <a:lnTo>
                  <a:pt x="174" y="564"/>
                </a:lnTo>
                <a:lnTo>
                  <a:pt x="178" y="564"/>
                </a:lnTo>
                <a:lnTo>
                  <a:pt x="182" y="564"/>
                </a:lnTo>
                <a:lnTo>
                  <a:pt x="186" y="564"/>
                </a:lnTo>
                <a:lnTo>
                  <a:pt x="190" y="564"/>
                </a:lnTo>
                <a:lnTo>
                  <a:pt x="194" y="564"/>
                </a:lnTo>
                <a:lnTo>
                  <a:pt x="198" y="564"/>
                </a:lnTo>
                <a:lnTo>
                  <a:pt x="202" y="564"/>
                </a:lnTo>
                <a:lnTo>
                  <a:pt x="206" y="564"/>
                </a:lnTo>
                <a:lnTo>
                  <a:pt x="210" y="564"/>
                </a:lnTo>
                <a:lnTo>
                  <a:pt x="214" y="564"/>
                </a:lnTo>
                <a:lnTo>
                  <a:pt x="219" y="564"/>
                </a:lnTo>
                <a:lnTo>
                  <a:pt x="223" y="564"/>
                </a:lnTo>
                <a:lnTo>
                  <a:pt x="227" y="564"/>
                </a:lnTo>
                <a:lnTo>
                  <a:pt x="231" y="564"/>
                </a:lnTo>
                <a:lnTo>
                  <a:pt x="235" y="564"/>
                </a:lnTo>
                <a:lnTo>
                  <a:pt x="239" y="564"/>
                </a:lnTo>
                <a:lnTo>
                  <a:pt x="243" y="564"/>
                </a:lnTo>
                <a:lnTo>
                  <a:pt x="247" y="564"/>
                </a:lnTo>
                <a:lnTo>
                  <a:pt x="251" y="564"/>
                </a:lnTo>
                <a:lnTo>
                  <a:pt x="255" y="564"/>
                </a:lnTo>
                <a:lnTo>
                  <a:pt x="259" y="564"/>
                </a:lnTo>
                <a:lnTo>
                  <a:pt x="263" y="563"/>
                </a:lnTo>
                <a:lnTo>
                  <a:pt x="267" y="563"/>
                </a:lnTo>
                <a:lnTo>
                  <a:pt x="271" y="563"/>
                </a:lnTo>
                <a:lnTo>
                  <a:pt x="275" y="563"/>
                </a:lnTo>
                <a:lnTo>
                  <a:pt x="279" y="563"/>
                </a:lnTo>
                <a:lnTo>
                  <a:pt x="283" y="563"/>
                </a:lnTo>
                <a:lnTo>
                  <a:pt x="287" y="563"/>
                </a:lnTo>
                <a:lnTo>
                  <a:pt x="291" y="562"/>
                </a:lnTo>
                <a:lnTo>
                  <a:pt x="295" y="562"/>
                </a:lnTo>
                <a:lnTo>
                  <a:pt x="299" y="562"/>
                </a:lnTo>
                <a:lnTo>
                  <a:pt x="303" y="561"/>
                </a:lnTo>
                <a:lnTo>
                  <a:pt x="307" y="561"/>
                </a:lnTo>
                <a:lnTo>
                  <a:pt x="312" y="561"/>
                </a:lnTo>
                <a:lnTo>
                  <a:pt x="316" y="560"/>
                </a:lnTo>
                <a:lnTo>
                  <a:pt x="320" y="560"/>
                </a:lnTo>
                <a:lnTo>
                  <a:pt x="324" y="559"/>
                </a:lnTo>
                <a:lnTo>
                  <a:pt x="328" y="559"/>
                </a:lnTo>
                <a:lnTo>
                  <a:pt x="332" y="558"/>
                </a:lnTo>
                <a:lnTo>
                  <a:pt x="336" y="557"/>
                </a:lnTo>
                <a:lnTo>
                  <a:pt x="340" y="557"/>
                </a:lnTo>
                <a:lnTo>
                  <a:pt x="344" y="556"/>
                </a:lnTo>
                <a:lnTo>
                  <a:pt x="348" y="555"/>
                </a:lnTo>
                <a:lnTo>
                  <a:pt x="352" y="554"/>
                </a:lnTo>
                <a:lnTo>
                  <a:pt x="356" y="553"/>
                </a:lnTo>
                <a:lnTo>
                  <a:pt x="360" y="551"/>
                </a:lnTo>
                <a:lnTo>
                  <a:pt x="364" y="550"/>
                </a:lnTo>
                <a:lnTo>
                  <a:pt x="368" y="549"/>
                </a:lnTo>
                <a:lnTo>
                  <a:pt x="372" y="547"/>
                </a:lnTo>
                <a:lnTo>
                  <a:pt x="376" y="546"/>
                </a:lnTo>
                <a:lnTo>
                  <a:pt x="380" y="544"/>
                </a:lnTo>
                <a:lnTo>
                  <a:pt x="384" y="542"/>
                </a:lnTo>
                <a:lnTo>
                  <a:pt x="388" y="540"/>
                </a:lnTo>
                <a:lnTo>
                  <a:pt x="392" y="537"/>
                </a:lnTo>
                <a:lnTo>
                  <a:pt x="396" y="535"/>
                </a:lnTo>
                <a:lnTo>
                  <a:pt x="401" y="532"/>
                </a:lnTo>
                <a:lnTo>
                  <a:pt x="405" y="530"/>
                </a:lnTo>
                <a:lnTo>
                  <a:pt x="409" y="527"/>
                </a:lnTo>
                <a:lnTo>
                  <a:pt x="413" y="524"/>
                </a:lnTo>
                <a:lnTo>
                  <a:pt x="417" y="520"/>
                </a:lnTo>
                <a:lnTo>
                  <a:pt x="421" y="516"/>
                </a:lnTo>
                <a:lnTo>
                  <a:pt x="425" y="513"/>
                </a:lnTo>
                <a:lnTo>
                  <a:pt x="429" y="509"/>
                </a:lnTo>
                <a:lnTo>
                  <a:pt x="433" y="504"/>
                </a:lnTo>
                <a:lnTo>
                  <a:pt x="437" y="500"/>
                </a:lnTo>
                <a:lnTo>
                  <a:pt x="441" y="495"/>
                </a:lnTo>
                <a:lnTo>
                  <a:pt x="445" y="490"/>
                </a:lnTo>
                <a:lnTo>
                  <a:pt x="449" y="484"/>
                </a:lnTo>
                <a:lnTo>
                  <a:pt x="453" y="478"/>
                </a:lnTo>
                <a:lnTo>
                  <a:pt x="457" y="472"/>
                </a:lnTo>
                <a:lnTo>
                  <a:pt x="461" y="466"/>
                </a:lnTo>
                <a:lnTo>
                  <a:pt x="465" y="459"/>
                </a:lnTo>
                <a:lnTo>
                  <a:pt x="469" y="453"/>
                </a:lnTo>
                <a:lnTo>
                  <a:pt x="473" y="445"/>
                </a:lnTo>
                <a:lnTo>
                  <a:pt x="477" y="438"/>
                </a:lnTo>
                <a:lnTo>
                  <a:pt x="481" y="430"/>
                </a:lnTo>
                <a:lnTo>
                  <a:pt x="485" y="422"/>
                </a:lnTo>
                <a:lnTo>
                  <a:pt x="490" y="413"/>
                </a:lnTo>
                <a:lnTo>
                  <a:pt x="494" y="404"/>
                </a:lnTo>
                <a:lnTo>
                  <a:pt x="498" y="395"/>
                </a:lnTo>
                <a:lnTo>
                  <a:pt x="502" y="386"/>
                </a:lnTo>
                <a:lnTo>
                  <a:pt x="506" y="376"/>
                </a:lnTo>
                <a:lnTo>
                  <a:pt x="510" y="366"/>
                </a:lnTo>
                <a:lnTo>
                  <a:pt x="514" y="356"/>
                </a:lnTo>
                <a:lnTo>
                  <a:pt x="518" y="346"/>
                </a:lnTo>
                <a:lnTo>
                  <a:pt x="522" y="335"/>
                </a:lnTo>
                <a:lnTo>
                  <a:pt x="526" y="324"/>
                </a:lnTo>
                <a:lnTo>
                  <a:pt x="530" y="313"/>
                </a:lnTo>
                <a:lnTo>
                  <a:pt x="534" y="302"/>
                </a:lnTo>
                <a:lnTo>
                  <a:pt x="538" y="290"/>
                </a:lnTo>
                <a:lnTo>
                  <a:pt x="542" y="279"/>
                </a:lnTo>
                <a:lnTo>
                  <a:pt x="546" y="267"/>
                </a:lnTo>
                <a:lnTo>
                  <a:pt x="550" y="255"/>
                </a:lnTo>
                <a:lnTo>
                  <a:pt x="554" y="243"/>
                </a:lnTo>
                <a:lnTo>
                  <a:pt x="558" y="231"/>
                </a:lnTo>
                <a:lnTo>
                  <a:pt x="562" y="219"/>
                </a:lnTo>
                <a:lnTo>
                  <a:pt x="566" y="207"/>
                </a:lnTo>
                <a:lnTo>
                  <a:pt x="570" y="195"/>
                </a:lnTo>
                <a:lnTo>
                  <a:pt x="574" y="183"/>
                </a:lnTo>
                <a:lnTo>
                  <a:pt x="579" y="171"/>
                </a:lnTo>
                <a:lnTo>
                  <a:pt x="583" y="160"/>
                </a:lnTo>
                <a:lnTo>
                  <a:pt x="587" y="148"/>
                </a:lnTo>
                <a:lnTo>
                  <a:pt x="591" y="137"/>
                </a:lnTo>
                <a:lnTo>
                  <a:pt x="595" y="126"/>
                </a:lnTo>
                <a:lnTo>
                  <a:pt x="599" y="115"/>
                </a:lnTo>
                <a:lnTo>
                  <a:pt x="603" y="104"/>
                </a:lnTo>
                <a:lnTo>
                  <a:pt x="607" y="94"/>
                </a:lnTo>
                <a:lnTo>
                  <a:pt x="611" y="84"/>
                </a:lnTo>
                <a:lnTo>
                  <a:pt x="615" y="75"/>
                </a:lnTo>
                <a:lnTo>
                  <a:pt x="619" y="66"/>
                </a:lnTo>
                <a:lnTo>
                  <a:pt x="623" y="58"/>
                </a:lnTo>
                <a:lnTo>
                  <a:pt x="627" y="50"/>
                </a:lnTo>
                <a:lnTo>
                  <a:pt x="631" y="42"/>
                </a:lnTo>
                <a:lnTo>
                  <a:pt x="635" y="35"/>
                </a:lnTo>
                <a:lnTo>
                  <a:pt x="639" y="29"/>
                </a:lnTo>
                <a:lnTo>
                  <a:pt x="643" y="23"/>
                </a:lnTo>
                <a:lnTo>
                  <a:pt x="647" y="18"/>
                </a:lnTo>
                <a:lnTo>
                  <a:pt x="651" y="14"/>
                </a:lnTo>
                <a:lnTo>
                  <a:pt x="655" y="10"/>
                </a:lnTo>
                <a:lnTo>
                  <a:pt x="659" y="6"/>
                </a:lnTo>
                <a:lnTo>
                  <a:pt x="663" y="4"/>
                </a:lnTo>
                <a:lnTo>
                  <a:pt x="667" y="2"/>
                </a:lnTo>
                <a:lnTo>
                  <a:pt x="672" y="1"/>
                </a:lnTo>
                <a:lnTo>
                  <a:pt x="676" y="0"/>
                </a:lnTo>
                <a:lnTo>
                  <a:pt x="680" y="1"/>
                </a:lnTo>
                <a:lnTo>
                  <a:pt x="684" y="2"/>
                </a:lnTo>
                <a:lnTo>
                  <a:pt x="688" y="3"/>
                </a:lnTo>
                <a:lnTo>
                  <a:pt x="692" y="6"/>
                </a:lnTo>
                <a:lnTo>
                  <a:pt x="696" y="9"/>
                </a:lnTo>
                <a:lnTo>
                  <a:pt x="700" y="12"/>
                </a:lnTo>
                <a:lnTo>
                  <a:pt x="704" y="17"/>
                </a:lnTo>
                <a:lnTo>
                  <a:pt x="708" y="21"/>
                </a:lnTo>
                <a:lnTo>
                  <a:pt x="712" y="27"/>
                </a:lnTo>
                <a:lnTo>
                  <a:pt x="716" y="33"/>
                </a:lnTo>
                <a:lnTo>
                  <a:pt x="720" y="40"/>
                </a:lnTo>
                <a:lnTo>
                  <a:pt x="724" y="47"/>
                </a:lnTo>
                <a:lnTo>
                  <a:pt x="728" y="55"/>
                </a:lnTo>
                <a:lnTo>
                  <a:pt x="732" y="63"/>
                </a:lnTo>
                <a:lnTo>
                  <a:pt x="736" y="72"/>
                </a:lnTo>
                <a:lnTo>
                  <a:pt x="740" y="82"/>
                </a:lnTo>
                <a:lnTo>
                  <a:pt x="744" y="91"/>
                </a:lnTo>
                <a:lnTo>
                  <a:pt x="748" y="101"/>
                </a:lnTo>
                <a:lnTo>
                  <a:pt x="752" y="112"/>
                </a:lnTo>
                <a:lnTo>
                  <a:pt x="756" y="122"/>
                </a:lnTo>
                <a:lnTo>
                  <a:pt x="761" y="133"/>
                </a:lnTo>
                <a:lnTo>
                  <a:pt x="765" y="144"/>
                </a:lnTo>
                <a:lnTo>
                  <a:pt x="769" y="156"/>
                </a:lnTo>
                <a:lnTo>
                  <a:pt x="773" y="168"/>
                </a:lnTo>
                <a:lnTo>
                  <a:pt x="777" y="179"/>
                </a:lnTo>
                <a:lnTo>
                  <a:pt x="781" y="191"/>
                </a:lnTo>
                <a:lnTo>
                  <a:pt x="785" y="203"/>
                </a:lnTo>
                <a:lnTo>
                  <a:pt x="789" y="215"/>
                </a:lnTo>
                <a:lnTo>
                  <a:pt x="793" y="227"/>
                </a:lnTo>
                <a:lnTo>
                  <a:pt x="797" y="239"/>
                </a:lnTo>
                <a:lnTo>
                  <a:pt x="801" y="251"/>
                </a:lnTo>
                <a:lnTo>
                  <a:pt x="805" y="263"/>
                </a:lnTo>
                <a:lnTo>
                  <a:pt x="809" y="275"/>
                </a:lnTo>
                <a:lnTo>
                  <a:pt x="813" y="287"/>
                </a:lnTo>
                <a:lnTo>
                  <a:pt x="817" y="298"/>
                </a:lnTo>
                <a:lnTo>
                  <a:pt x="821" y="309"/>
                </a:lnTo>
                <a:lnTo>
                  <a:pt x="825" y="321"/>
                </a:lnTo>
                <a:lnTo>
                  <a:pt x="829" y="332"/>
                </a:lnTo>
                <a:lnTo>
                  <a:pt x="833" y="342"/>
                </a:lnTo>
                <a:lnTo>
                  <a:pt x="837" y="353"/>
                </a:lnTo>
                <a:lnTo>
                  <a:pt x="841" y="363"/>
                </a:lnTo>
                <a:lnTo>
                  <a:pt x="845" y="373"/>
                </a:lnTo>
                <a:lnTo>
                  <a:pt x="850" y="383"/>
                </a:lnTo>
                <a:lnTo>
                  <a:pt x="854" y="392"/>
                </a:lnTo>
                <a:lnTo>
                  <a:pt x="858" y="402"/>
                </a:lnTo>
                <a:lnTo>
                  <a:pt x="862" y="411"/>
                </a:lnTo>
                <a:lnTo>
                  <a:pt x="866" y="419"/>
                </a:lnTo>
                <a:lnTo>
                  <a:pt x="870" y="427"/>
                </a:lnTo>
                <a:lnTo>
                  <a:pt x="874" y="435"/>
                </a:lnTo>
                <a:lnTo>
                  <a:pt x="878" y="443"/>
                </a:lnTo>
                <a:lnTo>
                  <a:pt x="882" y="450"/>
                </a:lnTo>
                <a:lnTo>
                  <a:pt x="886" y="457"/>
                </a:lnTo>
                <a:lnTo>
                  <a:pt x="890" y="464"/>
                </a:lnTo>
                <a:lnTo>
                  <a:pt x="894" y="470"/>
                </a:lnTo>
                <a:lnTo>
                  <a:pt x="898" y="477"/>
                </a:lnTo>
                <a:lnTo>
                  <a:pt x="902" y="482"/>
                </a:lnTo>
                <a:lnTo>
                  <a:pt x="906" y="488"/>
                </a:lnTo>
                <a:lnTo>
                  <a:pt x="910" y="493"/>
                </a:lnTo>
                <a:lnTo>
                  <a:pt x="914" y="498"/>
                </a:lnTo>
                <a:lnTo>
                  <a:pt x="918" y="503"/>
                </a:lnTo>
                <a:lnTo>
                  <a:pt x="922" y="507"/>
                </a:lnTo>
                <a:lnTo>
                  <a:pt x="926" y="511"/>
                </a:lnTo>
                <a:lnTo>
                  <a:pt x="930" y="515"/>
                </a:lnTo>
                <a:lnTo>
                  <a:pt x="934" y="519"/>
                </a:lnTo>
                <a:lnTo>
                  <a:pt x="938" y="522"/>
                </a:lnTo>
                <a:lnTo>
                  <a:pt x="943" y="526"/>
                </a:lnTo>
                <a:lnTo>
                  <a:pt x="947" y="529"/>
                </a:lnTo>
                <a:lnTo>
                  <a:pt x="951" y="532"/>
                </a:lnTo>
                <a:lnTo>
                  <a:pt x="955" y="534"/>
                </a:lnTo>
                <a:lnTo>
                  <a:pt x="959" y="537"/>
                </a:lnTo>
                <a:lnTo>
                  <a:pt x="963" y="539"/>
                </a:lnTo>
                <a:lnTo>
                  <a:pt x="967" y="541"/>
                </a:lnTo>
                <a:lnTo>
                  <a:pt x="971" y="543"/>
                </a:lnTo>
                <a:lnTo>
                  <a:pt x="975" y="545"/>
                </a:lnTo>
                <a:lnTo>
                  <a:pt x="979" y="547"/>
                </a:lnTo>
                <a:lnTo>
                  <a:pt x="983" y="548"/>
                </a:lnTo>
                <a:lnTo>
                  <a:pt x="987" y="550"/>
                </a:lnTo>
                <a:lnTo>
                  <a:pt x="991" y="551"/>
                </a:lnTo>
                <a:lnTo>
                  <a:pt x="995" y="552"/>
                </a:lnTo>
                <a:lnTo>
                  <a:pt x="999" y="553"/>
                </a:lnTo>
                <a:lnTo>
                  <a:pt x="1003" y="554"/>
                </a:lnTo>
                <a:lnTo>
                  <a:pt x="1007" y="555"/>
                </a:lnTo>
                <a:lnTo>
                  <a:pt x="1011" y="556"/>
                </a:lnTo>
                <a:lnTo>
                  <a:pt x="1015" y="557"/>
                </a:lnTo>
                <a:lnTo>
                  <a:pt x="1019" y="558"/>
                </a:lnTo>
                <a:lnTo>
                  <a:pt x="1023" y="558"/>
                </a:lnTo>
                <a:lnTo>
                  <a:pt x="1027" y="559"/>
                </a:lnTo>
                <a:lnTo>
                  <a:pt x="1032" y="560"/>
                </a:lnTo>
                <a:lnTo>
                  <a:pt x="1036" y="560"/>
                </a:lnTo>
                <a:lnTo>
                  <a:pt x="1040" y="561"/>
                </a:lnTo>
                <a:lnTo>
                  <a:pt x="1044" y="561"/>
                </a:lnTo>
                <a:lnTo>
                  <a:pt x="1048" y="561"/>
                </a:lnTo>
                <a:lnTo>
                  <a:pt x="1052" y="562"/>
                </a:lnTo>
                <a:lnTo>
                  <a:pt x="1056" y="562"/>
                </a:lnTo>
                <a:lnTo>
                  <a:pt x="1060" y="562"/>
                </a:lnTo>
                <a:lnTo>
                  <a:pt x="1064" y="562"/>
                </a:lnTo>
                <a:lnTo>
                  <a:pt x="1068" y="563"/>
                </a:lnTo>
                <a:lnTo>
                  <a:pt x="1072" y="563"/>
                </a:lnTo>
                <a:lnTo>
                  <a:pt x="1076" y="563"/>
                </a:lnTo>
                <a:lnTo>
                  <a:pt x="1080" y="563"/>
                </a:lnTo>
                <a:lnTo>
                  <a:pt x="1084" y="563"/>
                </a:lnTo>
                <a:lnTo>
                  <a:pt x="1088" y="563"/>
                </a:lnTo>
                <a:lnTo>
                  <a:pt x="1092" y="564"/>
                </a:lnTo>
                <a:lnTo>
                  <a:pt x="1096" y="564"/>
                </a:lnTo>
                <a:lnTo>
                  <a:pt x="1100" y="564"/>
                </a:lnTo>
                <a:lnTo>
                  <a:pt x="1104" y="564"/>
                </a:lnTo>
                <a:lnTo>
                  <a:pt x="1108" y="564"/>
                </a:lnTo>
                <a:lnTo>
                  <a:pt x="1112" y="564"/>
                </a:lnTo>
                <a:lnTo>
                  <a:pt x="1116" y="564"/>
                </a:lnTo>
                <a:lnTo>
                  <a:pt x="1121" y="564"/>
                </a:lnTo>
                <a:lnTo>
                  <a:pt x="1125" y="564"/>
                </a:lnTo>
                <a:lnTo>
                  <a:pt x="1129" y="564"/>
                </a:lnTo>
                <a:lnTo>
                  <a:pt x="1133" y="564"/>
                </a:lnTo>
                <a:lnTo>
                  <a:pt x="1137" y="564"/>
                </a:lnTo>
                <a:lnTo>
                  <a:pt x="1141" y="564"/>
                </a:lnTo>
                <a:lnTo>
                  <a:pt x="1145" y="564"/>
                </a:lnTo>
                <a:lnTo>
                  <a:pt x="1149" y="564"/>
                </a:lnTo>
                <a:lnTo>
                  <a:pt x="1153" y="564"/>
                </a:lnTo>
                <a:lnTo>
                  <a:pt x="1157" y="564"/>
                </a:lnTo>
                <a:lnTo>
                  <a:pt x="1161" y="564"/>
                </a:lnTo>
                <a:lnTo>
                  <a:pt x="1165" y="564"/>
                </a:lnTo>
                <a:lnTo>
                  <a:pt x="1169" y="564"/>
                </a:lnTo>
                <a:lnTo>
                  <a:pt x="1173" y="564"/>
                </a:lnTo>
                <a:lnTo>
                  <a:pt x="1177" y="564"/>
                </a:lnTo>
                <a:lnTo>
                  <a:pt x="1181" y="564"/>
                </a:lnTo>
                <a:lnTo>
                  <a:pt x="1185" y="564"/>
                </a:lnTo>
                <a:lnTo>
                  <a:pt x="1189" y="564"/>
                </a:lnTo>
                <a:lnTo>
                  <a:pt x="1193" y="564"/>
                </a:lnTo>
                <a:lnTo>
                  <a:pt x="1197" y="564"/>
                </a:lnTo>
                <a:lnTo>
                  <a:pt x="1201" y="564"/>
                </a:lnTo>
                <a:lnTo>
                  <a:pt x="1205" y="564"/>
                </a:lnTo>
                <a:lnTo>
                  <a:pt x="1210" y="564"/>
                </a:lnTo>
              </a:path>
            </a:pathLst>
          </a:custGeom>
          <a:noFill/>
          <a:ln w="28575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5848928"/>
            <a:ext cx="9144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4572000" y="1551709"/>
            <a:ext cx="0" cy="4259906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356630" y="5916837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µ+σ</a:t>
            </a:r>
            <a:endParaRPr lang="en-GB" dirty="0"/>
          </a:p>
        </p:txBody>
      </p:sp>
      <p:sp>
        <p:nvSpPr>
          <p:cNvPr id="13" name="Rectangle 12"/>
          <p:cNvSpPr/>
          <p:nvPr/>
        </p:nvSpPr>
        <p:spPr>
          <a:xfrm>
            <a:off x="6548335" y="5925960"/>
            <a:ext cx="7505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µ+2σ</a:t>
            </a:r>
            <a:endParaRPr lang="en-GB" dirty="0"/>
          </a:p>
        </p:txBody>
      </p:sp>
      <p:sp>
        <p:nvSpPr>
          <p:cNvPr id="15" name="Rectangle 14"/>
          <p:cNvSpPr/>
          <p:nvPr/>
        </p:nvSpPr>
        <p:spPr>
          <a:xfrm>
            <a:off x="3202301" y="5951108"/>
            <a:ext cx="5790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µ-σ</a:t>
            </a:r>
            <a:endParaRPr lang="en-GB" dirty="0"/>
          </a:p>
        </p:txBody>
      </p:sp>
      <p:sp>
        <p:nvSpPr>
          <p:cNvPr id="17" name="Rectangle 16"/>
          <p:cNvSpPr/>
          <p:nvPr/>
        </p:nvSpPr>
        <p:spPr>
          <a:xfrm>
            <a:off x="1876252" y="5894104"/>
            <a:ext cx="7088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kern="14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µ-2σ</a:t>
            </a:r>
            <a:endParaRPr lang="en-GB" dirty="0"/>
          </a:p>
        </p:txBody>
      </p:sp>
      <p:cxnSp>
        <p:nvCxnSpPr>
          <p:cNvPr id="18" name="Straight Connector 17"/>
          <p:cNvCxnSpPr/>
          <p:nvPr/>
        </p:nvCxnSpPr>
        <p:spPr>
          <a:xfrm flipV="1">
            <a:off x="5666504" y="3422064"/>
            <a:ext cx="0" cy="241200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3509815" y="3482104"/>
            <a:ext cx="0" cy="241200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6922652" y="5488928"/>
            <a:ext cx="0" cy="36000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2227225" y="5488928"/>
            <a:ext cx="0" cy="36000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" name="Group 4"/>
          <p:cNvGrpSpPr/>
          <p:nvPr/>
        </p:nvGrpSpPr>
        <p:grpSpPr>
          <a:xfrm>
            <a:off x="3528000" y="3874945"/>
            <a:ext cx="2088000" cy="724765"/>
            <a:chOff x="3528000" y="3874945"/>
            <a:chExt cx="2088000" cy="724765"/>
          </a:xfrm>
        </p:grpSpPr>
        <p:cxnSp>
          <p:nvCxnSpPr>
            <p:cNvPr id="22" name="Straight Connector 21"/>
            <p:cNvCxnSpPr/>
            <p:nvPr/>
          </p:nvCxnSpPr>
          <p:spPr>
            <a:xfrm>
              <a:off x="3528000" y="4599710"/>
              <a:ext cx="2088000" cy="0"/>
            </a:xfrm>
            <a:prstGeom prst="line">
              <a:avLst/>
            </a:prstGeom>
            <a:ln w="19050">
              <a:headEnd type="arrow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" name="Group 3"/>
            <p:cNvGrpSpPr/>
            <p:nvPr/>
          </p:nvGrpSpPr>
          <p:grpSpPr>
            <a:xfrm>
              <a:off x="4249993" y="3874945"/>
              <a:ext cx="644013" cy="517237"/>
              <a:chOff x="367368" y="3639127"/>
              <a:chExt cx="644013" cy="517237"/>
            </a:xfrm>
          </p:grpSpPr>
          <p:sp>
            <p:nvSpPr>
              <p:cNvPr id="3" name="Rectangle 2"/>
              <p:cNvSpPr/>
              <p:nvPr/>
            </p:nvSpPr>
            <p:spPr>
              <a:xfrm>
                <a:off x="367368" y="3639127"/>
                <a:ext cx="644013" cy="51723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367368" y="3714491"/>
                <a:ext cx="64401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kern="1400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68%</a:t>
                </a:r>
                <a:endParaRPr lang="en-GB" dirty="0"/>
              </a:p>
            </p:txBody>
          </p:sp>
        </p:grpSp>
      </p:grpSp>
      <p:grpSp>
        <p:nvGrpSpPr>
          <p:cNvPr id="10" name="Group 9"/>
          <p:cNvGrpSpPr/>
          <p:nvPr/>
        </p:nvGrpSpPr>
        <p:grpSpPr>
          <a:xfrm>
            <a:off x="2364509" y="4904644"/>
            <a:ext cx="4451927" cy="674120"/>
            <a:chOff x="2364509" y="4904644"/>
            <a:chExt cx="4451927" cy="674120"/>
          </a:xfrm>
        </p:grpSpPr>
        <p:cxnSp>
          <p:nvCxnSpPr>
            <p:cNvPr id="23" name="Straight Connector 22"/>
            <p:cNvCxnSpPr/>
            <p:nvPr/>
          </p:nvCxnSpPr>
          <p:spPr>
            <a:xfrm>
              <a:off x="2364509" y="5578764"/>
              <a:ext cx="4451927" cy="0"/>
            </a:xfrm>
            <a:prstGeom prst="line">
              <a:avLst/>
            </a:prstGeom>
            <a:ln w="19050">
              <a:headEnd type="arrow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8" name="Group 7"/>
            <p:cNvGrpSpPr/>
            <p:nvPr/>
          </p:nvGrpSpPr>
          <p:grpSpPr>
            <a:xfrm>
              <a:off x="4198145" y="4904644"/>
              <a:ext cx="644013" cy="517237"/>
              <a:chOff x="6556305" y="3035911"/>
              <a:chExt cx="644013" cy="517237"/>
            </a:xfrm>
          </p:grpSpPr>
          <p:sp>
            <p:nvSpPr>
              <p:cNvPr id="26" name="Rectangle 25"/>
              <p:cNvSpPr/>
              <p:nvPr/>
            </p:nvSpPr>
            <p:spPr>
              <a:xfrm>
                <a:off x="6556305" y="3035911"/>
                <a:ext cx="644013" cy="51723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6556305" y="3111275"/>
                <a:ext cx="64401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kern="1400" dirty="0">
                    <a:solidFill>
                      <a:srgbClr val="000000"/>
                    </a:solidFill>
                    <a:latin typeface="Century Gothic" panose="020B0502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95%</a:t>
                </a:r>
                <a:endParaRPr lang="en-GB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65211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BB6150-9E88-A2A0-7243-1264097F185B}"/>
              </a:ext>
            </a:extLst>
          </p:cNvPr>
          <p:cNvSpPr txBox="1"/>
          <p:nvPr/>
        </p:nvSpPr>
        <p:spPr>
          <a:xfrm>
            <a:off x="1882303" y="1352144"/>
            <a:ext cx="500053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In a normal distribution 95% of values lie within</a:t>
            </a:r>
          </a:p>
          <a:p>
            <a:r>
              <a:rPr lang="en-GB" dirty="0"/>
              <a:t>	a) the range</a:t>
            </a:r>
          </a:p>
          <a:p>
            <a:r>
              <a:rPr lang="en-GB" dirty="0"/>
              <a:t>	b) the interquartile range</a:t>
            </a:r>
          </a:p>
          <a:p>
            <a:r>
              <a:rPr lang="en-GB" dirty="0"/>
              <a:t>	c) ± 1 standard deviation from the mean</a:t>
            </a:r>
          </a:p>
          <a:p>
            <a:r>
              <a:rPr lang="en-GB" dirty="0"/>
              <a:t>	d) ± 1.5 standard deviations from the mean</a:t>
            </a:r>
          </a:p>
          <a:p>
            <a:r>
              <a:rPr lang="en-GB" dirty="0"/>
              <a:t>	e) ± 2 standard deviations from the mean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2B5372-F93F-A62E-1B3F-82C8EF0A14C3}"/>
              </a:ext>
            </a:extLst>
          </p:cNvPr>
          <p:cNvSpPr txBox="1"/>
          <p:nvPr/>
        </p:nvSpPr>
        <p:spPr>
          <a:xfrm>
            <a:off x="1882303" y="3537624"/>
            <a:ext cx="496007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GB" dirty="0"/>
              <a:t>In a normal distribution it is expected that</a:t>
            </a:r>
          </a:p>
          <a:p>
            <a:r>
              <a:rPr lang="en-GB" dirty="0"/>
              <a:t>	a) the median and mean will be the same</a:t>
            </a:r>
          </a:p>
          <a:p>
            <a:r>
              <a:rPr lang="en-GB" dirty="0"/>
              <a:t>	b) the median will be greater than the mean</a:t>
            </a:r>
          </a:p>
          <a:p>
            <a:r>
              <a:rPr lang="en-GB" dirty="0"/>
              <a:t>	c) the </a:t>
            </a:r>
            <a:r>
              <a:rPr lang="en-GB"/>
              <a:t>median will be </a:t>
            </a:r>
            <a:r>
              <a:rPr lang="en-GB" dirty="0"/>
              <a:t>smaller than the mean</a:t>
            </a:r>
          </a:p>
          <a:p>
            <a:r>
              <a:rPr lang="en-GB" dirty="0"/>
              <a:t>	d) the median cannot be calculated</a:t>
            </a:r>
          </a:p>
          <a:p>
            <a:r>
              <a:rPr lang="en-GB" dirty="0"/>
              <a:t>	e) the mean and median will not be the same</a:t>
            </a:r>
          </a:p>
        </p:txBody>
      </p:sp>
    </p:spTree>
    <p:extLst>
      <p:ext uri="{BB962C8B-B14F-4D97-AF65-F5344CB8AC3E}">
        <p14:creationId xmlns:p14="http://schemas.microsoft.com/office/powerpoint/2010/main" val="246816416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A5D28-CBA2-49F4-BA4F-6829EF21F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7DC3B-CC1B-421A-8572-31F65AE32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excel, calculate the mean and standard deviation</a:t>
            </a:r>
          </a:p>
        </p:txBody>
      </p:sp>
    </p:spTree>
    <p:extLst>
      <p:ext uri="{BB962C8B-B14F-4D97-AF65-F5344CB8AC3E}">
        <p14:creationId xmlns:p14="http://schemas.microsoft.com/office/powerpoint/2010/main" val="283076584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3957933-42F0-4457-AF44-5AE9FDEE77E0}"/>
              </a:ext>
            </a:extLst>
          </p:cNvPr>
          <p:cNvGraphicFramePr>
            <a:graphicFrameLocks noGrp="1"/>
          </p:cNvGraphicFramePr>
          <p:nvPr/>
        </p:nvGraphicFramePr>
        <p:xfrm>
          <a:off x="1368425" y="769899"/>
          <a:ext cx="2180733" cy="53182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9836">
                  <a:extLst>
                    <a:ext uri="{9D8B030D-6E8A-4147-A177-3AD203B41FA5}">
                      <a16:colId xmlns:a16="http://schemas.microsoft.com/office/drawing/2014/main" val="2206267382"/>
                    </a:ext>
                  </a:extLst>
                </a:gridCol>
                <a:gridCol w="1190897">
                  <a:extLst>
                    <a:ext uri="{9D8B030D-6E8A-4147-A177-3AD203B41FA5}">
                      <a16:colId xmlns:a16="http://schemas.microsoft.com/office/drawing/2014/main" val="3322226048"/>
                    </a:ext>
                  </a:extLst>
                </a:gridCol>
              </a:tblGrid>
              <a:tr h="638202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 dirty="0" err="1">
                          <a:effectLst/>
                        </a:rPr>
                        <a:t>SUV</a:t>
                      </a:r>
                      <a:r>
                        <a:rPr lang="en-GB" sz="1600" u="none" strike="noStrike" baseline="-25000" dirty="0" err="1">
                          <a:effectLst/>
                        </a:rPr>
                        <a:t>max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186942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 dirty="0">
                          <a:effectLst/>
                        </a:rPr>
                        <a:t>1.8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9432516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 dirty="0">
                          <a:effectLst/>
                        </a:rPr>
                        <a:t>8.9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862686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 dirty="0">
                          <a:effectLst/>
                        </a:rPr>
                        <a:t>2.7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9741094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 dirty="0">
                          <a:effectLst/>
                        </a:rPr>
                        <a:t>9.4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869166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>
                          <a:effectLst/>
                        </a:rPr>
                        <a:t>5.4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9804024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>
                          <a:effectLst/>
                        </a:rPr>
                        <a:t>16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2044693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>
                          <a:effectLst/>
                        </a:rPr>
                        <a:t>5.8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4760124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>
                          <a:effectLst/>
                        </a:rPr>
                        <a:t>17.9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713577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>
                          <a:effectLst/>
                        </a:rPr>
                        <a:t>13.1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042116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>
                          <a:effectLst/>
                        </a:rPr>
                        <a:t>6.6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377266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sum=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 dirty="0">
                          <a:effectLst/>
                        </a:rPr>
                        <a:t>87.6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09617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887262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>
                          <a:effectLst/>
                        </a:rPr>
                        <a:t>mean=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 dirty="0">
                          <a:effectLst/>
                        </a:rPr>
                        <a:t>8.76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4419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878099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3957933-42F0-4457-AF44-5AE9FDEE77E0}"/>
              </a:ext>
            </a:extLst>
          </p:cNvPr>
          <p:cNvGraphicFramePr>
            <a:graphicFrameLocks noGrp="1"/>
          </p:cNvGraphicFramePr>
          <p:nvPr/>
        </p:nvGraphicFramePr>
        <p:xfrm>
          <a:off x="1368425" y="769899"/>
          <a:ext cx="3820150" cy="53182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9836">
                  <a:extLst>
                    <a:ext uri="{9D8B030D-6E8A-4147-A177-3AD203B41FA5}">
                      <a16:colId xmlns:a16="http://schemas.microsoft.com/office/drawing/2014/main" val="2206267382"/>
                    </a:ext>
                  </a:extLst>
                </a:gridCol>
                <a:gridCol w="1190897">
                  <a:extLst>
                    <a:ext uri="{9D8B030D-6E8A-4147-A177-3AD203B41FA5}">
                      <a16:colId xmlns:a16="http://schemas.microsoft.com/office/drawing/2014/main" val="3322226048"/>
                    </a:ext>
                  </a:extLst>
                </a:gridCol>
                <a:gridCol w="1639417">
                  <a:extLst>
                    <a:ext uri="{9D8B030D-6E8A-4147-A177-3AD203B41FA5}">
                      <a16:colId xmlns:a16="http://schemas.microsoft.com/office/drawing/2014/main" val="2309530852"/>
                    </a:ext>
                  </a:extLst>
                </a:gridCol>
              </a:tblGrid>
              <a:tr h="638202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 dirty="0" err="1">
                          <a:effectLst/>
                        </a:rPr>
                        <a:t>SUV</a:t>
                      </a:r>
                      <a:r>
                        <a:rPr lang="en-GB" sz="1600" u="none" strike="noStrike" baseline="-25000" dirty="0" err="1">
                          <a:effectLst/>
                        </a:rPr>
                        <a:t>max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 dirty="0">
                          <a:effectLst/>
                        </a:rPr>
                        <a:t>(</a:t>
                      </a:r>
                      <a:r>
                        <a:rPr lang="en-GB" sz="1600" u="none" strike="noStrike" dirty="0" err="1">
                          <a:effectLst/>
                        </a:rPr>
                        <a:t>SUV</a:t>
                      </a:r>
                      <a:r>
                        <a:rPr lang="en-GB" sz="1600" u="none" strike="noStrike" baseline="-25000" dirty="0" err="1">
                          <a:effectLst/>
                        </a:rPr>
                        <a:t>max</a:t>
                      </a:r>
                      <a:r>
                        <a:rPr lang="en-GB" sz="1600" u="none" strike="noStrike" dirty="0">
                          <a:effectLst/>
                        </a:rPr>
                        <a:t>-mean)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186942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 dirty="0">
                          <a:effectLst/>
                        </a:rPr>
                        <a:t>1.8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-6.96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9432516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 dirty="0">
                          <a:effectLst/>
                        </a:rPr>
                        <a:t>8.9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0.14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8862686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 dirty="0">
                          <a:effectLst/>
                        </a:rPr>
                        <a:t>2.7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-6.06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9741094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 dirty="0">
                          <a:effectLst/>
                        </a:rPr>
                        <a:t>9.4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0.64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869166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>
                          <a:effectLst/>
                        </a:rPr>
                        <a:t>5.4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-3.36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9804024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>
                          <a:effectLst/>
                        </a:rPr>
                        <a:t>16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7.24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2044693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>
                          <a:effectLst/>
                        </a:rPr>
                        <a:t>5.8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-2.96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4760124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>
                          <a:effectLst/>
                        </a:rPr>
                        <a:t>17.9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9.14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713577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>
                          <a:effectLst/>
                        </a:rPr>
                        <a:t>13.1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4.34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042116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>
                          <a:effectLst/>
                        </a:rPr>
                        <a:t>6.6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-2.16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377266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sum=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 dirty="0">
                          <a:effectLst/>
                        </a:rPr>
                        <a:t>87.6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 dirty="0">
                          <a:effectLst/>
                        </a:rPr>
                        <a:t>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09617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887262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>
                          <a:effectLst/>
                        </a:rPr>
                        <a:t>mean=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>
                          <a:effectLst/>
                        </a:rPr>
                        <a:t>8.76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419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579948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3957933-42F0-4457-AF44-5AE9FDEE77E0}"/>
              </a:ext>
            </a:extLst>
          </p:cNvPr>
          <p:cNvGraphicFramePr>
            <a:graphicFrameLocks noGrp="1"/>
          </p:cNvGraphicFramePr>
          <p:nvPr/>
        </p:nvGraphicFramePr>
        <p:xfrm>
          <a:off x="1368425" y="769899"/>
          <a:ext cx="5908086" cy="53182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9836">
                  <a:extLst>
                    <a:ext uri="{9D8B030D-6E8A-4147-A177-3AD203B41FA5}">
                      <a16:colId xmlns:a16="http://schemas.microsoft.com/office/drawing/2014/main" val="2206267382"/>
                    </a:ext>
                  </a:extLst>
                </a:gridCol>
                <a:gridCol w="1190897">
                  <a:extLst>
                    <a:ext uri="{9D8B030D-6E8A-4147-A177-3AD203B41FA5}">
                      <a16:colId xmlns:a16="http://schemas.microsoft.com/office/drawing/2014/main" val="3322226048"/>
                    </a:ext>
                  </a:extLst>
                </a:gridCol>
                <a:gridCol w="1639417">
                  <a:extLst>
                    <a:ext uri="{9D8B030D-6E8A-4147-A177-3AD203B41FA5}">
                      <a16:colId xmlns:a16="http://schemas.microsoft.com/office/drawing/2014/main" val="2309530852"/>
                    </a:ext>
                  </a:extLst>
                </a:gridCol>
                <a:gridCol w="479452">
                  <a:extLst>
                    <a:ext uri="{9D8B030D-6E8A-4147-A177-3AD203B41FA5}">
                      <a16:colId xmlns:a16="http://schemas.microsoft.com/office/drawing/2014/main" val="179269494"/>
                    </a:ext>
                  </a:extLst>
                </a:gridCol>
                <a:gridCol w="1608484">
                  <a:extLst>
                    <a:ext uri="{9D8B030D-6E8A-4147-A177-3AD203B41FA5}">
                      <a16:colId xmlns:a16="http://schemas.microsoft.com/office/drawing/2014/main" val="172347009"/>
                    </a:ext>
                  </a:extLst>
                </a:gridCol>
              </a:tblGrid>
              <a:tr h="638202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 dirty="0" err="1">
                          <a:effectLst/>
                        </a:rPr>
                        <a:t>SUV</a:t>
                      </a:r>
                      <a:r>
                        <a:rPr lang="en-GB" sz="1600" u="none" strike="noStrike" baseline="-25000" dirty="0" err="1">
                          <a:effectLst/>
                        </a:rPr>
                        <a:t>max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 dirty="0">
                          <a:effectLst/>
                        </a:rPr>
                        <a:t>(</a:t>
                      </a:r>
                      <a:r>
                        <a:rPr lang="en-GB" sz="1600" u="none" strike="noStrike" dirty="0" err="1">
                          <a:effectLst/>
                        </a:rPr>
                        <a:t>SUV</a:t>
                      </a:r>
                      <a:r>
                        <a:rPr lang="en-GB" sz="1600" u="none" strike="noStrike" baseline="-25000" dirty="0" err="1">
                          <a:effectLst/>
                        </a:rPr>
                        <a:t>max</a:t>
                      </a:r>
                      <a:r>
                        <a:rPr lang="en-GB" sz="1600" u="none" strike="noStrike" dirty="0">
                          <a:effectLst/>
                        </a:rPr>
                        <a:t>-mean)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 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 dirty="0">
                          <a:effectLst/>
                        </a:rPr>
                        <a:t>(</a:t>
                      </a:r>
                      <a:r>
                        <a:rPr lang="en-GB" sz="1600" u="none" strike="noStrike" dirty="0" err="1">
                          <a:effectLst/>
                        </a:rPr>
                        <a:t>SUV</a:t>
                      </a:r>
                      <a:r>
                        <a:rPr lang="en-GB" sz="1600" u="none" strike="noStrike" baseline="-25000" dirty="0" err="1">
                          <a:effectLst/>
                        </a:rPr>
                        <a:t>max</a:t>
                      </a:r>
                      <a:r>
                        <a:rPr lang="en-GB" sz="1600" u="none" strike="noStrike" dirty="0">
                          <a:effectLst/>
                        </a:rPr>
                        <a:t>-mean)</a:t>
                      </a:r>
                      <a:r>
                        <a:rPr lang="en-GB" sz="1600" u="none" strike="noStrike" baseline="30000" dirty="0">
                          <a:effectLst/>
                        </a:rPr>
                        <a:t>2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186942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 dirty="0">
                          <a:effectLst/>
                        </a:rPr>
                        <a:t>1.8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-6.96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 dirty="0">
                          <a:effectLst/>
                        </a:rPr>
                        <a:t>48.44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9432516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 dirty="0">
                          <a:effectLst/>
                        </a:rPr>
                        <a:t>8.9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0.14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>
                          <a:effectLst/>
                        </a:rPr>
                        <a:t>0.02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862686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 dirty="0">
                          <a:effectLst/>
                        </a:rPr>
                        <a:t>2.7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-6.06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>
                          <a:effectLst/>
                        </a:rPr>
                        <a:t>36.72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9741094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 dirty="0">
                          <a:effectLst/>
                        </a:rPr>
                        <a:t>9.4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0.64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>
                          <a:effectLst/>
                        </a:rPr>
                        <a:t>0.41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869166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>
                          <a:effectLst/>
                        </a:rPr>
                        <a:t>5.4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-3.36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 dirty="0">
                          <a:effectLst/>
                        </a:rPr>
                        <a:t>11.29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9804024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>
                          <a:effectLst/>
                        </a:rPr>
                        <a:t>16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7.24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 dirty="0">
                          <a:effectLst/>
                        </a:rPr>
                        <a:t>52.42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2044693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>
                          <a:effectLst/>
                        </a:rPr>
                        <a:t>5.8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-2.96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 dirty="0">
                          <a:effectLst/>
                        </a:rPr>
                        <a:t>8.76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4760124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>
                          <a:effectLst/>
                        </a:rPr>
                        <a:t>17.9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9.14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 dirty="0">
                          <a:effectLst/>
                        </a:rPr>
                        <a:t>83.54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713577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>
                          <a:effectLst/>
                        </a:rPr>
                        <a:t>13.1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4.34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 dirty="0">
                          <a:effectLst/>
                        </a:rPr>
                        <a:t>18.84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042116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>
                          <a:effectLst/>
                        </a:rPr>
                        <a:t>6.6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>
                          <a:effectLst/>
                        </a:rPr>
                        <a:t>-2.16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>
                          <a:effectLst/>
                        </a:rPr>
                        <a:t> 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 dirty="0">
                          <a:effectLst/>
                        </a:rPr>
                        <a:t>4.67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377266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sum=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 dirty="0">
                          <a:effectLst/>
                        </a:rPr>
                        <a:t>87.6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 dirty="0">
                          <a:effectLst/>
                        </a:rPr>
                        <a:t>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 dirty="0">
                          <a:effectLst/>
                        </a:rPr>
                        <a:t>265.10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09617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887262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>
                          <a:effectLst/>
                        </a:rPr>
                        <a:t>mean=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sz="1600" u="none" strike="noStrike">
                          <a:effectLst/>
                        </a:rPr>
                        <a:t>8.76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SD=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600" u="none" strike="noStrike" dirty="0">
                          <a:effectLst/>
                        </a:rPr>
                        <a:t>5.43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4419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5760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1a80ee0-800f-43fa-a94e-8a4b7a5b7c0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EA04E2D8E2714B970A346B51236E94" ma:contentTypeVersion="9" ma:contentTypeDescription="Create a new document." ma:contentTypeScope="" ma:versionID="e0703cf17dbc57e80b14bba07434cc0f">
  <xsd:schema xmlns:xsd="http://www.w3.org/2001/XMLSchema" xmlns:xs="http://www.w3.org/2001/XMLSchema" xmlns:p="http://schemas.microsoft.com/office/2006/metadata/properties" xmlns:ns2="c1a80ee0-800f-43fa-a94e-8a4b7a5b7c06" targetNamespace="http://schemas.microsoft.com/office/2006/metadata/properties" ma:root="true" ma:fieldsID="d0e1ba588c6b5b85227ae69e4b89a739" ns2:_="">
    <xsd:import namespace="c1a80ee0-800f-43fa-a94e-8a4b7a5b7c0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a80ee0-800f-43fa-a94e-8a4b7a5b7c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54eff52-6b6d-4e5f-a3b0-187f185b1db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857C2B2-8778-40BC-8FB8-55EC9B72E044}">
  <ds:schemaRefs>
    <ds:schemaRef ds:uri="http://schemas.microsoft.com/office/2006/metadata/properties"/>
    <ds:schemaRef ds:uri="http://schemas.microsoft.com/office/infopath/2007/PartnerControls"/>
    <ds:schemaRef ds:uri="c1a80ee0-800f-43fa-a94e-8a4b7a5b7c06"/>
  </ds:schemaRefs>
</ds:datastoreItem>
</file>

<file path=customXml/itemProps2.xml><?xml version="1.0" encoding="utf-8"?>
<ds:datastoreItem xmlns:ds="http://schemas.openxmlformats.org/officeDocument/2006/customXml" ds:itemID="{85390F2A-EF25-44EC-8EEC-562791AF25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a80ee0-800f-43fa-a94e-8a4b7a5b7c0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13838B6-451D-4809-9D63-C7FDE4DAF95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3422</TotalTime>
  <Words>2838</Words>
  <Application>Microsoft Office PowerPoint</Application>
  <PresentationFormat>On-screen Show (4:3)</PresentationFormat>
  <Paragraphs>658</Paragraphs>
  <Slides>66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66</vt:i4>
      </vt:variant>
    </vt:vector>
  </HeadingPairs>
  <TitlesOfParts>
    <vt:vector size="76" baseType="lpstr">
      <vt:lpstr>Arial</vt:lpstr>
      <vt:lpstr>Calibri</vt:lpstr>
      <vt:lpstr>Calibri Light</vt:lpstr>
      <vt:lpstr>Cambria</vt:lpstr>
      <vt:lpstr>Cambria Math</vt:lpstr>
      <vt:lpstr>Century Gothic</vt:lpstr>
      <vt:lpstr>Comic Sans MS</vt:lpstr>
      <vt:lpstr>Google Sans Text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Analysis</vt:lpstr>
      <vt:lpstr>Frequentist vs Bayesian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Exercise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Philip Mcloone</dc:creator>
  <cp:lastModifiedBy>Peter Hall</cp:lastModifiedBy>
  <cp:revision>146</cp:revision>
  <dcterms:created xsi:type="dcterms:W3CDTF">2017-01-05T10:01:28Z</dcterms:created>
  <dcterms:modified xsi:type="dcterms:W3CDTF">2026-01-05T08:59:11Z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0x010100A0EA04E2D8E2714B970A346B51236E94</vt:lpwstr>
  </property>
  <property fmtid="{D5CDD505-2E9C-101B-9397-08002B2CF9AE}" pid="3" name="MediaServiceImageTags">
    <vt:lpwstr/>
  </property>
</Properties>
</file>